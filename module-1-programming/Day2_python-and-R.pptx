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19_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40"/>
  </p:notesMasterIdLst>
  <p:sldIdLst>
    <p:sldId id="256" r:id="rId2"/>
    <p:sldId id="409" r:id="rId3"/>
    <p:sldId id="275" r:id="rId4"/>
    <p:sldId id="276" r:id="rId5"/>
    <p:sldId id="277" r:id="rId6"/>
    <p:sldId id="433" r:id="rId7"/>
    <p:sldId id="279" r:id="rId8"/>
    <p:sldId id="280" r:id="rId9"/>
    <p:sldId id="281" r:id="rId10"/>
    <p:sldId id="427" r:id="rId11"/>
    <p:sldId id="410" r:id="rId12"/>
    <p:sldId id="270" r:id="rId13"/>
    <p:sldId id="273" r:id="rId14"/>
    <p:sldId id="274" r:id="rId15"/>
    <p:sldId id="429" r:id="rId16"/>
    <p:sldId id="284" r:id="rId17"/>
    <p:sldId id="285" r:id="rId18"/>
    <p:sldId id="286" r:id="rId19"/>
    <p:sldId id="287" r:id="rId20"/>
    <p:sldId id="428" r:id="rId21"/>
    <p:sldId id="283" r:id="rId22"/>
    <p:sldId id="411" r:id="rId23"/>
    <p:sldId id="413" r:id="rId24"/>
    <p:sldId id="414" r:id="rId25"/>
    <p:sldId id="415" r:id="rId26"/>
    <p:sldId id="416" r:id="rId27"/>
    <p:sldId id="417" r:id="rId28"/>
    <p:sldId id="418" r:id="rId29"/>
    <p:sldId id="419" r:id="rId30"/>
    <p:sldId id="420" r:id="rId31"/>
    <p:sldId id="421" r:id="rId32"/>
    <p:sldId id="422" r:id="rId33"/>
    <p:sldId id="423" r:id="rId34"/>
    <p:sldId id="425" r:id="rId35"/>
    <p:sldId id="426" r:id="rId36"/>
    <p:sldId id="431" r:id="rId37"/>
    <p:sldId id="430" r:id="rId38"/>
    <p:sldId id="432" r:id="rId39"/>
  </p:sldIdLst>
  <p:sldSz cx="9144000" cy="5143500" type="screen16x9"/>
  <p:notesSz cx="6858000" cy="9144000"/>
  <p:embeddedFontLst>
    <p:embeddedFont>
      <p:font typeface="Caveat" pitchFamily="2" charset="0"/>
      <p:regular r:id="rId41"/>
      <p:bold r:id="rId42"/>
    </p:embeddedFont>
    <p:embeddedFont>
      <p:font typeface="Lato" panose="020F0502020204030203" pitchFamily="34" charset="0"/>
      <p:regular r:id="rId43"/>
      <p:bold r:id="rId44"/>
      <p:italic r:id="rId45"/>
      <p:boldItalic r:id="rId46"/>
    </p:embeddedFont>
    <p:embeddedFont>
      <p:font typeface="Raleway" pitchFamily="2" charset="77"/>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3168">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84EA01-055E-2125-8EE2-06D1948BA618}" name="Dong, Jenny" initials="DJ" userId="S::wed009@ucsd.edu::ca1aed54-e92c-4b83-84cf-a09f7c7931f7" providerId="AD"/>
  <p188:author id="{03BF79FB-5388-BD8D-1124-C95C063FEE42}" name="Lee, Ko-Han" initials="LK" userId="S::kol004@ucsd.edu::945cc9a7-a55d-4216-bd0e-66822516da0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74BE0B-3C58-F64E-AFB9-F6682C35DA23}" v="1" dt="2026-01-04T05:39:49.763"/>
  </p1510:revLst>
</p1510:revInfo>
</file>

<file path=ppt/tableStyles.xml><?xml version="1.0" encoding="utf-8"?>
<a:tblStyleLst xmlns:a="http://schemas.openxmlformats.org/drawingml/2006/main" def="{D4906686-9108-46FC-B36B-164DBEF758CF}">
  <a:tblStyle styleId="{D4906686-9108-46FC-B36B-164DBEF758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82"/>
  </p:normalViewPr>
  <p:slideViewPr>
    <p:cSldViewPr snapToGrid="0">
      <p:cViewPr varScale="1">
        <p:scale>
          <a:sx n="153" d="100"/>
          <a:sy n="153" d="100"/>
        </p:scale>
        <p:origin x="248" y="168"/>
      </p:cViewPr>
      <p:guideLst>
        <p:guide orient="horz" pos="1620"/>
        <p:guide pos="31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microsoft.com/office/2018/10/relationships/authors" Targe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o, Yuwei" userId="d607ba23-f5a6-4b77-9e4e-ebb1f38b0d67" providerId="ADAL" clId="{8DBDA226-879A-511D-949E-49E7D62540CE}"/>
    <pc:docChg chg="undo custSel addSld delSld modSld">
      <pc:chgData name="Cao, Yuwei" userId="d607ba23-f5a6-4b77-9e4e-ebb1f38b0d67" providerId="ADAL" clId="{8DBDA226-879A-511D-949E-49E7D62540CE}" dt="2026-01-04T05:39:51.469" v="11" actId="2696"/>
      <pc:docMkLst>
        <pc:docMk/>
      </pc:docMkLst>
      <pc:sldChg chg="del">
        <pc:chgData name="Cao, Yuwei" userId="d607ba23-f5a6-4b77-9e4e-ebb1f38b0d67" providerId="ADAL" clId="{8DBDA226-879A-511D-949E-49E7D62540CE}" dt="2026-01-04T05:23:54.269" v="0" actId="2696"/>
        <pc:sldMkLst>
          <pc:docMk/>
          <pc:sldMk cId="0" sldId="258"/>
        </pc:sldMkLst>
      </pc:sldChg>
      <pc:sldChg chg="del">
        <pc:chgData name="Cao, Yuwei" userId="d607ba23-f5a6-4b77-9e4e-ebb1f38b0d67" providerId="ADAL" clId="{8DBDA226-879A-511D-949E-49E7D62540CE}" dt="2026-01-04T05:23:54.269" v="0" actId="2696"/>
        <pc:sldMkLst>
          <pc:docMk/>
          <pc:sldMk cId="0" sldId="259"/>
        </pc:sldMkLst>
      </pc:sldChg>
      <pc:sldChg chg="del">
        <pc:chgData name="Cao, Yuwei" userId="d607ba23-f5a6-4b77-9e4e-ebb1f38b0d67" providerId="ADAL" clId="{8DBDA226-879A-511D-949E-49E7D62540CE}" dt="2026-01-04T05:23:54.269" v="0" actId="2696"/>
        <pc:sldMkLst>
          <pc:docMk/>
          <pc:sldMk cId="0" sldId="260"/>
        </pc:sldMkLst>
      </pc:sldChg>
      <pc:sldChg chg="del">
        <pc:chgData name="Cao, Yuwei" userId="d607ba23-f5a6-4b77-9e4e-ebb1f38b0d67" providerId="ADAL" clId="{8DBDA226-879A-511D-949E-49E7D62540CE}" dt="2026-01-04T05:23:54.269" v="0" actId="2696"/>
        <pc:sldMkLst>
          <pc:docMk/>
          <pc:sldMk cId="0" sldId="261"/>
        </pc:sldMkLst>
      </pc:sldChg>
      <pc:sldChg chg="del">
        <pc:chgData name="Cao, Yuwei" userId="d607ba23-f5a6-4b77-9e4e-ebb1f38b0d67" providerId="ADAL" clId="{8DBDA226-879A-511D-949E-49E7D62540CE}" dt="2026-01-04T05:23:54.269" v="0" actId="2696"/>
        <pc:sldMkLst>
          <pc:docMk/>
          <pc:sldMk cId="0" sldId="262"/>
        </pc:sldMkLst>
      </pc:sldChg>
      <pc:sldChg chg="del">
        <pc:chgData name="Cao, Yuwei" userId="d607ba23-f5a6-4b77-9e4e-ebb1f38b0d67" providerId="ADAL" clId="{8DBDA226-879A-511D-949E-49E7D62540CE}" dt="2026-01-04T05:23:54.269" v="0" actId="2696"/>
        <pc:sldMkLst>
          <pc:docMk/>
          <pc:sldMk cId="0" sldId="263"/>
        </pc:sldMkLst>
      </pc:sldChg>
      <pc:sldChg chg="del">
        <pc:chgData name="Cao, Yuwei" userId="d607ba23-f5a6-4b77-9e4e-ebb1f38b0d67" providerId="ADAL" clId="{8DBDA226-879A-511D-949E-49E7D62540CE}" dt="2026-01-04T05:23:54.269" v="0" actId="2696"/>
        <pc:sldMkLst>
          <pc:docMk/>
          <pc:sldMk cId="0" sldId="264"/>
        </pc:sldMkLst>
      </pc:sldChg>
      <pc:sldChg chg="del">
        <pc:chgData name="Cao, Yuwei" userId="d607ba23-f5a6-4b77-9e4e-ebb1f38b0d67" providerId="ADAL" clId="{8DBDA226-879A-511D-949E-49E7D62540CE}" dt="2026-01-04T05:23:54.269" v="0" actId="2696"/>
        <pc:sldMkLst>
          <pc:docMk/>
          <pc:sldMk cId="0" sldId="265"/>
        </pc:sldMkLst>
      </pc:sldChg>
      <pc:sldChg chg="del">
        <pc:chgData name="Cao, Yuwei" userId="d607ba23-f5a6-4b77-9e4e-ebb1f38b0d67" providerId="ADAL" clId="{8DBDA226-879A-511D-949E-49E7D62540CE}" dt="2026-01-04T05:23:54.269" v="0" actId="2696"/>
        <pc:sldMkLst>
          <pc:docMk/>
          <pc:sldMk cId="0" sldId="266"/>
        </pc:sldMkLst>
      </pc:sldChg>
      <pc:sldChg chg="del">
        <pc:chgData name="Cao, Yuwei" userId="d607ba23-f5a6-4b77-9e4e-ebb1f38b0d67" providerId="ADAL" clId="{8DBDA226-879A-511D-949E-49E7D62540CE}" dt="2026-01-04T05:23:54.269" v="0" actId="2696"/>
        <pc:sldMkLst>
          <pc:docMk/>
          <pc:sldMk cId="0" sldId="267"/>
        </pc:sldMkLst>
      </pc:sldChg>
      <pc:sldChg chg="del">
        <pc:chgData name="Cao, Yuwei" userId="d607ba23-f5a6-4b77-9e4e-ebb1f38b0d67" providerId="ADAL" clId="{8DBDA226-879A-511D-949E-49E7D62540CE}" dt="2026-01-04T05:23:54.269" v="0" actId="2696"/>
        <pc:sldMkLst>
          <pc:docMk/>
          <pc:sldMk cId="0" sldId="268"/>
        </pc:sldMkLst>
      </pc:sldChg>
      <pc:sldChg chg="modNotes">
        <pc:chgData name="Cao, Yuwei" userId="d607ba23-f5a6-4b77-9e4e-ebb1f38b0d67" providerId="ADAL" clId="{8DBDA226-879A-511D-949E-49E7D62540CE}" dt="2026-01-04T05:23:54.269" v="1"/>
        <pc:sldMkLst>
          <pc:docMk/>
          <pc:sldMk cId="0" sldId="270"/>
        </pc:sldMkLst>
      </pc:sldChg>
      <pc:sldChg chg="modNotes">
        <pc:chgData name="Cao, Yuwei" userId="d607ba23-f5a6-4b77-9e4e-ebb1f38b0d67" providerId="ADAL" clId="{8DBDA226-879A-511D-949E-49E7D62540CE}" dt="2026-01-04T05:23:54.269" v="1"/>
        <pc:sldMkLst>
          <pc:docMk/>
          <pc:sldMk cId="0" sldId="273"/>
        </pc:sldMkLst>
      </pc:sldChg>
      <pc:sldChg chg="modNotes">
        <pc:chgData name="Cao, Yuwei" userId="d607ba23-f5a6-4b77-9e4e-ebb1f38b0d67" providerId="ADAL" clId="{8DBDA226-879A-511D-949E-49E7D62540CE}" dt="2026-01-04T05:23:54.269" v="1"/>
        <pc:sldMkLst>
          <pc:docMk/>
          <pc:sldMk cId="0" sldId="274"/>
        </pc:sldMkLst>
      </pc:sldChg>
      <pc:sldChg chg="add del">
        <pc:chgData name="Cao, Yuwei" userId="d607ba23-f5a6-4b77-9e4e-ebb1f38b0d67" providerId="ADAL" clId="{8DBDA226-879A-511D-949E-49E7D62540CE}" dt="2026-01-04T05:26:14.373" v="3" actId="2696"/>
        <pc:sldMkLst>
          <pc:docMk/>
          <pc:sldMk cId="0" sldId="275"/>
        </pc:sldMkLst>
      </pc:sldChg>
      <pc:sldChg chg="del">
        <pc:chgData name="Cao, Yuwei" userId="d607ba23-f5a6-4b77-9e4e-ebb1f38b0d67" providerId="ADAL" clId="{8DBDA226-879A-511D-949E-49E7D62540CE}" dt="2026-01-04T05:39:51.469" v="11" actId="2696"/>
        <pc:sldMkLst>
          <pc:docMk/>
          <pc:sldMk cId="0" sldId="278"/>
        </pc:sldMkLst>
      </pc:sldChg>
      <pc:sldChg chg="modNotes">
        <pc:chgData name="Cao, Yuwei" userId="d607ba23-f5a6-4b77-9e4e-ebb1f38b0d67" providerId="ADAL" clId="{8DBDA226-879A-511D-949E-49E7D62540CE}" dt="2026-01-04T05:23:54.269" v="1"/>
        <pc:sldMkLst>
          <pc:docMk/>
          <pc:sldMk cId="0" sldId="284"/>
        </pc:sldMkLst>
      </pc:sldChg>
      <pc:sldChg chg="modNotes">
        <pc:chgData name="Cao, Yuwei" userId="d607ba23-f5a6-4b77-9e4e-ebb1f38b0d67" providerId="ADAL" clId="{8DBDA226-879A-511D-949E-49E7D62540CE}" dt="2026-01-04T05:23:54.269" v="1"/>
        <pc:sldMkLst>
          <pc:docMk/>
          <pc:sldMk cId="0" sldId="285"/>
        </pc:sldMkLst>
      </pc:sldChg>
      <pc:sldChg chg="modNotes">
        <pc:chgData name="Cao, Yuwei" userId="d607ba23-f5a6-4b77-9e4e-ebb1f38b0d67" providerId="ADAL" clId="{8DBDA226-879A-511D-949E-49E7D62540CE}" dt="2026-01-04T05:23:54.269" v="1"/>
        <pc:sldMkLst>
          <pc:docMk/>
          <pc:sldMk cId="0" sldId="286"/>
        </pc:sldMkLst>
      </pc:sldChg>
      <pc:sldChg chg="modNotes">
        <pc:chgData name="Cao, Yuwei" userId="d607ba23-f5a6-4b77-9e4e-ebb1f38b0d67" providerId="ADAL" clId="{8DBDA226-879A-511D-949E-49E7D62540CE}" dt="2026-01-04T05:23:54.269" v="1"/>
        <pc:sldMkLst>
          <pc:docMk/>
          <pc:sldMk cId="0" sldId="287"/>
        </pc:sldMkLst>
      </pc:sldChg>
      <pc:sldChg chg="modSp mod">
        <pc:chgData name="Cao, Yuwei" userId="d607ba23-f5a6-4b77-9e4e-ebb1f38b0d67" providerId="ADAL" clId="{8DBDA226-879A-511D-949E-49E7D62540CE}" dt="2026-01-04T05:26:26.428" v="5" actId="20577"/>
        <pc:sldMkLst>
          <pc:docMk/>
          <pc:sldMk cId="857293283" sldId="409"/>
        </pc:sldMkLst>
        <pc:spChg chg="mod">
          <ac:chgData name="Cao, Yuwei" userId="d607ba23-f5a6-4b77-9e4e-ebb1f38b0d67" providerId="ADAL" clId="{8DBDA226-879A-511D-949E-49E7D62540CE}" dt="2026-01-04T05:26:26.428" v="5" actId="20577"/>
          <ac:spMkLst>
            <pc:docMk/>
            <pc:sldMk cId="857293283" sldId="409"/>
            <ac:spMk id="200" creationId="{82CFEB31-251D-8832-BC91-DD848E8FBD6F}"/>
          </ac:spMkLst>
        </pc:spChg>
      </pc:sldChg>
      <pc:sldChg chg="modSp mod">
        <pc:chgData name="Cao, Yuwei" userId="d607ba23-f5a6-4b77-9e4e-ebb1f38b0d67" providerId="ADAL" clId="{8DBDA226-879A-511D-949E-49E7D62540CE}" dt="2026-01-04T05:29:14.451" v="8" actId="20577"/>
        <pc:sldMkLst>
          <pc:docMk/>
          <pc:sldMk cId="3871804249" sldId="410"/>
        </pc:sldMkLst>
        <pc:spChg chg="mod">
          <ac:chgData name="Cao, Yuwei" userId="d607ba23-f5a6-4b77-9e4e-ebb1f38b0d67" providerId="ADAL" clId="{8DBDA226-879A-511D-949E-49E7D62540CE}" dt="2026-01-04T05:28:41.905" v="6" actId="20577"/>
          <ac:spMkLst>
            <pc:docMk/>
            <pc:sldMk cId="3871804249" sldId="410"/>
            <ac:spMk id="200" creationId="{21F6BF07-33AE-F539-7424-8218AE18C428}"/>
          </ac:spMkLst>
        </pc:spChg>
        <pc:spChg chg="mod">
          <ac:chgData name="Cao, Yuwei" userId="d607ba23-f5a6-4b77-9e4e-ebb1f38b0d67" providerId="ADAL" clId="{8DBDA226-879A-511D-949E-49E7D62540CE}" dt="2026-01-04T05:29:14.451" v="8" actId="20577"/>
          <ac:spMkLst>
            <pc:docMk/>
            <pc:sldMk cId="3871804249" sldId="410"/>
            <ac:spMk id="201" creationId="{2185196B-732C-95B8-151D-CBBBAE9191B4}"/>
          </ac:spMkLst>
        </pc:spChg>
      </pc:sldChg>
      <pc:sldChg chg="modSp mod">
        <pc:chgData name="Cao, Yuwei" userId="d607ba23-f5a6-4b77-9e4e-ebb1f38b0d67" providerId="ADAL" clId="{8DBDA226-879A-511D-949E-49E7D62540CE}" dt="2026-01-04T05:29:34.122" v="9" actId="20577"/>
        <pc:sldMkLst>
          <pc:docMk/>
          <pc:sldMk cId="762802404" sldId="411"/>
        </pc:sldMkLst>
        <pc:spChg chg="mod">
          <ac:chgData name="Cao, Yuwei" userId="d607ba23-f5a6-4b77-9e4e-ebb1f38b0d67" providerId="ADAL" clId="{8DBDA226-879A-511D-949E-49E7D62540CE}" dt="2026-01-04T05:29:34.122" v="9" actId="20577"/>
          <ac:spMkLst>
            <pc:docMk/>
            <pc:sldMk cId="762802404" sldId="411"/>
            <ac:spMk id="200" creationId="{EB15CA58-6075-1EAE-8EEA-158FB7B658F0}"/>
          </ac:spMkLst>
        </pc:spChg>
      </pc:sldChg>
      <pc:sldChg chg="del">
        <pc:chgData name="Cao, Yuwei" userId="d607ba23-f5a6-4b77-9e4e-ebb1f38b0d67" providerId="ADAL" clId="{8DBDA226-879A-511D-949E-49E7D62540CE}" dt="2026-01-04T05:26:24.281" v="4" actId="2696"/>
        <pc:sldMkLst>
          <pc:docMk/>
          <pc:sldMk cId="4212409469" sldId="412"/>
        </pc:sldMkLst>
      </pc:sldChg>
      <pc:sldChg chg="modNotes">
        <pc:chgData name="Cao, Yuwei" userId="d607ba23-f5a6-4b77-9e4e-ebb1f38b0d67" providerId="ADAL" clId="{8DBDA226-879A-511D-949E-49E7D62540CE}" dt="2026-01-04T05:23:54.269" v="1"/>
        <pc:sldMkLst>
          <pc:docMk/>
          <pc:sldMk cId="2525006005" sldId="413"/>
        </pc:sldMkLst>
      </pc:sldChg>
      <pc:sldChg chg="modNotes">
        <pc:chgData name="Cao, Yuwei" userId="d607ba23-f5a6-4b77-9e4e-ebb1f38b0d67" providerId="ADAL" clId="{8DBDA226-879A-511D-949E-49E7D62540CE}" dt="2026-01-04T05:23:54.269" v="1"/>
        <pc:sldMkLst>
          <pc:docMk/>
          <pc:sldMk cId="1461678777" sldId="415"/>
        </pc:sldMkLst>
      </pc:sldChg>
      <pc:sldChg chg="modNotes">
        <pc:chgData name="Cao, Yuwei" userId="d607ba23-f5a6-4b77-9e4e-ebb1f38b0d67" providerId="ADAL" clId="{8DBDA226-879A-511D-949E-49E7D62540CE}" dt="2026-01-04T05:23:54.269" v="1"/>
        <pc:sldMkLst>
          <pc:docMk/>
          <pc:sldMk cId="1986737231" sldId="416"/>
        </pc:sldMkLst>
      </pc:sldChg>
      <pc:sldChg chg="modNotes">
        <pc:chgData name="Cao, Yuwei" userId="d607ba23-f5a6-4b77-9e4e-ebb1f38b0d67" providerId="ADAL" clId="{8DBDA226-879A-511D-949E-49E7D62540CE}" dt="2026-01-04T05:23:54.269" v="1"/>
        <pc:sldMkLst>
          <pc:docMk/>
          <pc:sldMk cId="1760734668" sldId="419"/>
        </pc:sldMkLst>
      </pc:sldChg>
      <pc:sldChg chg="modNotes">
        <pc:chgData name="Cao, Yuwei" userId="d607ba23-f5a6-4b77-9e4e-ebb1f38b0d67" providerId="ADAL" clId="{8DBDA226-879A-511D-949E-49E7D62540CE}" dt="2026-01-04T05:23:54.269" v="1"/>
        <pc:sldMkLst>
          <pc:docMk/>
          <pc:sldMk cId="688486965" sldId="420"/>
        </pc:sldMkLst>
      </pc:sldChg>
      <pc:sldChg chg="modNotes">
        <pc:chgData name="Cao, Yuwei" userId="d607ba23-f5a6-4b77-9e4e-ebb1f38b0d67" providerId="ADAL" clId="{8DBDA226-879A-511D-949E-49E7D62540CE}" dt="2026-01-04T05:23:54.269" v="1"/>
        <pc:sldMkLst>
          <pc:docMk/>
          <pc:sldMk cId="2229925936" sldId="421"/>
        </pc:sldMkLst>
      </pc:sldChg>
      <pc:sldChg chg="modNotes">
        <pc:chgData name="Cao, Yuwei" userId="d607ba23-f5a6-4b77-9e4e-ebb1f38b0d67" providerId="ADAL" clId="{8DBDA226-879A-511D-949E-49E7D62540CE}" dt="2026-01-04T05:23:54.269" v="1"/>
        <pc:sldMkLst>
          <pc:docMk/>
          <pc:sldMk cId="3149796906" sldId="422"/>
        </pc:sldMkLst>
      </pc:sldChg>
      <pc:sldChg chg="modNotes">
        <pc:chgData name="Cao, Yuwei" userId="d607ba23-f5a6-4b77-9e4e-ebb1f38b0d67" providerId="ADAL" clId="{8DBDA226-879A-511D-949E-49E7D62540CE}" dt="2026-01-04T05:23:54.269" v="1"/>
        <pc:sldMkLst>
          <pc:docMk/>
          <pc:sldMk cId="745534631" sldId="423"/>
        </pc:sldMkLst>
      </pc:sldChg>
      <pc:sldChg chg="modNotes">
        <pc:chgData name="Cao, Yuwei" userId="d607ba23-f5a6-4b77-9e4e-ebb1f38b0d67" providerId="ADAL" clId="{8DBDA226-879A-511D-949E-49E7D62540CE}" dt="2026-01-04T05:23:54.269" v="1"/>
        <pc:sldMkLst>
          <pc:docMk/>
          <pc:sldMk cId="781592034" sldId="425"/>
        </pc:sldMkLst>
      </pc:sldChg>
      <pc:sldChg chg="modNotes">
        <pc:chgData name="Cao, Yuwei" userId="d607ba23-f5a6-4b77-9e4e-ebb1f38b0d67" providerId="ADAL" clId="{8DBDA226-879A-511D-949E-49E7D62540CE}" dt="2026-01-04T05:23:54.269" v="1"/>
        <pc:sldMkLst>
          <pc:docMk/>
          <pc:sldMk cId="3421642992" sldId="426"/>
        </pc:sldMkLst>
      </pc:sldChg>
      <pc:sldChg chg="add">
        <pc:chgData name="Cao, Yuwei" userId="d607ba23-f5a6-4b77-9e4e-ebb1f38b0d67" providerId="ADAL" clId="{8DBDA226-879A-511D-949E-49E7D62540CE}" dt="2026-01-04T05:39:49.759" v="10"/>
        <pc:sldMkLst>
          <pc:docMk/>
          <pc:sldMk cId="0" sldId="433"/>
        </pc:sldMkLst>
      </pc:sldChg>
      <pc:sldMasterChg chg="delSldLayout">
        <pc:chgData name="Cao, Yuwei" userId="d607ba23-f5a6-4b77-9e4e-ebb1f38b0d67" providerId="ADAL" clId="{8DBDA226-879A-511D-949E-49E7D62540CE}" dt="2026-01-04T05:23:54.269" v="0" actId="2696"/>
        <pc:sldMasterMkLst>
          <pc:docMk/>
          <pc:sldMasterMk cId="0" sldId="2147483670"/>
        </pc:sldMasterMkLst>
        <pc:sldLayoutChg chg="del">
          <pc:chgData name="Cao, Yuwei" userId="d607ba23-f5a6-4b77-9e4e-ebb1f38b0d67" providerId="ADAL" clId="{8DBDA226-879A-511D-949E-49E7D62540CE}" dt="2026-01-04T05:23:54.269" v="0" actId="2696"/>
          <pc:sldLayoutMkLst>
            <pc:docMk/>
            <pc:sldMasterMk cId="0" sldId="2147483670"/>
            <pc:sldLayoutMk cId="0" sldId="2147483652"/>
          </pc:sldLayoutMkLst>
        </pc:sldLayoutChg>
      </pc:sldMasterChg>
    </pc:docChg>
  </pc:docChgLst>
</pc:chgInfo>
</file>

<file path=ppt/comments/modernComment_119_0.xml><?xml version="1.0" encoding="utf-8"?>
<p188:cmLst xmlns:a="http://schemas.openxmlformats.org/drawingml/2006/main" xmlns:r="http://schemas.openxmlformats.org/officeDocument/2006/relationships" xmlns:p188="http://schemas.microsoft.com/office/powerpoint/2018/8/main">
  <p188:cm id="{D8959886-4B63-4AA7-8A3D-76C4C24EAC1F}" authorId="{9F84EA01-055E-2125-8EE2-06D1948BA618}" status="resolved" created="2025-01-06T05:15:43.932" complete="100000">
    <ac:txMkLst xmlns:ac="http://schemas.microsoft.com/office/drawing/2013/main/command">
      <pc:docMk xmlns:pc="http://schemas.microsoft.com/office/powerpoint/2013/main/command"/>
      <pc:sldMk xmlns:pc="http://schemas.microsoft.com/office/powerpoint/2013/main/command" cId="0" sldId="281"/>
      <ac:spMk id="299" creationId="{00000000-0000-0000-0000-000000000000}"/>
      <ac:txMk cp="192" len="7">
        <ac:context len="367" hash="2152780494"/>
      </ac:txMk>
    </ac:txMkLst>
    <p188:pos x="4420829" y="2109019"/>
    <p188:txBody>
      <a:bodyPr/>
      <a:lstStyle/>
      <a:p>
        <a:r>
          <a:rPr lang="en-US"/>
          <a:t>path update needed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news.codecademy.com/programming-languages/"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google.com/url?sa=i&amp;url=https%3A%2F%2Fwww.wikihow.com%2FMake-a-Peanut-Butter-and-Jelly-Sandwich&amp;psig=AOvVaw0R2ZBtqhGZL4ozSynz7Uxe&amp;ust=1607497985390000&amp;source=images&amp;cd=vfe&amp;ved=0CAIQjRxqFwoTCLjihuXqve0CFQAAAAAdAAAAABAP"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guru99.com/r-vs-python.html#:~:text=R%20and%20Python%20are%20both,general%20approach%20to%20data%20science.&amp;text=Python%20is%20a%20general%2Dpurpose%20language%20with%20a%20readable%20syntax"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adv-r.hadley.nz/conditions.html#:~:text=Errors%20are%20the%20most%20severe,to%20at%20least%20partially%20recover"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en.wikipedia.org/wiki/Bioconductor"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www.tidyverse.org/packages/"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PJ</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180E5230-FE78-FE7E-846C-6A1BF83E9D6E}"/>
            </a:ext>
          </a:extLst>
        </p:cNvPr>
        <p:cNvGrpSpPr/>
        <p:nvPr/>
      </p:nvGrpSpPr>
      <p:grpSpPr>
        <a:xfrm>
          <a:off x="0" y="0"/>
          <a:ext cx="0" cy="0"/>
          <a:chOff x="0" y="0"/>
          <a:chExt cx="0" cy="0"/>
        </a:xfrm>
      </p:grpSpPr>
      <p:sp>
        <p:nvSpPr>
          <p:cNvPr id="197" name="Google Shape;197;g2651c8cf5ad_0_19:notes">
            <a:extLst>
              <a:ext uri="{FF2B5EF4-FFF2-40B4-BE49-F238E27FC236}">
                <a16:creationId xmlns:a16="http://schemas.microsoft.com/office/drawing/2014/main" id="{0BCE5BD6-029E-4D5C-E2A6-8EC48784E7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651c8cf5ad_0_19:notes">
            <a:extLst>
              <a:ext uri="{FF2B5EF4-FFF2-40B4-BE49-F238E27FC236}">
                <a16:creationId xmlns:a16="http://schemas.microsoft.com/office/drawing/2014/main" id="{00E3368B-0B66-7758-75FA-C4BB7EC8B0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1954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c47fdd62e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1c47fdd62e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b2fa85fb3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b2fa85fb3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aa35ea5a1c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aa35ea5a1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aa35ea5a1c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aa35ea5a1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aa35ea5a1c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aa35ea5a1c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1c4747e44dc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1c4747e44dc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aa35ea5a1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aa35ea5a1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aa79f6cdc1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aa79f6cdc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p:txBody>
      </p:sp>
    </p:spTree>
    <p:extLst>
      <p:ext uri="{BB962C8B-B14F-4D97-AF65-F5344CB8AC3E}">
        <p14:creationId xmlns:p14="http://schemas.microsoft.com/office/powerpoint/2010/main" val="1798773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C22082DA-84B5-6D25-AF3C-1FBD69E30364}"/>
            </a:ext>
          </a:extLst>
        </p:cNvPr>
        <p:cNvGrpSpPr/>
        <p:nvPr/>
      </p:nvGrpSpPr>
      <p:grpSpPr>
        <a:xfrm>
          <a:off x="0" y="0"/>
          <a:ext cx="0" cy="0"/>
          <a:chOff x="0" y="0"/>
          <a:chExt cx="0" cy="0"/>
        </a:xfrm>
      </p:grpSpPr>
      <p:sp>
        <p:nvSpPr>
          <p:cNvPr id="197" name="Google Shape;197;g2651c8cf5ad_0_19:notes">
            <a:extLst>
              <a:ext uri="{FF2B5EF4-FFF2-40B4-BE49-F238E27FC236}">
                <a16:creationId xmlns:a16="http://schemas.microsoft.com/office/drawing/2014/main" id="{0ED29ADB-AB56-4170-FF38-F1FE16DC43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651c8cf5ad_0_19:notes">
            <a:extLst>
              <a:ext uri="{FF2B5EF4-FFF2-40B4-BE49-F238E27FC236}">
                <a16:creationId xmlns:a16="http://schemas.microsoft.com/office/drawing/2014/main" id="{96FB7BCF-5DAA-025E-0226-35C0437BC6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6303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b04750dc70_0_8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b04750dc70_0_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b04750dc70_0_8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b04750dc70_0_8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a:p>
            <a:pPr marL="0" lvl="0" indent="0" algn="l" rtl="0">
              <a:spcBef>
                <a:spcPts val="0"/>
              </a:spcBef>
              <a:spcAft>
                <a:spcPts val="0"/>
              </a:spcAft>
              <a:buNone/>
            </a:pPr>
            <a:r>
              <a:rPr lang="en"/>
              <a:t>-info from: </a:t>
            </a:r>
            <a:r>
              <a:rPr lang="en" u="sng">
                <a:solidFill>
                  <a:schemeClr val="hlink"/>
                </a:solidFill>
                <a:hlinkClick r:id="rId3"/>
              </a:rPr>
              <a:t>https://news.codecademy.com/programming-languages/</a:t>
            </a:r>
            <a:r>
              <a:rPr lang="en"/>
              <a:t> </a:t>
            </a:r>
            <a:endParaRPr/>
          </a:p>
          <a:p>
            <a:pPr marL="0" lvl="0" indent="0" algn="l" rtl="0">
              <a:spcBef>
                <a:spcPts val="0"/>
              </a:spcBef>
              <a:spcAft>
                <a:spcPts val="0"/>
              </a:spcAft>
              <a:buNone/>
            </a:pPr>
            <a:r>
              <a:rPr lang="en"/>
              <a:t>By learning programming you become and ambassador between humans and computers. You can call yourself a technical diplomat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b04750dc70_0_8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b04750dc70_0_8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a:p>
            <a:pPr marL="0" lvl="0" indent="0" algn="l" rtl="0">
              <a:spcBef>
                <a:spcPts val="0"/>
              </a:spcBef>
              <a:spcAft>
                <a:spcPts val="0"/>
              </a:spcAft>
              <a:buNone/>
            </a:pPr>
            <a:r>
              <a:rPr lang="en"/>
              <a:t>After this: PB&amp;J Python demo.</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aa79f6cdc1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aa79f6cdc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p:txBody>
      </p:sp>
    </p:spTree>
    <p:extLst>
      <p:ext uri="{BB962C8B-B14F-4D97-AF65-F5344CB8AC3E}">
        <p14:creationId xmlns:p14="http://schemas.microsoft.com/office/powerpoint/2010/main" val="416024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c47fdd62ee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1c47fdd62ee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a:p>
            <a:pPr marL="0" lvl="0" indent="0" algn="l" rtl="0">
              <a:spcBef>
                <a:spcPts val="0"/>
              </a:spcBef>
              <a:spcAft>
                <a:spcPts val="0"/>
              </a:spcAft>
              <a:buNone/>
            </a:pPr>
            <a:r>
              <a:rPr lang="en"/>
              <a:t>Image from: </a:t>
            </a:r>
            <a:r>
              <a:rPr lang="en" u="sng">
                <a:solidFill>
                  <a:schemeClr val="hlink"/>
                </a:solidFill>
                <a:hlinkClick r:id="rId3"/>
              </a:rPr>
              <a:t>https://www.google.com/url?sa=i&amp;url=https%3A%2F%2Fwww.wikihow.com%2FMake-a-Peanut-Butter-and-Jelly-Sandwich&amp;psig=AOvVaw0R2ZBtqhGZL4ozSynz7Uxe&amp;ust=1607497985390000&amp;source=images&amp;cd=vfe&amp;ved=0CAIQjRxqFwoTCLjihuXqve0CFQAAAAAdAAAAABAP</a:t>
            </a:r>
            <a:r>
              <a:rPr lang="en"/>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b1872dacd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b1872dacd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aa79f6cdc1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aa79f6cdc1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b04750dc70_0_8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b04750dc70_0_8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aa79f6cdc1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aa79f6cdc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p:txBody>
      </p:sp>
    </p:spTree>
    <p:extLst>
      <p:ext uri="{BB962C8B-B14F-4D97-AF65-F5344CB8AC3E}">
        <p14:creationId xmlns:p14="http://schemas.microsoft.com/office/powerpoint/2010/main" val="431628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651c8cf5a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2651c8cf5a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4D119738-AE4E-8197-DB1A-71C2C7901D44}"/>
            </a:ext>
          </a:extLst>
        </p:cNvPr>
        <p:cNvGrpSpPr/>
        <p:nvPr/>
      </p:nvGrpSpPr>
      <p:grpSpPr>
        <a:xfrm>
          <a:off x="0" y="0"/>
          <a:ext cx="0" cy="0"/>
          <a:chOff x="0" y="0"/>
          <a:chExt cx="0" cy="0"/>
        </a:xfrm>
      </p:grpSpPr>
      <p:sp>
        <p:nvSpPr>
          <p:cNvPr id="197" name="Google Shape;197;g2651c8cf5ad_0_19:notes">
            <a:extLst>
              <a:ext uri="{FF2B5EF4-FFF2-40B4-BE49-F238E27FC236}">
                <a16:creationId xmlns:a16="http://schemas.microsoft.com/office/drawing/2014/main" id="{AB3C3C52-BE1E-2D54-67B6-515018459E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651c8cf5ad_0_19:notes">
            <a:extLst>
              <a:ext uri="{FF2B5EF4-FFF2-40B4-BE49-F238E27FC236}">
                <a16:creationId xmlns:a16="http://schemas.microsoft.com/office/drawing/2014/main" id="{4FF45BCB-FD28-A1F0-FF2B-D4CBA4BB12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65128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1c4747e44dc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1c4747e44dc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g10b9ab8f6ae_4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7" name="Google Shape;1307;g10b9ab8f6ae_4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JJ</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a:t>Both can handle large amounts of data</a:t>
            </a:r>
            <a:endParaRPr/>
          </a:p>
          <a:p>
            <a:pPr marL="0" lvl="0" indent="0" algn="l" rtl="0">
              <a:spcBef>
                <a:spcPts val="0"/>
              </a:spcBef>
              <a:spcAft>
                <a:spcPts val="0"/>
              </a:spcAft>
              <a:buNone/>
            </a:pPr>
            <a:r>
              <a:rPr lang="en"/>
              <a:t>Python is more human-readable and usually more intuitive to learn</a:t>
            </a:r>
            <a:endParaRPr/>
          </a:p>
          <a:p>
            <a:pPr marL="0" lvl="0" indent="0" algn="l" rtl="0">
              <a:spcBef>
                <a:spcPts val="0"/>
              </a:spcBef>
              <a:spcAft>
                <a:spcPts val="0"/>
              </a:spcAft>
              <a:buNone/>
            </a:pPr>
            <a:r>
              <a:rPr lang="en"/>
              <a:t>R (strengths)</a:t>
            </a:r>
            <a:endParaRPr/>
          </a:p>
          <a:p>
            <a:pPr marL="0" lvl="0" indent="0" algn="l" rtl="0">
              <a:spcBef>
                <a:spcPts val="0"/>
              </a:spcBef>
              <a:spcAft>
                <a:spcPts val="0"/>
              </a:spcAft>
              <a:buNone/>
            </a:pPr>
            <a:r>
              <a:rPr lang="en"/>
              <a:t>Overall, the two packages are truly complementary and each has unique applications where they are preferred. Specifically, depending on the work you’re doing, packages that support your analyses may only be available in one or the other. For example, I’ve recently been </a:t>
            </a:r>
            <a:r>
              <a:rPr lang="en">
                <a:solidFill>
                  <a:schemeClr val="dk1"/>
                </a:solidFill>
              </a:rPr>
              <a:t>primarily </a:t>
            </a:r>
            <a:r>
              <a:rPr lang="en"/>
              <a:t>using R because it has a specific package that I need for integrating the multiomic single cell data I work with.</a:t>
            </a: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3"/>
              </a:rPr>
              <a:t>https://www.guru99.com/r-vs-python.html#:~:text=R%20and%20Python%20are%20both,general%20approach%20to%20data%20science.&amp;text=Python%20is%20a%20general%2Dpurpose%20language%20with%20a%20readable%20syntax</a:t>
            </a:r>
            <a:r>
              <a:rPr lang="en"/>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4"/>
        <p:cNvGrpSpPr/>
        <p:nvPr/>
      </p:nvGrpSpPr>
      <p:grpSpPr>
        <a:xfrm>
          <a:off x="0" y="0"/>
          <a:ext cx="0" cy="0"/>
          <a:chOff x="0" y="0"/>
          <a:chExt cx="0" cy="0"/>
        </a:xfrm>
      </p:grpSpPr>
      <p:sp>
        <p:nvSpPr>
          <p:cNvPr id="1315" name="Google Shape;1315;gaac17743c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6" name="Google Shape;1316;gaac17743c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JJ</a:t>
            </a:r>
            <a:endParaRPr/>
          </a:p>
          <a:p>
            <a:pPr marL="0" lvl="0" indent="0" algn="l" rtl="0">
              <a:spcBef>
                <a:spcPts val="0"/>
              </a:spcBef>
              <a:spcAft>
                <a:spcPts val="0"/>
              </a:spcAft>
              <a:buNone/>
            </a:pPr>
            <a:r>
              <a:rPr lang="en"/>
              <a:t>As a programming language, R is composed of the same backbone components that we talked about on Tuesday when we learned about python. Although the exact syntax of R is different than python, it’s pretty easy to translate between the two when working with all of these elements. However, in comparison to python, R places a different emphasis on the key components. For example, although there are ways to create for loops in R, many users prefer to use built in functions rather than loops.</a:t>
            </a:r>
            <a:endParaRPr/>
          </a:p>
          <a:p>
            <a:pPr marL="0" lvl="0" indent="0" algn="l" rtl="0">
              <a:spcBef>
                <a:spcPts val="0"/>
              </a:spcBef>
              <a:spcAft>
                <a:spcPts val="0"/>
              </a:spcAft>
              <a:buNone/>
            </a:pPr>
            <a:endParaRPr/>
          </a:p>
          <a:p>
            <a:pPr marL="0" lvl="0" indent="0" algn="l" rtl="0">
              <a:spcBef>
                <a:spcPts val="0"/>
              </a:spcBef>
              <a:spcAft>
                <a:spcPts val="0"/>
              </a:spcAft>
              <a:buNone/>
            </a:pPr>
            <a:r>
              <a:rPr lang="en"/>
              <a:t>Now, I’ll briefly walk through some examples of these components and compare them between python and 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ga9628ebc3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7" name="Google Shape;1327;ga9628ebc3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JJ</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2"/>
        <p:cNvGrpSpPr/>
        <p:nvPr/>
      </p:nvGrpSpPr>
      <p:grpSpPr>
        <a:xfrm>
          <a:off x="0" y="0"/>
          <a:ext cx="0" cy="0"/>
          <a:chOff x="0" y="0"/>
          <a:chExt cx="0" cy="0"/>
        </a:xfrm>
      </p:grpSpPr>
      <p:sp>
        <p:nvSpPr>
          <p:cNvPr id="1343" name="Google Shape;1343;g10b643f4e5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4" name="Google Shape;1344;g10b643f4e5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JJ</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10b9ab8f6ae_4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10b9ab8f6ae_4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JJ</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a9628ebc38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a9628ebc38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JJ</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6"/>
        <p:cNvGrpSpPr/>
        <p:nvPr/>
      </p:nvGrpSpPr>
      <p:grpSpPr>
        <a:xfrm>
          <a:off x="0" y="0"/>
          <a:ext cx="0" cy="0"/>
          <a:chOff x="0" y="0"/>
          <a:chExt cx="0" cy="0"/>
        </a:xfrm>
      </p:grpSpPr>
      <p:sp>
        <p:nvSpPr>
          <p:cNvPr id="1387" name="Google Shape;1387;g10b643f4e5a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8" name="Google Shape;1388;g10b643f4e5a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JJ</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6"/>
        <p:cNvGrpSpPr/>
        <p:nvPr/>
      </p:nvGrpSpPr>
      <p:grpSpPr>
        <a:xfrm>
          <a:off x="0" y="0"/>
          <a:ext cx="0" cy="0"/>
          <a:chOff x="0" y="0"/>
          <a:chExt cx="0" cy="0"/>
        </a:xfrm>
      </p:grpSpPr>
      <p:sp>
        <p:nvSpPr>
          <p:cNvPr id="1397" name="Google Shape;1397;ga9628ebc38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8" name="Google Shape;1398;ga9628ebc38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JJ</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4"/>
        <p:cNvGrpSpPr/>
        <p:nvPr/>
      </p:nvGrpSpPr>
      <p:grpSpPr>
        <a:xfrm>
          <a:off x="0" y="0"/>
          <a:ext cx="0" cy="0"/>
          <a:chOff x="0" y="0"/>
          <a:chExt cx="0" cy="0"/>
        </a:xfrm>
      </p:grpSpPr>
      <p:sp>
        <p:nvSpPr>
          <p:cNvPr id="1415" name="Google Shape;1415;ga9628ebc38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6" name="Google Shape;1416;ga9628ebc38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JJ</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a:t>https://swcarpentry.github.io/r-novice-inflammation/02-func-R/</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1"/>
        <p:cNvGrpSpPr/>
        <p:nvPr/>
      </p:nvGrpSpPr>
      <p:grpSpPr>
        <a:xfrm>
          <a:off x="0" y="0"/>
          <a:ext cx="0" cy="0"/>
          <a:chOff x="0" y="0"/>
          <a:chExt cx="0" cy="0"/>
        </a:xfrm>
      </p:grpSpPr>
      <p:sp>
        <p:nvSpPr>
          <p:cNvPr id="1432" name="Google Shape;1432;g1c8da58c8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3" name="Google Shape;1433;g1c8da58c8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JJ</a:t>
            </a: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3"/>
              </a:rPr>
              <a:t>https://adv-r.hadley.nz/conditions.html#:~:text=Errors%20are%20the%20most%20severe,to%20at%20least%20partially%20recover</a:t>
            </a:r>
            <a:r>
              <a:rPr lang="en"/>
              <a:t>.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a9628ebc38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a9628ebc38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DV</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3"/>
              </a:rPr>
              <a:t>https://en.wikipedia.org/wiki/Bioconductor</a:t>
            </a:r>
            <a:endParaRPr/>
          </a:p>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ga9628ebc38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1" name="Google Shape;1551;ga9628ebc38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DV</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3"/>
              </a:rPr>
              <a:t>https://www.tidyverse.org/packages/</a:t>
            </a:r>
            <a:r>
              <a:rPr lang="en"/>
              <a:t>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8"/>
        <p:cNvGrpSpPr/>
        <p:nvPr/>
      </p:nvGrpSpPr>
      <p:grpSpPr>
        <a:xfrm>
          <a:off x="0" y="0"/>
          <a:ext cx="0" cy="0"/>
          <a:chOff x="0" y="0"/>
          <a:chExt cx="0" cy="0"/>
        </a:xfrm>
      </p:grpSpPr>
      <p:sp>
        <p:nvSpPr>
          <p:cNvPr id="1529" name="Google Shape;1529;g1ce71d51f2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0" name="Google Shape;1530;g1ce71d51f2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DV</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aa79f6cdc1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aa79f6cdc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JJ</a:t>
            </a:r>
            <a:endParaRPr/>
          </a:p>
        </p:txBody>
      </p:sp>
    </p:spTree>
    <p:extLst>
      <p:ext uri="{BB962C8B-B14F-4D97-AF65-F5344CB8AC3E}">
        <p14:creationId xmlns:p14="http://schemas.microsoft.com/office/powerpoint/2010/main" val="21559857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6"/>
        <p:cNvGrpSpPr/>
        <p:nvPr/>
      </p:nvGrpSpPr>
      <p:grpSpPr>
        <a:xfrm>
          <a:off x="0" y="0"/>
          <a:ext cx="0" cy="0"/>
          <a:chOff x="0" y="0"/>
          <a:chExt cx="0" cy="0"/>
        </a:xfrm>
      </p:grpSpPr>
      <p:sp>
        <p:nvSpPr>
          <p:cNvPr id="1267" name="Google Shape;1267;g1cb5cccfebe_1_1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8" name="Google Shape;1268;g1cb5cccfebe_1_1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realpython.com/jupyter-notebook-introductio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datahub.ucsd.edu/"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19_0.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www.ncbi.nlm.nih.gov/geo/query/acc.cgi?acc=GSE166925"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a:spLocks noGrp="1"/>
          </p:cNvSpPr>
          <p:nvPr>
            <p:ph type="ctrTitle"/>
          </p:nvPr>
        </p:nvSpPr>
        <p:spPr>
          <a:xfrm>
            <a:off x="871900" y="971650"/>
            <a:ext cx="7545300" cy="296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solidFill>
                  <a:srgbClr val="000000"/>
                </a:solidFill>
                <a:latin typeface="Raleway"/>
                <a:ea typeface="Raleway"/>
                <a:cs typeface="Raleway"/>
                <a:sym typeface="Raleway"/>
              </a:rPr>
              <a:t>BNFO262: Quantitative Methods in Genetics and Genomics</a:t>
            </a:r>
            <a:endParaRPr b="1">
              <a:solidFill>
                <a:srgbClr val="000000"/>
              </a:solidFill>
              <a:latin typeface="Raleway"/>
              <a:ea typeface="Raleway"/>
              <a:cs typeface="Raleway"/>
              <a:sym typeface="Raleway"/>
            </a:endParaRPr>
          </a:p>
          <a:p>
            <a:pPr marL="0" lvl="0" indent="0" algn="ctr" rtl="0">
              <a:spcBef>
                <a:spcPts val="0"/>
              </a:spcBef>
              <a:spcAft>
                <a:spcPts val="0"/>
              </a:spcAft>
              <a:buNone/>
            </a:pPr>
            <a:endParaRPr b="1">
              <a:solidFill>
                <a:srgbClr val="000000"/>
              </a:solidFill>
              <a:latin typeface="Raleway"/>
              <a:ea typeface="Raleway"/>
              <a:cs typeface="Raleway"/>
              <a:sym typeface="Raleway"/>
            </a:endParaRPr>
          </a:p>
        </p:txBody>
      </p:sp>
      <p:sp>
        <p:nvSpPr>
          <p:cNvPr id="100" name="Google Shape;100;p25"/>
          <p:cNvSpPr txBox="1">
            <a:spLocks noGrp="1"/>
          </p:cNvSpPr>
          <p:nvPr>
            <p:ph type="subTitle" idx="1"/>
          </p:nvPr>
        </p:nvSpPr>
        <p:spPr>
          <a:xfrm>
            <a:off x="1445475" y="3519925"/>
            <a:ext cx="60897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000000"/>
                </a:solidFill>
                <a:latin typeface="Raleway"/>
                <a:ea typeface="Raleway"/>
                <a:cs typeface="Raleway"/>
                <a:sym typeface="Raleway"/>
              </a:rPr>
              <a:t> Day 1 - 1/07/25</a:t>
            </a:r>
            <a:endParaRPr>
              <a:solidFill>
                <a:srgbClr val="000000"/>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D3302590-3941-1507-C959-05D4E8A06367}"/>
            </a:ext>
          </a:extLst>
        </p:cNvPr>
        <p:cNvGrpSpPr/>
        <p:nvPr/>
      </p:nvGrpSpPr>
      <p:grpSpPr>
        <a:xfrm>
          <a:off x="0" y="0"/>
          <a:ext cx="0" cy="0"/>
          <a:chOff x="0" y="0"/>
          <a:chExt cx="0" cy="0"/>
        </a:xfrm>
      </p:grpSpPr>
      <p:sp>
        <p:nvSpPr>
          <p:cNvPr id="200" name="Google Shape;200;p38">
            <a:extLst>
              <a:ext uri="{FF2B5EF4-FFF2-40B4-BE49-F238E27FC236}">
                <a16:creationId xmlns:a16="http://schemas.microsoft.com/office/drawing/2014/main" id="{82CFEB31-251D-8832-BC91-DD848E8FBD6F}"/>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Raleway"/>
              <a:buChar char="●"/>
            </a:pPr>
            <a:r>
              <a:rPr lang="en" dirty="0">
                <a:solidFill>
                  <a:schemeClr val="dk1"/>
                </a:solidFill>
                <a:latin typeface="Raleway"/>
                <a:ea typeface="Raleway"/>
                <a:cs typeface="Raleway"/>
                <a:sym typeface="Raleway"/>
              </a:rPr>
              <a:t>Basics of </a:t>
            </a:r>
            <a:r>
              <a:rPr lang="en" dirty="0" err="1">
                <a:solidFill>
                  <a:schemeClr val="dk1"/>
                </a:solidFill>
                <a:latin typeface="Raleway"/>
                <a:ea typeface="Raleway"/>
                <a:cs typeface="Raleway"/>
                <a:sym typeface="Raleway"/>
              </a:rPr>
              <a:t>Jupyter</a:t>
            </a:r>
            <a:r>
              <a:rPr lang="en" dirty="0">
                <a:solidFill>
                  <a:schemeClr val="dk1"/>
                </a:solidFill>
                <a:latin typeface="Raleway"/>
                <a:ea typeface="Raleway"/>
                <a:cs typeface="Raleway"/>
                <a:sym typeface="Raleway"/>
              </a:rPr>
              <a:t> Notebook</a:t>
            </a:r>
          </a:p>
          <a:p>
            <a:pPr marL="457200" lvl="0" indent="-342900" algn="l" rtl="0">
              <a:spcBef>
                <a:spcPts val="0"/>
              </a:spcBef>
              <a:spcAft>
                <a:spcPts val="0"/>
              </a:spcAft>
              <a:buClr>
                <a:schemeClr val="dk1"/>
              </a:buClr>
              <a:buSzPts val="1800"/>
              <a:buFont typeface="Raleway"/>
              <a:buChar char="●"/>
            </a:pPr>
            <a:r>
              <a:rPr lang="en" dirty="0">
                <a:solidFill>
                  <a:srgbClr val="999999"/>
                </a:solidFill>
                <a:latin typeface="Raleway"/>
                <a:sym typeface="Raleway"/>
              </a:rPr>
              <a:t>Basics of Programming in Python</a:t>
            </a:r>
            <a:endParaRPr dirty="0">
              <a:solidFill>
                <a:srgbClr val="999999"/>
              </a:solidFill>
              <a:latin typeface="Raleway"/>
              <a:sym typeface="Raleway"/>
            </a:endParaRPr>
          </a:p>
          <a:p>
            <a:pPr marL="914400" lvl="1" indent="-317500" algn="l" rtl="0">
              <a:spcBef>
                <a:spcPts val="0"/>
              </a:spcBef>
              <a:spcAft>
                <a:spcPts val="0"/>
              </a:spcAft>
              <a:buClr>
                <a:schemeClr val="dk1"/>
              </a:buClr>
              <a:buSzPts val="1400"/>
              <a:buFont typeface="Raleway"/>
              <a:buChar char="○"/>
            </a:pPr>
            <a:r>
              <a:rPr lang="en" dirty="0">
                <a:solidFill>
                  <a:srgbClr val="999999"/>
                </a:solidFill>
                <a:latin typeface="Raleway"/>
                <a:sym typeface="Raleway"/>
              </a:rPr>
              <a:t>Fundamentals</a:t>
            </a:r>
            <a:endParaRPr dirty="0">
              <a:solidFill>
                <a:srgbClr val="999999"/>
              </a:solidFill>
              <a:latin typeface="Raleway"/>
              <a:sym typeface="Raleway"/>
            </a:endParaRPr>
          </a:p>
          <a:p>
            <a:pPr marL="914400" lvl="1" indent="-317500" algn="l" rtl="0">
              <a:spcBef>
                <a:spcPts val="0"/>
              </a:spcBef>
              <a:spcAft>
                <a:spcPts val="0"/>
              </a:spcAft>
              <a:buClr>
                <a:schemeClr val="dk1"/>
              </a:buClr>
              <a:buSzPts val="1400"/>
              <a:buFont typeface="Raleway"/>
              <a:buChar char="○"/>
            </a:pPr>
            <a:r>
              <a:rPr lang="en" dirty="0">
                <a:solidFill>
                  <a:srgbClr val="999999"/>
                </a:solidFill>
                <a:latin typeface="Raleway"/>
                <a:sym typeface="Raleway"/>
              </a:rPr>
              <a:t>Packages</a:t>
            </a:r>
            <a:endParaRPr dirty="0">
              <a:solidFill>
                <a:srgbClr val="999999"/>
              </a:solidFill>
              <a:latin typeface="Raleway"/>
              <a:sym typeface="Raleway"/>
            </a:endParaRPr>
          </a:p>
          <a:p>
            <a:pPr marL="457200" lvl="0" indent="-342900" algn="l" rtl="0">
              <a:spcBef>
                <a:spcPts val="0"/>
              </a:spcBef>
              <a:spcAft>
                <a:spcPts val="0"/>
              </a:spcAft>
              <a:buClr>
                <a:srgbClr val="999999"/>
              </a:buClr>
              <a:buSzPts val="1800"/>
              <a:buFont typeface="Raleway"/>
              <a:buChar char="●"/>
            </a:pPr>
            <a:r>
              <a:rPr lang="en" dirty="0">
                <a:solidFill>
                  <a:srgbClr val="999999"/>
                </a:solidFill>
                <a:latin typeface="Raleway"/>
                <a:ea typeface="Raleway"/>
                <a:cs typeface="Raleway"/>
                <a:sym typeface="Raleway"/>
              </a:rPr>
              <a:t>Basics of Programming in R</a:t>
            </a:r>
          </a:p>
          <a:p>
            <a:pPr lvl="1" indent="-342900">
              <a:spcBef>
                <a:spcPts val="0"/>
              </a:spcBef>
              <a:buClr>
                <a:srgbClr val="999999"/>
              </a:buClr>
              <a:buSzPts val="1800"/>
              <a:buFont typeface="Raleway"/>
              <a:buChar char="●"/>
            </a:pPr>
            <a:r>
              <a:rPr lang="en" dirty="0">
                <a:solidFill>
                  <a:srgbClr val="999999"/>
                </a:solidFill>
                <a:latin typeface="Raleway"/>
                <a:ea typeface="Raleway"/>
                <a:cs typeface="Raleway"/>
                <a:sym typeface="Raleway"/>
              </a:rPr>
              <a:t>Fundamentals</a:t>
            </a:r>
          </a:p>
          <a:p>
            <a:pPr lvl="1" indent="-342900">
              <a:spcBef>
                <a:spcPts val="0"/>
              </a:spcBef>
              <a:buClr>
                <a:srgbClr val="999999"/>
              </a:buClr>
              <a:buSzPts val="1800"/>
              <a:buFont typeface="Raleway"/>
              <a:buChar char="●"/>
            </a:pPr>
            <a:r>
              <a:rPr lang="en" dirty="0">
                <a:solidFill>
                  <a:srgbClr val="999999"/>
                </a:solidFill>
                <a:latin typeface="Raleway"/>
                <a:ea typeface="Raleway"/>
                <a:cs typeface="Raleway"/>
                <a:sym typeface="Raleway"/>
              </a:rPr>
              <a:t>Packages</a:t>
            </a:r>
            <a:endParaRPr dirty="0">
              <a:solidFill>
                <a:srgbClr val="999999"/>
              </a:solidFill>
              <a:latin typeface="Raleway"/>
              <a:ea typeface="Raleway"/>
              <a:cs typeface="Raleway"/>
              <a:sym typeface="Raleway"/>
            </a:endParaRPr>
          </a:p>
        </p:txBody>
      </p:sp>
      <p:sp>
        <p:nvSpPr>
          <p:cNvPr id="201" name="Google Shape;201;p38">
            <a:extLst>
              <a:ext uri="{FF2B5EF4-FFF2-40B4-BE49-F238E27FC236}">
                <a16:creationId xmlns:a16="http://schemas.microsoft.com/office/drawing/2014/main" id="{BEFD9E37-906D-882E-3850-9ADA70561F4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Outline for Day 1</a:t>
            </a:r>
            <a:endParaRPr b="1">
              <a:latin typeface="Raleway"/>
              <a:ea typeface="Raleway"/>
              <a:cs typeface="Raleway"/>
              <a:sym typeface="Raleway"/>
            </a:endParaRPr>
          </a:p>
        </p:txBody>
      </p:sp>
    </p:spTree>
    <p:extLst>
      <p:ext uri="{BB962C8B-B14F-4D97-AF65-F5344CB8AC3E}">
        <p14:creationId xmlns:p14="http://schemas.microsoft.com/office/powerpoint/2010/main" val="857293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Jupyter Notebook</a:t>
            </a:r>
            <a:endParaRPr/>
          </a:p>
        </p:txBody>
      </p:sp>
      <p:sp>
        <p:nvSpPr>
          <p:cNvPr id="251" name="Google Shape;251;p44"/>
          <p:cNvSpPr txBox="1"/>
          <p:nvPr/>
        </p:nvSpPr>
        <p:spPr>
          <a:xfrm>
            <a:off x="358975" y="1062700"/>
            <a:ext cx="38379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50">
                <a:solidFill>
                  <a:srgbClr val="0A0C10"/>
                </a:solidFill>
                <a:highlight>
                  <a:srgbClr val="FFFFFF"/>
                </a:highlight>
                <a:latin typeface="Raleway"/>
                <a:ea typeface="Raleway"/>
                <a:cs typeface="Raleway"/>
                <a:sym typeface="Raleway"/>
              </a:rPr>
              <a:t>“</a:t>
            </a:r>
            <a:r>
              <a:rPr lang="en" sz="1350" i="1">
                <a:solidFill>
                  <a:srgbClr val="0A0C10"/>
                </a:solidFill>
                <a:highlight>
                  <a:srgbClr val="FFFFFF"/>
                </a:highlight>
                <a:latin typeface="Raleway"/>
                <a:ea typeface="Raleway"/>
                <a:cs typeface="Raleway"/>
                <a:sym typeface="Raleway"/>
              </a:rPr>
              <a:t>The </a:t>
            </a:r>
            <a:r>
              <a:rPr lang="en" sz="1350" i="1" err="1">
                <a:solidFill>
                  <a:srgbClr val="0A0C10"/>
                </a:solidFill>
                <a:highlight>
                  <a:srgbClr val="FFFFFF"/>
                </a:highlight>
                <a:latin typeface="Raleway"/>
                <a:ea typeface="Raleway"/>
                <a:cs typeface="Raleway"/>
                <a:sym typeface="Raleway"/>
              </a:rPr>
              <a:t>Jupyter</a:t>
            </a:r>
            <a:r>
              <a:rPr lang="en" sz="1350" i="1">
                <a:solidFill>
                  <a:srgbClr val="0A0C10"/>
                </a:solidFill>
                <a:highlight>
                  <a:srgbClr val="FFFFFF"/>
                </a:highlight>
                <a:latin typeface="Raleway"/>
                <a:ea typeface="Raleway"/>
                <a:cs typeface="Raleway"/>
                <a:sym typeface="Raleway"/>
              </a:rPr>
              <a:t> Notebook is an open-source web application that allows you to create and share documents that contain live code, equations, visualizations, and narrative text.</a:t>
            </a:r>
            <a:r>
              <a:rPr lang="en" sz="1350">
                <a:solidFill>
                  <a:srgbClr val="0A0C10"/>
                </a:solidFill>
                <a:highlight>
                  <a:srgbClr val="FFFFFF"/>
                </a:highlight>
                <a:latin typeface="Raleway"/>
                <a:ea typeface="Raleway"/>
                <a:cs typeface="Raleway"/>
                <a:sym typeface="Raleway"/>
              </a:rPr>
              <a:t>”</a:t>
            </a:r>
            <a:endParaRPr sz="1350">
              <a:latin typeface="Raleway"/>
              <a:ea typeface="Raleway"/>
              <a:cs typeface="Raleway"/>
              <a:sym typeface="Raleway"/>
            </a:endParaRPr>
          </a:p>
        </p:txBody>
      </p:sp>
      <p:pic>
        <p:nvPicPr>
          <p:cNvPr id="252" name="Google Shape;252;p44"/>
          <p:cNvPicPr preferRelativeResize="0"/>
          <p:nvPr/>
        </p:nvPicPr>
        <p:blipFill>
          <a:blip r:embed="rId3">
            <a:alphaModFix/>
          </a:blip>
          <a:stretch>
            <a:fillRect/>
          </a:stretch>
        </p:blipFill>
        <p:spPr>
          <a:xfrm>
            <a:off x="4722075" y="1582600"/>
            <a:ext cx="3768176" cy="1978300"/>
          </a:xfrm>
          <a:prstGeom prst="rect">
            <a:avLst/>
          </a:prstGeom>
          <a:noFill/>
          <a:ln>
            <a:noFill/>
          </a:ln>
        </p:spPr>
      </p:pic>
      <p:sp>
        <p:nvSpPr>
          <p:cNvPr id="253" name="Google Shape;253;p44"/>
          <p:cNvSpPr txBox="1">
            <a:spLocks noGrp="1"/>
          </p:cNvSpPr>
          <p:nvPr>
            <p:ph type="body" idx="1"/>
          </p:nvPr>
        </p:nvSpPr>
        <p:spPr>
          <a:xfrm>
            <a:off x="218350" y="2078500"/>
            <a:ext cx="3909900" cy="2691600"/>
          </a:xfrm>
          <a:prstGeom prst="rect">
            <a:avLst/>
          </a:prstGeom>
        </p:spPr>
        <p:txBody>
          <a:bodyPr spcFirstLastPara="1" wrap="square" lIns="91425" tIns="91425" rIns="91425" bIns="91425" anchor="t" anchorCtr="0">
            <a:noAutofit/>
          </a:bodyPr>
          <a:lstStyle/>
          <a:p>
            <a:pPr marL="457200" lvl="0" indent="-314325" algn="l" rtl="0">
              <a:spcBef>
                <a:spcPts val="0"/>
              </a:spcBef>
              <a:spcAft>
                <a:spcPts val="0"/>
              </a:spcAft>
              <a:buClr>
                <a:srgbClr val="1D1D1D"/>
              </a:buClr>
              <a:buSzPts val="1350"/>
              <a:buFont typeface="Raleway"/>
              <a:buChar char="●"/>
            </a:pPr>
            <a:r>
              <a:rPr lang="en" sz="1350" dirty="0">
                <a:solidFill>
                  <a:srgbClr val="1D1D1D"/>
                </a:solidFill>
                <a:highlight>
                  <a:srgbClr val="FFFFFF"/>
                </a:highlight>
                <a:latin typeface="Raleway"/>
                <a:ea typeface="Raleway"/>
                <a:cs typeface="Raleway"/>
                <a:sym typeface="Raleway"/>
              </a:rPr>
              <a:t>Visualizations</a:t>
            </a:r>
            <a:endParaRPr sz="1350" dirty="0">
              <a:solidFill>
                <a:srgbClr val="1D1D1D"/>
              </a:solidFill>
              <a:highlight>
                <a:srgbClr val="FFFFFF"/>
              </a:highlight>
              <a:latin typeface="Raleway"/>
              <a:ea typeface="Raleway"/>
              <a:cs typeface="Raleway"/>
              <a:sym typeface="Raleway"/>
            </a:endParaRPr>
          </a:p>
          <a:p>
            <a:pPr marL="457200" lvl="0" indent="-314325" algn="l" rtl="0">
              <a:spcBef>
                <a:spcPts val="0"/>
              </a:spcBef>
              <a:spcAft>
                <a:spcPts val="0"/>
              </a:spcAft>
              <a:buClr>
                <a:srgbClr val="1D1D1D"/>
              </a:buClr>
              <a:buSzPts val="1350"/>
              <a:buFont typeface="Raleway"/>
              <a:buChar char="●"/>
            </a:pPr>
            <a:r>
              <a:rPr lang="en" sz="1350" dirty="0">
                <a:solidFill>
                  <a:srgbClr val="1D1D1D"/>
                </a:solidFill>
                <a:highlight>
                  <a:srgbClr val="FFFFFF"/>
                </a:highlight>
                <a:latin typeface="Raleway"/>
                <a:ea typeface="Raleway"/>
                <a:cs typeface="Raleway"/>
                <a:sym typeface="Raleway"/>
              </a:rPr>
              <a:t>Mathematical equations</a:t>
            </a:r>
            <a:endParaRPr sz="1350" dirty="0">
              <a:solidFill>
                <a:srgbClr val="1D1D1D"/>
              </a:solidFill>
              <a:highlight>
                <a:srgbClr val="FFFFFF"/>
              </a:highlight>
              <a:latin typeface="Raleway"/>
              <a:ea typeface="Raleway"/>
              <a:cs typeface="Raleway"/>
              <a:sym typeface="Raleway"/>
            </a:endParaRPr>
          </a:p>
          <a:p>
            <a:pPr marL="457200" lvl="0" indent="-314325" algn="l" rtl="0">
              <a:spcBef>
                <a:spcPts val="0"/>
              </a:spcBef>
              <a:spcAft>
                <a:spcPts val="0"/>
              </a:spcAft>
              <a:buClr>
                <a:srgbClr val="1D1D1D"/>
              </a:buClr>
              <a:buSzPts val="1350"/>
              <a:buFont typeface="Raleway"/>
              <a:buChar char="●"/>
            </a:pPr>
            <a:r>
              <a:rPr lang="en" sz="1350" dirty="0">
                <a:solidFill>
                  <a:srgbClr val="1D1D1D"/>
                </a:solidFill>
                <a:highlight>
                  <a:srgbClr val="FFFFFF"/>
                </a:highlight>
                <a:latin typeface="Raleway"/>
                <a:ea typeface="Raleway"/>
                <a:cs typeface="Raleway"/>
                <a:sym typeface="Raleway"/>
              </a:rPr>
              <a:t>Statistical modeling</a:t>
            </a:r>
            <a:endParaRPr sz="1350" dirty="0">
              <a:solidFill>
                <a:srgbClr val="1D1D1D"/>
              </a:solidFill>
              <a:highlight>
                <a:srgbClr val="FFFFFF"/>
              </a:highlight>
              <a:latin typeface="Raleway"/>
              <a:ea typeface="Raleway"/>
              <a:cs typeface="Raleway"/>
              <a:sym typeface="Raleway"/>
            </a:endParaRPr>
          </a:p>
          <a:p>
            <a:pPr marL="457200" lvl="0" indent="-314325" algn="l" rtl="0">
              <a:spcBef>
                <a:spcPts val="0"/>
              </a:spcBef>
              <a:spcAft>
                <a:spcPts val="0"/>
              </a:spcAft>
              <a:buClr>
                <a:srgbClr val="1D1D1D"/>
              </a:buClr>
              <a:buSzPts val="1350"/>
              <a:buFont typeface="Raleway"/>
              <a:buChar char="●"/>
            </a:pPr>
            <a:r>
              <a:rPr lang="en" sz="1350" dirty="0">
                <a:solidFill>
                  <a:srgbClr val="1D1D1D"/>
                </a:solidFill>
                <a:highlight>
                  <a:srgbClr val="FFFFFF"/>
                </a:highlight>
                <a:latin typeface="Raleway"/>
                <a:ea typeface="Raleway"/>
                <a:cs typeface="Raleway"/>
                <a:sym typeface="Raleway"/>
              </a:rPr>
              <a:t>Narrative text</a:t>
            </a:r>
            <a:endParaRPr sz="1350" dirty="0">
              <a:solidFill>
                <a:srgbClr val="1D1D1D"/>
              </a:solidFill>
              <a:highlight>
                <a:srgbClr val="FFFFFF"/>
              </a:highlight>
              <a:latin typeface="Raleway"/>
              <a:ea typeface="Raleway"/>
              <a:cs typeface="Raleway"/>
              <a:sym typeface="Raleway"/>
            </a:endParaRPr>
          </a:p>
          <a:p>
            <a:pPr marL="457200" lvl="0" indent="-314325" algn="l" rtl="0">
              <a:spcBef>
                <a:spcPts val="0"/>
              </a:spcBef>
              <a:spcAft>
                <a:spcPts val="0"/>
              </a:spcAft>
              <a:buClr>
                <a:srgbClr val="1D1D1D"/>
              </a:buClr>
              <a:buSzPts val="1350"/>
              <a:buFont typeface="Raleway"/>
              <a:buChar char="●"/>
            </a:pPr>
            <a:r>
              <a:rPr lang="en" sz="1350" dirty="0">
                <a:solidFill>
                  <a:srgbClr val="1D1D1D"/>
                </a:solidFill>
                <a:highlight>
                  <a:srgbClr val="FFFFFF"/>
                </a:highlight>
                <a:latin typeface="Raleway"/>
                <a:ea typeface="Raleway"/>
                <a:cs typeface="Raleway"/>
                <a:sym typeface="Raleway"/>
              </a:rPr>
              <a:t>Any other rich media</a:t>
            </a:r>
            <a:endParaRPr sz="1350" dirty="0">
              <a:solidFill>
                <a:srgbClr val="1D1D1D"/>
              </a:solidFill>
              <a:highlight>
                <a:srgbClr val="FFFFFF"/>
              </a:highlight>
              <a:latin typeface="Raleway"/>
              <a:ea typeface="Raleway"/>
              <a:cs typeface="Raleway"/>
              <a:sym typeface="Raleway"/>
            </a:endParaRPr>
          </a:p>
          <a:p>
            <a:pPr marL="0" lvl="0" indent="0" algn="l" rtl="0">
              <a:spcBef>
                <a:spcPts val="4600"/>
              </a:spcBef>
              <a:spcAft>
                <a:spcPts val="4600"/>
              </a:spcAft>
              <a:buNone/>
            </a:pPr>
            <a:r>
              <a:rPr lang="en" sz="1350" dirty="0">
                <a:solidFill>
                  <a:srgbClr val="1D1D1D"/>
                </a:solidFill>
                <a:highlight>
                  <a:srgbClr val="FFFFFF"/>
                </a:highlight>
                <a:latin typeface="Raleway"/>
                <a:ea typeface="Raleway"/>
                <a:cs typeface="Raleway"/>
                <a:sym typeface="Raleway"/>
              </a:rPr>
              <a:t>Tutorial: </a:t>
            </a:r>
            <a:r>
              <a:rPr lang="en" sz="1350" u="sng" dirty="0">
                <a:solidFill>
                  <a:schemeClr val="hlink"/>
                </a:solidFill>
                <a:highlight>
                  <a:srgbClr val="FFFFFF"/>
                </a:highlight>
                <a:latin typeface="Raleway"/>
                <a:ea typeface="Raleway"/>
                <a:cs typeface="Raleway"/>
                <a:sym typeface="Raleway"/>
                <a:hlinkClick r:id="rId4"/>
              </a:rPr>
              <a:t>Introduction to Jupyter Notebook</a:t>
            </a:r>
            <a:endParaRPr sz="1350" dirty="0">
              <a:solidFill>
                <a:srgbClr val="1D1D1D"/>
              </a:solidFill>
              <a:highlight>
                <a:srgbClr val="FFFFFF"/>
              </a:highlight>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45"/>
          <p:cNvPicPr preferRelativeResize="0"/>
          <p:nvPr/>
        </p:nvPicPr>
        <p:blipFill>
          <a:blip r:embed="rId3">
            <a:alphaModFix/>
          </a:blip>
          <a:stretch>
            <a:fillRect/>
          </a:stretch>
        </p:blipFill>
        <p:spPr>
          <a:xfrm>
            <a:off x="481275" y="1897600"/>
            <a:ext cx="7754527" cy="2192326"/>
          </a:xfrm>
          <a:prstGeom prst="rect">
            <a:avLst/>
          </a:prstGeom>
          <a:noFill/>
          <a:ln>
            <a:noFill/>
          </a:ln>
        </p:spPr>
      </p:pic>
      <p:sp>
        <p:nvSpPr>
          <p:cNvPr id="259" name="Google Shape;259;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b="1">
                <a:latin typeface="Raleway"/>
                <a:ea typeface="Raleway"/>
                <a:cs typeface="Raleway"/>
                <a:sym typeface="Raleway"/>
              </a:rPr>
              <a:t>Logging into DataHub and Accessing Jupyter Notebooks</a:t>
            </a:r>
            <a:endParaRPr sz="2400" b="1">
              <a:latin typeface="Raleway"/>
              <a:ea typeface="Raleway"/>
              <a:cs typeface="Raleway"/>
              <a:sym typeface="Raleway"/>
            </a:endParaRPr>
          </a:p>
        </p:txBody>
      </p:sp>
      <p:sp>
        <p:nvSpPr>
          <p:cNvPr id="260" name="Google Shape;260;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Font typeface="+mj-lt"/>
              <a:buAutoNum type="arabicPeriod"/>
            </a:pPr>
            <a:r>
              <a:rPr lang="en">
                <a:solidFill>
                  <a:srgbClr val="000000"/>
                </a:solidFill>
                <a:latin typeface="Raleway"/>
                <a:ea typeface="Raleway"/>
                <a:cs typeface="Raleway"/>
                <a:sym typeface="Raleway"/>
              </a:rPr>
              <a:t>Go to </a:t>
            </a:r>
            <a:r>
              <a:rPr lang="en" u="sng">
                <a:solidFill>
                  <a:srgbClr val="0000FF"/>
                </a:solidFill>
                <a:latin typeface="Raleway"/>
                <a:ea typeface="Raleway"/>
                <a:cs typeface="Raleway"/>
                <a:sym typeface="Raleway"/>
                <a:hlinkClick r:id="rId4">
                  <a:extLst>
                    <a:ext uri="{A12FA001-AC4F-418D-AE19-62706E023703}">
                      <ahyp:hlinkClr xmlns:ahyp="http://schemas.microsoft.com/office/drawing/2018/hyperlinkcolor" val="tx"/>
                    </a:ext>
                  </a:extLst>
                </a:hlinkClick>
              </a:rPr>
              <a:t>https://datahub.ucsd.edu/</a:t>
            </a:r>
            <a:r>
              <a:rPr lang="en">
                <a:solidFill>
                  <a:srgbClr val="0000FF"/>
                </a:solidFill>
                <a:latin typeface="Raleway"/>
                <a:ea typeface="Raleway"/>
                <a:cs typeface="Raleway"/>
                <a:sym typeface="Raleway"/>
              </a:rPr>
              <a:t> </a:t>
            </a:r>
            <a:endParaRPr>
              <a:solidFill>
                <a:srgbClr val="0000FF"/>
              </a:solidFill>
              <a:latin typeface="Raleway"/>
              <a:ea typeface="Raleway"/>
              <a:cs typeface="Raleway"/>
              <a:sym typeface="Raleway"/>
            </a:endParaRPr>
          </a:p>
          <a:p>
            <a:pPr marL="457200" lvl="0" indent="-342900" algn="l" rtl="0">
              <a:spcBef>
                <a:spcPts val="0"/>
              </a:spcBef>
              <a:spcAft>
                <a:spcPts val="0"/>
              </a:spcAft>
              <a:buClr>
                <a:srgbClr val="000000"/>
              </a:buClr>
              <a:buSzPts val="1800"/>
              <a:buFont typeface="Raleway"/>
              <a:buAutoNum type="arabicPeriod"/>
            </a:pPr>
            <a:r>
              <a:rPr lang="en">
                <a:solidFill>
                  <a:srgbClr val="000000"/>
                </a:solidFill>
                <a:latin typeface="Raleway"/>
                <a:ea typeface="Raleway"/>
                <a:cs typeface="Raleway"/>
                <a:sym typeface="Raleway"/>
              </a:rPr>
              <a:t>Click “Log in”. This should take you to the google sign-in page</a:t>
            </a:r>
            <a:endParaRPr>
              <a:solidFill>
                <a:srgbClr val="000000"/>
              </a:solidFill>
              <a:latin typeface="Raleway"/>
              <a:ea typeface="Raleway"/>
              <a:cs typeface="Raleway"/>
              <a:sym typeface="Raleway"/>
            </a:endParaRPr>
          </a:p>
        </p:txBody>
      </p:sp>
      <p:cxnSp>
        <p:nvCxnSpPr>
          <p:cNvPr id="261" name="Google Shape;261;p45"/>
          <p:cNvCxnSpPr/>
          <p:nvPr/>
        </p:nvCxnSpPr>
        <p:spPr>
          <a:xfrm rot="10800000">
            <a:off x="6907175" y="3666175"/>
            <a:ext cx="703500" cy="913200"/>
          </a:xfrm>
          <a:prstGeom prst="straightConnector1">
            <a:avLst/>
          </a:prstGeom>
          <a:noFill/>
          <a:ln w="28575" cap="flat" cmpd="sng">
            <a:solidFill>
              <a:srgbClr val="FF0000"/>
            </a:solidFill>
            <a:prstDash val="solid"/>
            <a:round/>
            <a:headEnd type="none" w="med" len="me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6"/>
          <p:cNvSpPr txBox="1">
            <a:spLocks noGrp="1"/>
          </p:cNvSpPr>
          <p:nvPr>
            <p:ph type="body" idx="1"/>
          </p:nvPr>
        </p:nvSpPr>
        <p:spPr>
          <a:xfrm>
            <a:off x="311700" y="377900"/>
            <a:ext cx="8520600" cy="419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latin typeface="Raleway"/>
                <a:ea typeface="Raleway"/>
                <a:cs typeface="Raleway"/>
                <a:sym typeface="Raleway"/>
              </a:rPr>
              <a:t>3. Sign in using your @</a:t>
            </a:r>
            <a:r>
              <a:rPr lang="en" err="1">
                <a:solidFill>
                  <a:srgbClr val="000000"/>
                </a:solidFill>
                <a:latin typeface="Raleway"/>
                <a:ea typeface="Raleway"/>
                <a:cs typeface="Raleway"/>
                <a:sym typeface="Raleway"/>
              </a:rPr>
              <a:t>ucsd.edu</a:t>
            </a:r>
            <a:r>
              <a:rPr lang="en">
                <a:solidFill>
                  <a:srgbClr val="000000"/>
                </a:solidFill>
                <a:latin typeface="Raleway"/>
                <a:ea typeface="Raleway"/>
                <a:cs typeface="Raleway"/>
                <a:sym typeface="Raleway"/>
              </a:rPr>
              <a:t> email. This will take you to the SSO page where you will have to type in your username and password and authenticate using Duo</a:t>
            </a:r>
            <a:endParaRPr>
              <a:solidFill>
                <a:srgbClr val="000000"/>
              </a:solidFill>
              <a:latin typeface="Raleway"/>
              <a:ea typeface="Raleway"/>
              <a:cs typeface="Raleway"/>
              <a:sym typeface="Raleway"/>
            </a:endParaRPr>
          </a:p>
          <a:p>
            <a:pPr marL="0" lvl="0" indent="0" algn="l" rtl="0">
              <a:spcBef>
                <a:spcPts val="1600"/>
              </a:spcBef>
              <a:spcAft>
                <a:spcPts val="1600"/>
              </a:spcAft>
              <a:buNone/>
            </a:pPr>
            <a:endParaRPr>
              <a:solidFill>
                <a:srgbClr val="000000"/>
              </a:solidFill>
              <a:latin typeface="Raleway"/>
              <a:ea typeface="Raleway"/>
              <a:cs typeface="Raleway"/>
              <a:sym typeface="Raleway"/>
            </a:endParaRPr>
          </a:p>
        </p:txBody>
      </p:sp>
      <p:pic>
        <p:nvPicPr>
          <p:cNvPr id="267" name="Google Shape;267;p46"/>
          <p:cNvPicPr preferRelativeResize="0"/>
          <p:nvPr/>
        </p:nvPicPr>
        <p:blipFill>
          <a:blip r:embed="rId3">
            <a:alphaModFix/>
          </a:blip>
          <a:stretch>
            <a:fillRect/>
          </a:stretch>
        </p:blipFill>
        <p:spPr>
          <a:xfrm>
            <a:off x="2840625" y="1275400"/>
            <a:ext cx="3017159" cy="3555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 name="Picture 1">
            <a:extLst>
              <a:ext uri="{FF2B5EF4-FFF2-40B4-BE49-F238E27FC236}">
                <a16:creationId xmlns:a16="http://schemas.microsoft.com/office/drawing/2014/main" id="{4AFED495-A024-0417-1E2C-DFFB1DCECF71}"/>
              </a:ext>
            </a:extLst>
          </p:cNvPr>
          <p:cNvPicPr>
            <a:picLocks noChangeAspect="1"/>
          </p:cNvPicPr>
          <p:nvPr/>
        </p:nvPicPr>
        <p:blipFill>
          <a:blip r:embed="rId3"/>
          <a:stretch>
            <a:fillRect/>
          </a:stretch>
        </p:blipFill>
        <p:spPr>
          <a:xfrm>
            <a:off x="1547990" y="1721140"/>
            <a:ext cx="6173624" cy="725242"/>
          </a:xfrm>
          <a:prstGeom prst="rect">
            <a:avLst/>
          </a:prstGeom>
        </p:spPr>
      </p:pic>
      <p:pic>
        <p:nvPicPr>
          <p:cNvPr id="273" name="Google Shape;273;p47"/>
          <p:cNvPicPr preferRelativeResize="0">
            <a:picLocks noChangeAspect="1"/>
          </p:cNvPicPr>
          <p:nvPr/>
        </p:nvPicPr>
        <p:blipFill rotWithShape="1">
          <a:blip r:embed="rId4">
            <a:alphaModFix/>
          </a:blip>
          <a:srcRect t="81810"/>
          <a:stretch/>
        </p:blipFill>
        <p:spPr>
          <a:xfrm>
            <a:off x="1522896" y="2452570"/>
            <a:ext cx="6190286" cy="425435"/>
          </a:xfrm>
          <a:prstGeom prst="rect">
            <a:avLst/>
          </a:prstGeom>
          <a:noFill/>
          <a:ln>
            <a:noFill/>
          </a:ln>
        </p:spPr>
      </p:pic>
      <p:sp>
        <p:nvSpPr>
          <p:cNvPr id="274" name="Google Shape;274;p47"/>
          <p:cNvSpPr txBox="1">
            <a:spLocks noGrp="1"/>
          </p:cNvSpPr>
          <p:nvPr>
            <p:ph type="body" idx="1"/>
          </p:nvPr>
        </p:nvSpPr>
        <p:spPr>
          <a:xfrm>
            <a:off x="311700" y="128700"/>
            <a:ext cx="8520600" cy="1162575"/>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dirty="0">
                <a:solidFill>
                  <a:schemeClr val="dk1"/>
                </a:solidFill>
                <a:latin typeface="Raleway"/>
                <a:ea typeface="Raleway"/>
                <a:cs typeface="Raleway"/>
                <a:sym typeface="Raleway"/>
              </a:rPr>
              <a:t>4. Now you should see a page that looks like this. </a:t>
            </a:r>
            <a:endParaRPr dirty="0">
              <a:solidFill>
                <a:schemeClr val="dk1"/>
              </a:solidFill>
              <a:latin typeface="Raleway"/>
              <a:ea typeface="Raleway"/>
              <a:cs typeface="Raleway"/>
              <a:sym typeface="Raleway"/>
            </a:endParaRPr>
          </a:p>
          <a:p>
            <a:pPr marL="0" lvl="0" indent="0" algn="l" rtl="0">
              <a:lnSpc>
                <a:spcPct val="100000"/>
              </a:lnSpc>
              <a:spcBef>
                <a:spcPts val="1600"/>
              </a:spcBef>
              <a:spcAft>
                <a:spcPts val="0"/>
              </a:spcAft>
              <a:buNone/>
            </a:pPr>
            <a:r>
              <a:rPr lang="en" dirty="0">
                <a:solidFill>
                  <a:schemeClr val="dk1"/>
                </a:solidFill>
                <a:latin typeface="Raleway"/>
                <a:ea typeface="Raleway"/>
                <a:cs typeface="Raleway"/>
                <a:sym typeface="Raleway"/>
              </a:rPr>
              <a:t>Select </a:t>
            </a:r>
            <a:r>
              <a:rPr lang="en" b="1" dirty="0">
                <a:solidFill>
                  <a:schemeClr val="dk1"/>
                </a:solidFill>
                <a:latin typeface="Raleway"/>
                <a:ea typeface="Raleway"/>
                <a:cs typeface="Raleway"/>
                <a:sym typeface="Raleway"/>
              </a:rPr>
              <a:t>BNFO 262 </a:t>
            </a:r>
            <a:r>
              <a:rPr lang="en" dirty="0" err="1">
                <a:solidFill>
                  <a:schemeClr val="dk1"/>
                </a:solidFill>
                <a:latin typeface="Raleway"/>
                <a:ea typeface="Raleway"/>
                <a:cs typeface="Raleway"/>
                <a:sym typeface="Raleway"/>
              </a:rPr>
              <a:t>ghcr.io</a:t>
            </a:r>
            <a:r>
              <a:rPr lang="en" dirty="0">
                <a:solidFill>
                  <a:schemeClr val="dk1"/>
                </a:solidFill>
                <a:latin typeface="Raleway"/>
                <a:ea typeface="Raleway"/>
                <a:cs typeface="Raleway"/>
                <a:sym typeface="Raleway"/>
              </a:rPr>
              <a:t>/biom262/cmm262-notebook:</a:t>
            </a:r>
            <a:r>
              <a:rPr lang="en" b="1" dirty="0">
                <a:solidFill>
                  <a:schemeClr val="dk1"/>
                </a:solidFill>
                <a:latin typeface="Raleway"/>
                <a:ea typeface="Raleway"/>
                <a:cs typeface="Raleway"/>
                <a:sym typeface="Raleway"/>
              </a:rPr>
              <a:t>programming-R </a:t>
            </a:r>
            <a:r>
              <a:rPr lang="en" dirty="0">
                <a:solidFill>
                  <a:schemeClr val="dk1"/>
                </a:solidFill>
                <a:latin typeface="Raleway"/>
                <a:ea typeface="Raleway"/>
                <a:cs typeface="Raleway"/>
                <a:sym typeface="Raleway"/>
              </a:rPr>
              <a:t>and click “Launch Environment”</a:t>
            </a:r>
            <a:endParaRPr dirty="0">
              <a:solidFill>
                <a:schemeClr val="dk1"/>
              </a:solidFill>
              <a:latin typeface="Raleway"/>
              <a:ea typeface="Raleway"/>
              <a:cs typeface="Raleway"/>
              <a:sym typeface="Raleway"/>
            </a:endParaRPr>
          </a:p>
        </p:txBody>
      </p:sp>
      <p:pic>
        <p:nvPicPr>
          <p:cNvPr id="275" name="Google Shape;275;p47"/>
          <p:cNvPicPr preferRelativeResize="0"/>
          <p:nvPr/>
        </p:nvPicPr>
        <p:blipFill rotWithShape="1">
          <a:blip r:embed="rId4">
            <a:alphaModFix/>
          </a:blip>
          <a:srcRect b="81810"/>
          <a:stretch/>
        </p:blipFill>
        <p:spPr>
          <a:xfrm>
            <a:off x="1848773" y="1274188"/>
            <a:ext cx="5328024" cy="366175"/>
          </a:xfrm>
          <a:prstGeom prst="rect">
            <a:avLst/>
          </a:prstGeom>
          <a:noFill/>
          <a:ln>
            <a:noFill/>
          </a:ln>
        </p:spPr>
      </p:pic>
      <p:cxnSp>
        <p:nvCxnSpPr>
          <p:cNvPr id="276" name="Google Shape;276;p47"/>
          <p:cNvCxnSpPr/>
          <p:nvPr/>
        </p:nvCxnSpPr>
        <p:spPr>
          <a:xfrm rot="10800000">
            <a:off x="6583819" y="2692631"/>
            <a:ext cx="1501200" cy="10500"/>
          </a:xfrm>
          <a:prstGeom prst="straightConnector1">
            <a:avLst/>
          </a:prstGeom>
          <a:noFill/>
          <a:ln w="28575" cap="flat" cmpd="sng">
            <a:solidFill>
              <a:srgbClr val="FF0000"/>
            </a:solidFill>
            <a:prstDash val="solid"/>
            <a:round/>
            <a:headEnd type="none" w="med" len="med"/>
            <a:tailEnd type="triangle" w="med" len="med"/>
          </a:ln>
        </p:spPr>
      </p:cxnSp>
      <p:sp>
        <p:nvSpPr>
          <p:cNvPr id="277" name="Google Shape;277;p47"/>
          <p:cNvSpPr txBox="1"/>
          <p:nvPr/>
        </p:nvSpPr>
        <p:spPr>
          <a:xfrm>
            <a:off x="8085019" y="1851354"/>
            <a:ext cx="682200" cy="40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900" b="1"/>
              <a:t>① </a:t>
            </a:r>
            <a:endParaRPr sz="1900"/>
          </a:p>
        </p:txBody>
      </p:sp>
      <p:sp>
        <p:nvSpPr>
          <p:cNvPr id="278" name="Google Shape;278;p47"/>
          <p:cNvSpPr txBox="1"/>
          <p:nvPr/>
        </p:nvSpPr>
        <p:spPr>
          <a:xfrm>
            <a:off x="8085019" y="2497498"/>
            <a:ext cx="682200" cy="40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900" b="1" dirty="0"/>
              <a:t>②  </a:t>
            </a:r>
            <a:endParaRPr sz="1900" dirty="0"/>
          </a:p>
        </p:txBody>
      </p:sp>
      <p:cxnSp>
        <p:nvCxnSpPr>
          <p:cNvPr id="279" name="Google Shape;279;p47"/>
          <p:cNvCxnSpPr/>
          <p:nvPr/>
        </p:nvCxnSpPr>
        <p:spPr>
          <a:xfrm rot="10800000">
            <a:off x="6583819" y="2081379"/>
            <a:ext cx="1501200" cy="10500"/>
          </a:xfrm>
          <a:prstGeom prst="straightConnector1">
            <a:avLst/>
          </a:prstGeom>
          <a:noFill/>
          <a:ln w="28575" cap="flat" cmpd="sng">
            <a:solidFill>
              <a:srgbClr val="FF0000"/>
            </a:solidFill>
            <a:prstDash val="solid"/>
            <a:round/>
            <a:headEnd type="none" w="med" len="med"/>
            <a:tailEnd type="triangle" w="med" len="med"/>
          </a:ln>
        </p:spPr>
      </p:cxnSp>
      <p:pic>
        <p:nvPicPr>
          <p:cNvPr id="280" name="Google Shape;280;p47"/>
          <p:cNvPicPr preferRelativeResize="0"/>
          <p:nvPr/>
        </p:nvPicPr>
        <p:blipFill>
          <a:blip r:embed="rId5">
            <a:alphaModFix/>
          </a:blip>
          <a:stretch>
            <a:fillRect/>
          </a:stretch>
        </p:blipFill>
        <p:spPr>
          <a:xfrm>
            <a:off x="950338" y="3303015"/>
            <a:ext cx="7243324" cy="1586700"/>
          </a:xfrm>
          <a:prstGeom prst="rect">
            <a:avLst/>
          </a:prstGeom>
          <a:noFill/>
          <a:ln w="9525" cap="flat" cmpd="sng">
            <a:solidFill>
              <a:schemeClr val="dk2"/>
            </a:solidFill>
            <a:prstDash val="solid"/>
            <a:round/>
            <a:headEnd type="none" w="sm" len="sm"/>
            <a:tailEnd type="none" w="sm" len="sm"/>
          </a:ln>
        </p:spPr>
      </p:pic>
      <p:sp>
        <p:nvSpPr>
          <p:cNvPr id="281" name="Google Shape;281;p47"/>
          <p:cNvSpPr/>
          <p:nvPr/>
        </p:nvSpPr>
        <p:spPr>
          <a:xfrm>
            <a:off x="4069945" y="2056104"/>
            <a:ext cx="886615" cy="236361"/>
          </a:xfrm>
          <a:prstGeom prst="rect">
            <a:avLst/>
          </a:prstGeom>
          <a:solidFill>
            <a:srgbClr val="FFFF00">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TextBox 2">
            <a:extLst>
              <a:ext uri="{FF2B5EF4-FFF2-40B4-BE49-F238E27FC236}">
                <a16:creationId xmlns:a16="http://schemas.microsoft.com/office/drawing/2014/main" id="{613D9D76-2215-1ED8-9495-DF726EB7FE76}"/>
              </a:ext>
            </a:extLst>
          </p:cNvPr>
          <p:cNvSpPr txBox="1"/>
          <p:nvPr/>
        </p:nvSpPr>
        <p:spPr>
          <a:xfrm>
            <a:off x="311700" y="2943192"/>
            <a:ext cx="5328024" cy="369332"/>
          </a:xfrm>
          <a:prstGeom prst="rect">
            <a:avLst/>
          </a:prstGeom>
          <a:noFill/>
        </p:spPr>
        <p:txBody>
          <a:bodyPr wrap="square">
            <a:spAutoFit/>
          </a:bodyPr>
          <a:lstStyle/>
          <a:p>
            <a:pPr marL="0" lvl="0" indent="0" algn="l" rtl="0">
              <a:lnSpc>
                <a:spcPct val="100000"/>
              </a:lnSpc>
              <a:spcBef>
                <a:spcPts val="1600"/>
              </a:spcBef>
              <a:spcAft>
                <a:spcPts val="0"/>
              </a:spcAft>
              <a:buClr>
                <a:schemeClr val="dk1"/>
              </a:buClr>
              <a:buSzPts val="1100"/>
              <a:buFont typeface="Arial"/>
              <a:buNone/>
            </a:pPr>
            <a:r>
              <a:rPr lang="en-US" sz="1800" dirty="0">
                <a:solidFill>
                  <a:schemeClr val="dk1"/>
                </a:solidFill>
                <a:latin typeface="Raleway"/>
                <a:ea typeface="Raleway"/>
                <a:cs typeface="Raleway"/>
                <a:sym typeface="Raleway"/>
              </a:rPr>
              <a:t>Your screen should look something like this: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8"/>
          <p:cNvSpPr txBox="1">
            <a:spLocks noGrp="1"/>
          </p:cNvSpPr>
          <p:nvPr>
            <p:ph type="body" idx="1"/>
          </p:nvPr>
        </p:nvSpPr>
        <p:spPr>
          <a:xfrm>
            <a:off x="311700" y="251925"/>
            <a:ext cx="8520600" cy="423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latin typeface="Raleway"/>
                <a:ea typeface="Raleway"/>
                <a:cs typeface="Raleway"/>
                <a:sym typeface="Raleway"/>
              </a:rPr>
              <a:t>5. Open a new terminal window by going to File &gt; New &gt; Terminal</a:t>
            </a:r>
            <a:endParaRPr>
              <a:solidFill>
                <a:srgbClr val="000000"/>
              </a:solidFill>
              <a:latin typeface="Raleway"/>
              <a:ea typeface="Raleway"/>
              <a:cs typeface="Raleway"/>
              <a:sym typeface="Raleway"/>
            </a:endParaRPr>
          </a:p>
        </p:txBody>
      </p:sp>
      <p:pic>
        <p:nvPicPr>
          <p:cNvPr id="287" name="Google Shape;287;p48"/>
          <p:cNvPicPr preferRelativeResize="0"/>
          <p:nvPr/>
        </p:nvPicPr>
        <p:blipFill>
          <a:blip r:embed="rId3">
            <a:alphaModFix/>
          </a:blip>
          <a:stretch>
            <a:fillRect/>
          </a:stretch>
        </p:blipFill>
        <p:spPr>
          <a:xfrm>
            <a:off x="2518375" y="1440925"/>
            <a:ext cx="4107247" cy="3007425"/>
          </a:xfrm>
          <a:prstGeom prst="rect">
            <a:avLst/>
          </a:prstGeom>
          <a:noFill/>
          <a:ln>
            <a:noFill/>
          </a:ln>
        </p:spPr>
      </p:pic>
      <p:cxnSp>
        <p:nvCxnSpPr>
          <p:cNvPr id="288" name="Google Shape;288;p48"/>
          <p:cNvCxnSpPr/>
          <p:nvPr/>
        </p:nvCxnSpPr>
        <p:spPr>
          <a:xfrm flipH="1">
            <a:off x="6038250" y="1190300"/>
            <a:ext cx="2120100" cy="938400"/>
          </a:xfrm>
          <a:prstGeom prst="straightConnector1">
            <a:avLst/>
          </a:prstGeom>
          <a:noFill/>
          <a:ln w="28575" cap="flat" cmpd="sng">
            <a:solidFill>
              <a:srgbClr val="FF0000"/>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9"/>
          <p:cNvSpPr txBox="1">
            <a:spLocks noGrp="1"/>
          </p:cNvSpPr>
          <p:nvPr>
            <p:ph type="body" idx="1"/>
          </p:nvPr>
        </p:nvSpPr>
        <p:spPr>
          <a:xfrm>
            <a:off x="311700" y="251925"/>
            <a:ext cx="8520600" cy="4734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latin typeface="Raleway"/>
                <a:ea typeface="Raleway"/>
                <a:cs typeface="Raleway"/>
                <a:sym typeface="Raleway"/>
              </a:rPr>
              <a:t>6. Your screen should look like this</a:t>
            </a:r>
            <a:endParaRPr>
              <a:solidFill>
                <a:srgbClr val="000000"/>
              </a:solidFill>
              <a:latin typeface="Raleway"/>
              <a:ea typeface="Raleway"/>
              <a:cs typeface="Raleway"/>
              <a:sym typeface="Raleway"/>
            </a:endParaRPr>
          </a:p>
        </p:txBody>
      </p:sp>
      <p:pic>
        <p:nvPicPr>
          <p:cNvPr id="2" name="Picture 1" descr="A screenshot of a computer&#10;&#10;Description automatically generated">
            <a:extLst>
              <a:ext uri="{FF2B5EF4-FFF2-40B4-BE49-F238E27FC236}">
                <a16:creationId xmlns:a16="http://schemas.microsoft.com/office/drawing/2014/main" id="{87FBBEB9-EEA8-E9F1-E680-D4E1F0BC96C7}"/>
              </a:ext>
            </a:extLst>
          </p:cNvPr>
          <p:cNvPicPr>
            <a:picLocks noChangeAspect="1"/>
          </p:cNvPicPr>
          <p:nvPr/>
        </p:nvPicPr>
        <p:blipFill>
          <a:blip r:embed="rId3"/>
          <a:stretch>
            <a:fillRect/>
          </a:stretch>
        </p:blipFill>
        <p:spPr>
          <a:xfrm>
            <a:off x="747346" y="1074867"/>
            <a:ext cx="7652970" cy="33454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50"/>
          <p:cNvSpPr txBox="1">
            <a:spLocks noGrp="1"/>
          </p:cNvSpPr>
          <p:nvPr>
            <p:ph type="body" idx="1"/>
          </p:nvPr>
        </p:nvSpPr>
        <p:spPr>
          <a:xfrm>
            <a:off x="311700" y="94075"/>
            <a:ext cx="8520600" cy="315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latin typeface="Raleway"/>
                <a:ea typeface="Raleway"/>
                <a:cs typeface="Raleway"/>
                <a:sym typeface="Raleway"/>
              </a:rPr>
              <a:t>7. In your terminal window, type in </a:t>
            </a:r>
            <a:r>
              <a:rPr lang="en" err="1">
                <a:solidFill>
                  <a:srgbClr val="000000"/>
                </a:solidFill>
                <a:highlight>
                  <a:srgbClr val="EFEFEF"/>
                </a:highlight>
                <a:latin typeface="Courier New"/>
                <a:ea typeface="Courier New"/>
                <a:cs typeface="Courier New"/>
                <a:sym typeface="Courier New"/>
              </a:rPr>
              <a:t>pwd</a:t>
            </a:r>
            <a:r>
              <a:rPr lang="en">
                <a:solidFill>
                  <a:srgbClr val="000000"/>
                </a:solidFill>
                <a:latin typeface="Courier New"/>
                <a:ea typeface="Courier New"/>
                <a:cs typeface="Courier New"/>
                <a:sym typeface="Courier New"/>
              </a:rPr>
              <a:t>.</a:t>
            </a:r>
            <a:r>
              <a:rPr lang="en">
                <a:solidFill>
                  <a:srgbClr val="000000"/>
                </a:solidFill>
                <a:latin typeface="Raleway"/>
                <a:ea typeface="Raleway"/>
                <a:cs typeface="Raleway"/>
                <a:sym typeface="Raleway"/>
              </a:rPr>
              <a:t> The returned path should be:</a:t>
            </a:r>
            <a:endParaRPr>
              <a:solidFill>
                <a:srgbClr val="000000"/>
              </a:solidFill>
              <a:latin typeface="Raleway"/>
              <a:ea typeface="Raleway"/>
              <a:cs typeface="Raleway"/>
              <a:sym typeface="Raleway"/>
            </a:endParaRPr>
          </a:p>
          <a:p>
            <a:pPr marL="0" lvl="0" indent="0" algn="ctr" rtl="0">
              <a:spcBef>
                <a:spcPts val="1600"/>
              </a:spcBef>
              <a:spcAft>
                <a:spcPts val="0"/>
              </a:spcAft>
              <a:buNone/>
            </a:pPr>
            <a:r>
              <a:rPr lang="en">
                <a:solidFill>
                  <a:srgbClr val="000000"/>
                </a:solidFill>
                <a:latin typeface="Courier New"/>
                <a:ea typeface="Courier New"/>
                <a:cs typeface="Courier New"/>
                <a:sym typeface="Courier New"/>
              </a:rPr>
              <a:t>/home/&lt;your user ID&gt;</a:t>
            </a:r>
            <a:endParaRPr>
              <a:solidFill>
                <a:srgbClr val="000000"/>
              </a:solidFill>
              <a:latin typeface="Courier New"/>
              <a:ea typeface="Courier New"/>
              <a:cs typeface="Courier New"/>
              <a:sym typeface="Courier New"/>
            </a:endParaRPr>
          </a:p>
          <a:p>
            <a:pPr marL="0" lvl="0" indent="0" algn="l" rtl="0">
              <a:spcBef>
                <a:spcPts val="1600"/>
              </a:spcBef>
              <a:spcAft>
                <a:spcPts val="0"/>
              </a:spcAft>
              <a:buNone/>
            </a:pPr>
            <a:r>
              <a:rPr lang="en">
                <a:solidFill>
                  <a:srgbClr val="000000"/>
                </a:solidFill>
                <a:latin typeface="Raleway"/>
                <a:ea typeface="Raleway"/>
                <a:cs typeface="Raleway"/>
                <a:sym typeface="Raleway"/>
              </a:rPr>
              <a:t>8. Copy over the directory with all of the notebooks for module 1 using the following command:</a:t>
            </a:r>
            <a:endParaRPr>
              <a:solidFill>
                <a:srgbClr val="000000"/>
              </a:solidFill>
              <a:latin typeface="Raleway"/>
              <a:ea typeface="Raleway"/>
              <a:cs typeface="Raleway"/>
              <a:sym typeface="Raleway"/>
            </a:endParaRPr>
          </a:p>
          <a:p>
            <a:pPr marL="0" indent="0" algn="ctr">
              <a:lnSpc>
                <a:spcPct val="114999"/>
              </a:lnSpc>
              <a:spcBef>
                <a:spcPts val="1600"/>
              </a:spcBef>
              <a:buNone/>
            </a:pPr>
            <a:r>
              <a:rPr lang="en" sz="1400">
                <a:solidFill>
                  <a:srgbClr val="000000"/>
                </a:solidFill>
                <a:highlight>
                  <a:srgbClr val="EFEFEF"/>
                </a:highlight>
                <a:latin typeface="Courier New"/>
                <a:ea typeface="Raleway"/>
                <a:cs typeface="Courier New"/>
                <a:sym typeface="Raleway"/>
              </a:rPr>
              <a:t>cp -r </a:t>
            </a:r>
            <a:r>
              <a:rPr lang="en" sz="1400">
                <a:solidFill>
                  <a:srgbClr val="1D1C1D"/>
                </a:solidFill>
                <a:highlight>
                  <a:srgbClr val="EFEFEF"/>
                </a:highlight>
                <a:latin typeface="Courier New"/>
                <a:ea typeface="Raleway"/>
                <a:cs typeface="Courier New"/>
                <a:sym typeface="Raleway"/>
              </a:rPr>
              <a:t>public/bnfo262-2025/module-1-programming .</a:t>
            </a:r>
            <a:endParaRPr lang="en">
              <a:solidFill>
                <a:srgbClr val="000000"/>
              </a:solidFill>
              <a:latin typeface="Raleway"/>
              <a:ea typeface="Raleway"/>
              <a:cs typeface="Courier New"/>
              <a:sym typeface="Raleway"/>
            </a:endParaRPr>
          </a:p>
          <a:p>
            <a:pPr marL="0" indent="0" algn="ctr">
              <a:lnSpc>
                <a:spcPct val="114999"/>
              </a:lnSpc>
              <a:spcBef>
                <a:spcPts val="1600"/>
              </a:spcBef>
              <a:buNone/>
            </a:pPr>
            <a:r>
              <a:rPr lang="en">
                <a:solidFill>
                  <a:srgbClr val="000000"/>
                </a:solidFill>
                <a:latin typeface="Raleway"/>
                <a:ea typeface="Raleway"/>
                <a:cs typeface="Raleway"/>
                <a:sym typeface="Raleway"/>
              </a:rPr>
              <a:t>9. You should now see the module-1-programming directory on your </a:t>
            </a:r>
            <a:r>
              <a:rPr lang="en" err="1">
                <a:solidFill>
                  <a:srgbClr val="000000"/>
                </a:solidFill>
                <a:latin typeface="Raleway"/>
                <a:ea typeface="Raleway"/>
                <a:cs typeface="Raleway"/>
                <a:sym typeface="Raleway"/>
              </a:rPr>
              <a:t>jupyterhub</a:t>
            </a:r>
            <a:r>
              <a:rPr lang="en">
                <a:solidFill>
                  <a:srgbClr val="000000"/>
                </a:solidFill>
                <a:latin typeface="Raleway"/>
                <a:ea typeface="Raleway"/>
                <a:cs typeface="Raleway"/>
                <a:sym typeface="Raleway"/>
              </a:rPr>
              <a:t> homepage. (You might need to click the refresh button.)</a:t>
            </a:r>
            <a:endParaRPr>
              <a:solidFill>
                <a:srgbClr val="000000"/>
              </a:solidFill>
              <a:latin typeface="Raleway"/>
              <a:ea typeface="Raleway"/>
              <a:cs typeface="Raleway"/>
            </a:endParaRPr>
          </a:p>
        </p:txBody>
      </p:sp>
      <p:pic>
        <p:nvPicPr>
          <p:cNvPr id="300" name="Google Shape;300;p50"/>
          <p:cNvPicPr preferRelativeResize="0"/>
          <p:nvPr/>
        </p:nvPicPr>
        <p:blipFill>
          <a:blip r:embed="rId4">
            <a:alphaModFix/>
          </a:blip>
          <a:stretch>
            <a:fillRect/>
          </a:stretch>
        </p:blipFill>
        <p:spPr>
          <a:xfrm>
            <a:off x="2493100" y="3144049"/>
            <a:ext cx="4157800" cy="1867150"/>
          </a:xfrm>
          <a:prstGeom prst="rect">
            <a:avLst/>
          </a:prstGeom>
          <a:noFill/>
          <a:ln>
            <a:noFill/>
          </a:ln>
        </p:spPr>
      </p:pic>
      <p:cxnSp>
        <p:nvCxnSpPr>
          <p:cNvPr id="301" name="Google Shape;301;p50"/>
          <p:cNvCxnSpPr/>
          <p:nvPr/>
        </p:nvCxnSpPr>
        <p:spPr>
          <a:xfrm>
            <a:off x="983725" y="4019250"/>
            <a:ext cx="1790100" cy="397500"/>
          </a:xfrm>
          <a:prstGeom prst="straightConnector1">
            <a:avLst/>
          </a:prstGeom>
          <a:noFill/>
          <a:ln w="28575" cap="flat" cmpd="sng">
            <a:solidFill>
              <a:srgbClr val="FF0000"/>
            </a:solidFill>
            <a:prstDash val="solid"/>
            <a:round/>
            <a:headEnd type="none" w="med" len="med"/>
            <a:tailEnd type="triangle" w="med" len="med"/>
          </a:ln>
        </p:spPr>
      </p:cxnSp>
      <p:sp>
        <p:nvSpPr>
          <p:cNvPr id="302" name="Google Shape;302;p50"/>
          <p:cNvSpPr/>
          <p:nvPr/>
        </p:nvSpPr>
        <p:spPr>
          <a:xfrm>
            <a:off x="4019244" y="3382131"/>
            <a:ext cx="281100" cy="2622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p>
            <a:pPr marL="0" indent="0"/>
            <a:r>
              <a:rPr lang="en" sz="3000" b="1">
                <a:solidFill>
                  <a:srgbClr val="000000"/>
                </a:solidFill>
                <a:latin typeface="Raleway"/>
                <a:ea typeface="Raleway"/>
                <a:cs typeface="Raleway"/>
                <a:sym typeface="Raleway"/>
              </a:rPr>
              <a:t>DEMO: </a:t>
            </a:r>
            <a:r>
              <a:rPr lang="en" sz="3000" b="1" err="1">
                <a:solidFill>
                  <a:srgbClr val="000000"/>
                </a:solidFill>
                <a:latin typeface="Raleway"/>
                <a:ea typeface="Raleway"/>
                <a:cs typeface="Raleway"/>
                <a:sym typeface="Raleway"/>
              </a:rPr>
              <a:t>Jupyter</a:t>
            </a:r>
            <a:r>
              <a:rPr lang="en" sz="3000" b="1">
                <a:solidFill>
                  <a:srgbClr val="000000"/>
                </a:solidFill>
                <a:latin typeface="Raleway"/>
                <a:ea typeface="Raleway"/>
                <a:cs typeface="Raleway"/>
                <a:sym typeface="Raleway"/>
              </a:rPr>
              <a:t> Notebook</a:t>
            </a:r>
            <a:endParaRPr sz="3000" b="1">
              <a:solidFill>
                <a:srgbClr val="000000"/>
              </a:solidFill>
              <a:latin typeface="Raleway"/>
              <a:ea typeface="Raleway"/>
              <a:cs typeface="Raleway"/>
              <a:sym typeface="Raleway"/>
            </a:endParaRPr>
          </a:p>
        </p:txBody>
      </p:sp>
      <p:pic>
        <p:nvPicPr>
          <p:cNvPr id="3" name="Picture 2" descr="A screenshot of a computer program&#10;&#10;AI-generated content may be incorrect.">
            <a:extLst>
              <a:ext uri="{FF2B5EF4-FFF2-40B4-BE49-F238E27FC236}">
                <a16:creationId xmlns:a16="http://schemas.microsoft.com/office/drawing/2014/main" id="{E647E001-733E-285D-5352-370AF4BA7211}"/>
              </a:ext>
            </a:extLst>
          </p:cNvPr>
          <p:cNvPicPr>
            <a:picLocks noChangeAspect="1"/>
          </p:cNvPicPr>
          <p:nvPr/>
        </p:nvPicPr>
        <p:blipFill>
          <a:blip r:embed="rId3"/>
          <a:stretch>
            <a:fillRect/>
          </a:stretch>
        </p:blipFill>
        <p:spPr>
          <a:xfrm>
            <a:off x="2103287" y="856167"/>
            <a:ext cx="4476619" cy="3086100"/>
          </a:xfrm>
          <a:prstGeom prst="rect">
            <a:avLst/>
          </a:prstGeom>
        </p:spPr>
      </p:pic>
      <p:sp>
        <p:nvSpPr>
          <p:cNvPr id="386" name="Google Shape;386;p57"/>
          <p:cNvSpPr/>
          <p:nvPr/>
        </p:nvSpPr>
        <p:spPr>
          <a:xfrm>
            <a:off x="5111627" y="2849464"/>
            <a:ext cx="2251777" cy="351900"/>
          </a:xfrm>
          <a:prstGeom prst="leftArrow">
            <a:avLst>
              <a:gd name="adj1" fmla="val 50000"/>
              <a:gd name="adj2" fmla="val 50000"/>
            </a:avLst>
          </a:prstGeom>
          <a:solidFill>
            <a:srgbClr val="93C4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0706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EB8A96AF-447F-F786-52C2-4347BC308665}"/>
            </a:ext>
          </a:extLst>
        </p:cNvPr>
        <p:cNvGrpSpPr/>
        <p:nvPr/>
      </p:nvGrpSpPr>
      <p:grpSpPr>
        <a:xfrm>
          <a:off x="0" y="0"/>
          <a:ext cx="0" cy="0"/>
          <a:chOff x="0" y="0"/>
          <a:chExt cx="0" cy="0"/>
        </a:xfrm>
      </p:grpSpPr>
      <p:sp>
        <p:nvSpPr>
          <p:cNvPr id="200" name="Google Shape;200;p38">
            <a:extLst>
              <a:ext uri="{FF2B5EF4-FFF2-40B4-BE49-F238E27FC236}">
                <a16:creationId xmlns:a16="http://schemas.microsoft.com/office/drawing/2014/main" id="{21F6BF07-33AE-F539-7424-8218AE18C428}"/>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Raleway"/>
              <a:buChar char="●"/>
            </a:pPr>
            <a:r>
              <a:rPr lang="en" dirty="0">
                <a:solidFill>
                  <a:srgbClr val="999999"/>
                </a:solidFill>
                <a:latin typeface="Raleway"/>
                <a:sym typeface="Raleway"/>
              </a:rPr>
              <a:t>Basics of </a:t>
            </a:r>
            <a:r>
              <a:rPr lang="en" dirty="0" err="1">
                <a:solidFill>
                  <a:srgbClr val="999999"/>
                </a:solidFill>
                <a:latin typeface="Raleway"/>
                <a:sym typeface="Raleway"/>
              </a:rPr>
              <a:t>Jupyter</a:t>
            </a:r>
            <a:r>
              <a:rPr lang="en" dirty="0">
                <a:solidFill>
                  <a:srgbClr val="999999"/>
                </a:solidFill>
                <a:latin typeface="Raleway"/>
                <a:sym typeface="Raleway"/>
              </a:rPr>
              <a:t> Notebook</a:t>
            </a:r>
          </a:p>
          <a:p>
            <a:pPr marL="457200" lvl="0" indent="-342900" algn="l" rtl="0">
              <a:spcBef>
                <a:spcPts val="0"/>
              </a:spcBef>
              <a:spcAft>
                <a:spcPts val="0"/>
              </a:spcAft>
              <a:buClr>
                <a:schemeClr val="dk1"/>
              </a:buClr>
              <a:buSzPts val="1800"/>
              <a:buFont typeface="Raleway"/>
              <a:buChar char="●"/>
            </a:pPr>
            <a:r>
              <a:rPr lang="en" dirty="0">
                <a:solidFill>
                  <a:schemeClr val="tx1"/>
                </a:solidFill>
                <a:latin typeface="Raleway"/>
                <a:sym typeface="Raleway"/>
              </a:rPr>
              <a:t>Basics of Programming in Python</a:t>
            </a:r>
            <a:endParaRPr dirty="0">
              <a:solidFill>
                <a:schemeClr val="tx1"/>
              </a:solidFill>
              <a:latin typeface="Raleway"/>
              <a:sym typeface="Raleway"/>
            </a:endParaRPr>
          </a:p>
          <a:p>
            <a:pPr marL="914400" lvl="1" indent="-317500" algn="l" rtl="0">
              <a:spcBef>
                <a:spcPts val="0"/>
              </a:spcBef>
              <a:spcAft>
                <a:spcPts val="0"/>
              </a:spcAft>
              <a:buClr>
                <a:schemeClr val="dk1"/>
              </a:buClr>
              <a:buSzPts val="1400"/>
              <a:buFont typeface="Raleway"/>
              <a:buChar char="○"/>
            </a:pPr>
            <a:r>
              <a:rPr lang="en" dirty="0">
                <a:solidFill>
                  <a:schemeClr val="tx1"/>
                </a:solidFill>
                <a:latin typeface="Raleway"/>
                <a:sym typeface="Raleway"/>
              </a:rPr>
              <a:t>Fundamentals</a:t>
            </a:r>
            <a:endParaRPr dirty="0">
              <a:solidFill>
                <a:schemeClr val="tx1"/>
              </a:solidFill>
              <a:latin typeface="Raleway"/>
              <a:sym typeface="Raleway"/>
            </a:endParaRPr>
          </a:p>
          <a:p>
            <a:pPr marL="914400" lvl="1" indent="-317500" algn="l" rtl="0">
              <a:spcBef>
                <a:spcPts val="0"/>
              </a:spcBef>
              <a:spcAft>
                <a:spcPts val="0"/>
              </a:spcAft>
              <a:buClr>
                <a:schemeClr val="dk1"/>
              </a:buClr>
              <a:buSzPts val="1400"/>
              <a:buFont typeface="Raleway"/>
              <a:buChar char="○"/>
            </a:pPr>
            <a:r>
              <a:rPr lang="en" dirty="0">
                <a:solidFill>
                  <a:schemeClr val="tx1"/>
                </a:solidFill>
                <a:latin typeface="Raleway"/>
                <a:sym typeface="Raleway"/>
              </a:rPr>
              <a:t>Packages</a:t>
            </a:r>
            <a:endParaRPr dirty="0">
              <a:solidFill>
                <a:schemeClr val="tx1"/>
              </a:solidFill>
              <a:latin typeface="Raleway"/>
              <a:sym typeface="Raleway"/>
            </a:endParaRPr>
          </a:p>
          <a:p>
            <a:pPr marL="457200" lvl="0" indent="-342900" algn="l" rtl="0">
              <a:spcBef>
                <a:spcPts val="0"/>
              </a:spcBef>
              <a:spcAft>
                <a:spcPts val="0"/>
              </a:spcAft>
              <a:buClr>
                <a:srgbClr val="999999"/>
              </a:buClr>
              <a:buSzPts val="1800"/>
              <a:buFont typeface="Raleway"/>
              <a:buChar char="●"/>
            </a:pPr>
            <a:r>
              <a:rPr lang="en" dirty="0">
                <a:solidFill>
                  <a:srgbClr val="999999"/>
                </a:solidFill>
                <a:latin typeface="Raleway"/>
                <a:ea typeface="Raleway"/>
                <a:cs typeface="Raleway"/>
                <a:sym typeface="Raleway"/>
              </a:rPr>
              <a:t>Basics of Programming in R</a:t>
            </a:r>
          </a:p>
          <a:p>
            <a:pPr lvl="1" indent="-342900">
              <a:spcBef>
                <a:spcPts val="0"/>
              </a:spcBef>
              <a:buClr>
                <a:srgbClr val="999999"/>
              </a:buClr>
              <a:buSzPts val="1800"/>
              <a:buFont typeface="Raleway"/>
              <a:buChar char="●"/>
            </a:pPr>
            <a:r>
              <a:rPr lang="en" dirty="0">
                <a:solidFill>
                  <a:srgbClr val="999999"/>
                </a:solidFill>
                <a:latin typeface="Raleway"/>
                <a:ea typeface="Raleway"/>
                <a:cs typeface="Raleway"/>
                <a:sym typeface="Raleway"/>
              </a:rPr>
              <a:t>Fundamentals</a:t>
            </a:r>
          </a:p>
          <a:p>
            <a:pPr lvl="1" indent="-342900">
              <a:spcBef>
                <a:spcPts val="0"/>
              </a:spcBef>
              <a:buClr>
                <a:srgbClr val="999999"/>
              </a:buClr>
              <a:buSzPts val="1800"/>
              <a:buFont typeface="Raleway"/>
              <a:buChar char="●"/>
            </a:pPr>
            <a:r>
              <a:rPr lang="en" dirty="0">
                <a:solidFill>
                  <a:srgbClr val="999999"/>
                </a:solidFill>
                <a:latin typeface="Raleway"/>
                <a:ea typeface="Raleway"/>
                <a:cs typeface="Raleway"/>
                <a:sym typeface="Raleway"/>
              </a:rPr>
              <a:t>Packages</a:t>
            </a:r>
            <a:endParaRPr dirty="0">
              <a:solidFill>
                <a:srgbClr val="999999"/>
              </a:solidFill>
              <a:latin typeface="Raleway"/>
              <a:ea typeface="Raleway"/>
              <a:cs typeface="Raleway"/>
              <a:sym typeface="Raleway"/>
            </a:endParaRPr>
          </a:p>
        </p:txBody>
      </p:sp>
      <p:sp>
        <p:nvSpPr>
          <p:cNvPr id="201" name="Google Shape;201;p38">
            <a:extLst>
              <a:ext uri="{FF2B5EF4-FFF2-40B4-BE49-F238E27FC236}">
                <a16:creationId xmlns:a16="http://schemas.microsoft.com/office/drawing/2014/main" id="{2185196B-732C-95B8-151D-CBBBAE9191B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latin typeface="Raleway"/>
                <a:ea typeface="Raleway"/>
                <a:cs typeface="Raleway"/>
                <a:sym typeface="Raleway"/>
              </a:rPr>
              <a:t>Outline for Day 2</a:t>
            </a:r>
            <a:endParaRPr b="1" dirty="0">
              <a:latin typeface="Raleway"/>
              <a:ea typeface="Raleway"/>
              <a:cs typeface="Raleway"/>
              <a:sym typeface="Raleway"/>
            </a:endParaRPr>
          </a:p>
        </p:txBody>
      </p:sp>
    </p:spTree>
    <p:extLst>
      <p:ext uri="{BB962C8B-B14F-4D97-AF65-F5344CB8AC3E}">
        <p14:creationId xmlns:p14="http://schemas.microsoft.com/office/powerpoint/2010/main" val="3871804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9"/>
          <p:cNvSpPr txBox="1">
            <a:spLocks noGrp="1"/>
          </p:cNvSpPr>
          <p:nvPr>
            <p:ph type="title"/>
          </p:nvPr>
        </p:nvSpPr>
        <p:spPr>
          <a:xfrm>
            <a:off x="-25" y="2150850"/>
            <a:ext cx="9144000" cy="841800"/>
          </a:xfrm>
          <a:prstGeom prst="rect">
            <a:avLst/>
          </a:prstGeom>
          <a:solidFill>
            <a:srgbClr val="FFFFFF"/>
          </a:solidFill>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Raleway"/>
                <a:ea typeface="Raleway"/>
                <a:cs typeface="Raleway"/>
                <a:sym typeface="Raleway"/>
              </a:rPr>
              <a:t>The Fundamentals</a:t>
            </a:r>
            <a:endParaRPr b="1">
              <a:latin typeface="Raleway"/>
              <a:ea typeface="Raleway"/>
              <a:cs typeface="Raleway"/>
              <a:sym typeface="Raleway"/>
            </a:endParaRPr>
          </a:p>
        </p:txBody>
      </p:sp>
      <p:sp>
        <p:nvSpPr>
          <p:cNvPr id="207" name="Google Shape;207;p39"/>
          <p:cNvSpPr txBox="1"/>
          <p:nvPr/>
        </p:nvSpPr>
        <p:spPr>
          <a:xfrm>
            <a:off x="4335475" y="4743300"/>
            <a:ext cx="48084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a:latin typeface="Raleway"/>
                <a:ea typeface="Raleway"/>
                <a:cs typeface="Raleway"/>
                <a:sym typeface="Raleway"/>
              </a:rPr>
              <a:t>Jeff Jaureguy</a:t>
            </a:r>
            <a:endParaRPr>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2"/>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What are programming languages?</a:t>
            </a:r>
            <a:endParaRPr b="1">
              <a:latin typeface="Raleway"/>
              <a:ea typeface="Raleway"/>
              <a:cs typeface="Raleway"/>
              <a:sym typeface="Raleway"/>
            </a:endParaRPr>
          </a:p>
        </p:txBody>
      </p:sp>
      <p:sp>
        <p:nvSpPr>
          <p:cNvPr id="232" name="Google Shape;232;p42"/>
          <p:cNvSpPr txBox="1">
            <a:spLocks noGrp="1"/>
          </p:cNvSpPr>
          <p:nvPr>
            <p:ph type="body" idx="1"/>
          </p:nvPr>
        </p:nvSpPr>
        <p:spPr>
          <a:xfrm>
            <a:off x="83100" y="976725"/>
            <a:ext cx="58767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Font typeface="Raleway"/>
              <a:buChar char="●"/>
            </a:pPr>
            <a:r>
              <a:rPr lang="en">
                <a:solidFill>
                  <a:srgbClr val="000000"/>
                </a:solidFill>
                <a:latin typeface="Raleway"/>
                <a:ea typeface="Raleway"/>
                <a:cs typeface="Raleway"/>
                <a:sym typeface="Raleway"/>
              </a:rPr>
              <a:t>The natural language of computers is </a:t>
            </a:r>
            <a:r>
              <a:rPr lang="en" b="1">
                <a:solidFill>
                  <a:srgbClr val="000000"/>
                </a:solidFill>
                <a:latin typeface="Raleway"/>
                <a:ea typeface="Raleway"/>
                <a:cs typeface="Raleway"/>
                <a:sym typeface="Raleway"/>
              </a:rPr>
              <a:t>binary code</a:t>
            </a:r>
            <a:r>
              <a:rPr lang="en">
                <a:solidFill>
                  <a:srgbClr val="000000"/>
                </a:solidFill>
                <a:latin typeface="Raleway"/>
                <a:ea typeface="Raleway"/>
                <a:cs typeface="Raleway"/>
                <a:sym typeface="Raleway"/>
              </a:rPr>
              <a:t> (0s and 1s)</a:t>
            </a:r>
            <a:endParaRPr>
              <a:solidFill>
                <a:srgbClr val="000000"/>
              </a:solidFill>
              <a:latin typeface="Raleway"/>
              <a:ea typeface="Raleway"/>
              <a:cs typeface="Raleway"/>
              <a:sym typeface="Raleway"/>
            </a:endParaRPr>
          </a:p>
          <a:p>
            <a:pPr marL="457200" lvl="0" indent="-342900" algn="l" rtl="0">
              <a:spcBef>
                <a:spcPts val="0"/>
              </a:spcBef>
              <a:spcAft>
                <a:spcPts val="0"/>
              </a:spcAft>
              <a:buClr>
                <a:srgbClr val="000000"/>
              </a:buClr>
              <a:buSzPts val="1800"/>
              <a:buFont typeface="Raleway"/>
              <a:buChar char="●"/>
            </a:pPr>
            <a:r>
              <a:rPr lang="en">
                <a:solidFill>
                  <a:srgbClr val="000000"/>
                </a:solidFill>
                <a:latin typeface="Raleway"/>
                <a:ea typeface="Raleway"/>
                <a:cs typeface="Raleway"/>
                <a:sym typeface="Raleway"/>
              </a:rPr>
              <a:t>A programming language is a tool to communicate with computers</a:t>
            </a:r>
            <a:endParaRPr>
              <a:solidFill>
                <a:srgbClr val="000000"/>
              </a:solidFill>
              <a:latin typeface="Raleway"/>
              <a:ea typeface="Raleway"/>
              <a:cs typeface="Raleway"/>
              <a:sym typeface="Raleway"/>
            </a:endParaRPr>
          </a:p>
          <a:p>
            <a:pPr marL="457200" lvl="0" indent="-342900" algn="l" rtl="0">
              <a:spcBef>
                <a:spcPts val="0"/>
              </a:spcBef>
              <a:spcAft>
                <a:spcPts val="0"/>
              </a:spcAft>
              <a:buClr>
                <a:srgbClr val="000000"/>
              </a:buClr>
              <a:buSzPts val="1800"/>
              <a:buFont typeface="Raleway"/>
              <a:buChar char="●"/>
            </a:pPr>
            <a:r>
              <a:rPr lang="en" b="1">
                <a:solidFill>
                  <a:srgbClr val="000000"/>
                </a:solidFill>
                <a:latin typeface="Raleway"/>
                <a:ea typeface="Raleway"/>
                <a:cs typeface="Raleway"/>
                <a:sym typeface="Raleway"/>
              </a:rPr>
              <a:t>High level</a:t>
            </a:r>
            <a:r>
              <a:rPr lang="en">
                <a:solidFill>
                  <a:srgbClr val="000000"/>
                </a:solidFill>
                <a:latin typeface="Raleway"/>
                <a:ea typeface="Raleway"/>
                <a:cs typeface="Raleway"/>
                <a:sym typeface="Raleway"/>
              </a:rPr>
              <a:t> programming languages are farther from machine language</a:t>
            </a:r>
            <a:endParaRPr>
              <a:solidFill>
                <a:srgbClr val="000000"/>
              </a:solidFill>
              <a:latin typeface="Raleway"/>
              <a:ea typeface="Raleway"/>
              <a:cs typeface="Raleway"/>
              <a:sym typeface="Raleway"/>
            </a:endParaRPr>
          </a:p>
          <a:p>
            <a:pPr marL="914400" lvl="1" indent="-292100" algn="l" rtl="0">
              <a:spcBef>
                <a:spcPts val="0"/>
              </a:spcBef>
              <a:spcAft>
                <a:spcPts val="0"/>
              </a:spcAft>
              <a:buClr>
                <a:srgbClr val="000000"/>
              </a:buClr>
              <a:buSzPts val="1000"/>
              <a:buFont typeface="Raleway"/>
              <a:buChar char="○"/>
            </a:pPr>
            <a:r>
              <a:rPr lang="en">
                <a:solidFill>
                  <a:srgbClr val="000000"/>
                </a:solidFill>
                <a:latin typeface="Raleway"/>
                <a:ea typeface="Raleway"/>
                <a:cs typeface="Raleway"/>
                <a:sym typeface="Raleway"/>
              </a:rPr>
              <a:t>closer to how humans communicate</a:t>
            </a:r>
            <a:endParaRPr sz="1000">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Take more time to run</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E.g. Python, R, Java, C++, Pascal, bash </a:t>
            </a:r>
            <a:endParaRPr>
              <a:solidFill>
                <a:srgbClr val="000000"/>
              </a:solidFill>
              <a:latin typeface="Raleway"/>
              <a:ea typeface="Raleway"/>
              <a:cs typeface="Raleway"/>
              <a:sym typeface="Raleway"/>
            </a:endParaRPr>
          </a:p>
          <a:p>
            <a:pPr marL="457200" lvl="0" indent="-342900" algn="l" rtl="0">
              <a:spcBef>
                <a:spcPts val="0"/>
              </a:spcBef>
              <a:spcAft>
                <a:spcPts val="0"/>
              </a:spcAft>
              <a:buClr>
                <a:srgbClr val="000000"/>
              </a:buClr>
              <a:buSzPts val="1800"/>
              <a:buFont typeface="Raleway"/>
              <a:buChar char="●"/>
            </a:pPr>
            <a:r>
              <a:rPr lang="en" b="1">
                <a:solidFill>
                  <a:srgbClr val="000000"/>
                </a:solidFill>
                <a:latin typeface="Raleway"/>
                <a:ea typeface="Raleway"/>
                <a:cs typeface="Raleway"/>
                <a:sym typeface="Raleway"/>
              </a:rPr>
              <a:t>Low level</a:t>
            </a:r>
            <a:r>
              <a:rPr lang="en">
                <a:solidFill>
                  <a:srgbClr val="000000"/>
                </a:solidFill>
                <a:latin typeface="Raleway"/>
                <a:ea typeface="Raleway"/>
                <a:cs typeface="Raleway"/>
                <a:sym typeface="Raleway"/>
              </a:rPr>
              <a:t> programming languages are closer to machine language </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Fast</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Give precise control</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E.g. Assembly</a:t>
            </a:r>
            <a:endParaRPr>
              <a:solidFill>
                <a:srgbClr val="000000"/>
              </a:solidFill>
              <a:latin typeface="Raleway"/>
              <a:ea typeface="Raleway"/>
              <a:cs typeface="Raleway"/>
              <a:sym typeface="Raleway"/>
            </a:endParaRPr>
          </a:p>
        </p:txBody>
      </p:sp>
      <p:pic>
        <p:nvPicPr>
          <p:cNvPr id="233" name="Google Shape;233;p42"/>
          <p:cNvPicPr preferRelativeResize="0"/>
          <p:nvPr/>
        </p:nvPicPr>
        <p:blipFill>
          <a:blip r:embed="rId3">
            <a:alphaModFix/>
          </a:blip>
          <a:stretch>
            <a:fillRect/>
          </a:stretch>
        </p:blipFill>
        <p:spPr>
          <a:xfrm>
            <a:off x="5647650" y="1190307"/>
            <a:ext cx="3273275" cy="899143"/>
          </a:xfrm>
          <a:prstGeom prst="rect">
            <a:avLst/>
          </a:prstGeom>
          <a:noFill/>
          <a:ln>
            <a:noFill/>
          </a:ln>
        </p:spPr>
      </p:pic>
      <p:pic>
        <p:nvPicPr>
          <p:cNvPr id="234" name="Google Shape;234;p42"/>
          <p:cNvPicPr preferRelativeResize="0"/>
          <p:nvPr/>
        </p:nvPicPr>
        <p:blipFill>
          <a:blip r:embed="rId4">
            <a:alphaModFix/>
          </a:blip>
          <a:stretch>
            <a:fillRect/>
          </a:stretch>
        </p:blipFill>
        <p:spPr>
          <a:xfrm>
            <a:off x="5722651" y="2745776"/>
            <a:ext cx="3123275" cy="2133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The Backbone of Programming Languages</a:t>
            </a:r>
            <a:endParaRPr b="1">
              <a:latin typeface="Raleway"/>
              <a:ea typeface="Raleway"/>
              <a:cs typeface="Raleway"/>
              <a:sym typeface="Raleway"/>
            </a:endParaRPr>
          </a:p>
        </p:txBody>
      </p:sp>
      <p:sp>
        <p:nvSpPr>
          <p:cNvPr id="240" name="Google Shape;240;p43"/>
          <p:cNvSpPr txBox="1"/>
          <p:nvPr/>
        </p:nvSpPr>
        <p:spPr>
          <a:xfrm>
            <a:off x="311700" y="1152475"/>
            <a:ext cx="8520600" cy="1176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latin typeface="Raleway"/>
                <a:ea typeface="Raleway"/>
                <a:cs typeface="Raleway"/>
                <a:sym typeface="Raleway"/>
              </a:rPr>
              <a:t>Like how we break up languages into basic structures (e.g., part of speech, verb tense, etc.), we can also deconstruct programming languages into five basic concepts:</a:t>
            </a:r>
            <a:endParaRPr sz="1800">
              <a:latin typeface="Raleway"/>
              <a:ea typeface="Raleway"/>
              <a:cs typeface="Raleway"/>
              <a:sym typeface="Raleway"/>
            </a:endParaRPr>
          </a:p>
          <a:p>
            <a:pPr marL="0" lvl="0" indent="0" algn="l" rtl="0">
              <a:lnSpc>
                <a:spcPct val="115000"/>
              </a:lnSpc>
              <a:spcBef>
                <a:spcPts val="1600"/>
              </a:spcBef>
              <a:spcAft>
                <a:spcPts val="0"/>
              </a:spcAft>
              <a:buNone/>
            </a:pPr>
            <a:endParaRPr sz="1800">
              <a:solidFill>
                <a:srgbClr val="595959"/>
              </a:solidFill>
              <a:latin typeface="Lato"/>
              <a:ea typeface="Lato"/>
              <a:cs typeface="Lato"/>
              <a:sym typeface="Lato"/>
            </a:endParaRPr>
          </a:p>
          <a:p>
            <a:pPr marL="0" lvl="0" indent="0" algn="l" rtl="0">
              <a:lnSpc>
                <a:spcPct val="115000"/>
              </a:lnSpc>
              <a:spcBef>
                <a:spcPts val="1600"/>
              </a:spcBef>
              <a:spcAft>
                <a:spcPts val="0"/>
              </a:spcAft>
              <a:buNone/>
            </a:pPr>
            <a:endParaRPr sz="1800">
              <a:solidFill>
                <a:srgbClr val="595959"/>
              </a:solidFill>
              <a:latin typeface="Lato"/>
              <a:ea typeface="Lato"/>
              <a:cs typeface="Lato"/>
              <a:sym typeface="Lato"/>
            </a:endParaRPr>
          </a:p>
          <a:p>
            <a:pPr marL="0" lvl="0" indent="0" algn="l" rtl="0">
              <a:lnSpc>
                <a:spcPct val="115000"/>
              </a:lnSpc>
              <a:spcBef>
                <a:spcPts val="1600"/>
              </a:spcBef>
              <a:spcAft>
                <a:spcPts val="0"/>
              </a:spcAft>
              <a:buNone/>
            </a:pPr>
            <a:endParaRPr sz="1800">
              <a:solidFill>
                <a:srgbClr val="595959"/>
              </a:solidFill>
              <a:latin typeface="Lato"/>
              <a:ea typeface="Lato"/>
              <a:cs typeface="Lato"/>
              <a:sym typeface="Lato"/>
            </a:endParaRPr>
          </a:p>
          <a:p>
            <a:pPr marL="0" lvl="0" indent="0" algn="l" rtl="0">
              <a:lnSpc>
                <a:spcPct val="115000"/>
              </a:lnSpc>
              <a:spcBef>
                <a:spcPts val="1600"/>
              </a:spcBef>
              <a:spcAft>
                <a:spcPts val="0"/>
              </a:spcAft>
              <a:buNone/>
            </a:pPr>
            <a:endParaRPr sz="1800">
              <a:solidFill>
                <a:srgbClr val="595959"/>
              </a:solidFill>
              <a:latin typeface="Lato"/>
              <a:ea typeface="Lato"/>
              <a:cs typeface="Lato"/>
              <a:sym typeface="Lato"/>
            </a:endParaRPr>
          </a:p>
          <a:p>
            <a:pPr marL="0" lvl="0" indent="0" algn="l" rtl="0">
              <a:lnSpc>
                <a:spcPct val="115000"/>
              </a:lnSpc>
              <a:spcBef>
                <a:spcPts val="1600"/>
              </a:spcBef>
              <a:spcAft>
                <a:spcPts val="1600"/>
              </a:spcAft>
              <a:buNone/>
            </a:pPr>
            <a:endParaRPr i="1">
              <a:solidFill>
                <a:srgbClr val="595959"/>
              </a:solidFill>
              <a:latin typeface="Lato"/>
              <a:ea typeface="Lato"/>
              <a:cs typeface="Lato"/>
              <a:sym typeface="Lato"/>
            </a:endParaRPr>
          </a:p>
        </p:txBody>
      </p:sp>
      <p:sp>
        <p:nvSpPr>
          <p:cNvPr id="241" name="Google Shape;241;p43"/>
          <p:cNvSpPr/>
          <p:nvPr/>
        </p:nvSpPr>
        <p:spPr>
          <a:xfrm>
            <a:off x="1104282" y="2435387"/>
            <a:ext cx="20352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① VARIABLES</a:t>
            </a:r>
            <a:endParaRPr b="1">
              <a:solidFill>
                <a:srgbClr val="274E13"/>
              </a:solidFill>
            </a:endParaRPr>
          </a:p>
        </p:txBody>
      </p:sp>
      <p:sp>
        <p:nvSpPr>
          <p:cNvPr id="242" name="Google Shape;242;p43"/>
          <p:cNvSpPr/>
          <p:nvPr/>
        </p:nvSpPr>
        <p:spPr>
          <a:xfrm>
            <a:off x="3478429" y="2435387"/>
            <a:ext cx="20352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② CONDITIONAL STATEMENTS</a:t>
            </a:r>
            <a:endParaRPr b="1">
              <a:solidFill>
                <a:srgbClr val="274E13"/>
              </a:solidFill>
            </a:endParaRPr>
          </a:p>
        </p:txBody>
      </p:sp>
      <p:sp>
        <p:nvSpPr>
          <p:cNvPr id="243" name="Google Shape;243;p43"/>
          <p:cNvSpPr/>
          <p:nvPr/>
        </p:nvSpPr>
        <p:spPr>
          <a:xfrm>
            <a:off x="5852577" y="2435387"/>
            <a:ext cx="20352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③ LOOPING &amp; ITERATION</a:t>
            </a:r>
            <a:endParaRPr b="1">
              <a:solidFill>
                <a:srgbClr val="274E13"/>
              </a:solidFill>
            </a:endParaRPr>
          </a:p>
        </p:txBody>
      </p:sp>
      <p:sp>
        <p:nvSpPr>
          <p:cNvPr id="244" name="Google Shape;244;p43"/>
          <p:cNvSpPr/>
          <p:nvPr/>
        </p:nvSpPr>
        <p:spPr>
          <a:xfrm>
            <a:off x="2319606" y="3342962"/>
            <a:ext cx="20352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④ DATA TYPES &amp; DATA STRUCTURES</a:t>
            </a:r>
            <a:endParaRPr b="1">
              <a:solidFill>
                <a:srgbClr val="274E13"/>
              </a:solidFill>
            </a:endParaRPr>
          </a:p>
        </p:txBody>
      </p:sp>
      <p:sp>
        <p:nvSpPr>
          <p:cNvPr id="245" name="Google Shape;245;p43"/>
          <p:cNvSpPr/>
          <p:nvPr/>
        </p:nvSpPr>
        <p:spPr>
          <a:xfrm>
            <a:off x="4635906" y="3342962"/>
            <a:ext cx="20352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⑤ FUNCTIONS</a:t>
            </a:r>
            <a:endParaRPr b="1">
              <a:solidFill>
                <a:srgbClr val="274E1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p>
            <a:pPr marL="0" indent="0"/>
            <a:r>
              <a:rPr lang="en" sz="3000" b="1">
                <a:solidFill>
                  <a:srgbClr val="000000"/>
                </a:solidFill>
                <a:latin typeface="Raleway"/>
                <a:ea typeface="Raleway"/>
                <a:cs typeface="Raleway"/>
                <a:sym typeface="Raleway"/>
              </a:rPr>
              <a:t>DEMO: Python Fundamentals</a:t>
            </a:r>
            <a:endParaRPr lang="en" sz="3000" b="1">
              <a:solidFill>
                <a:srgbClr val="000000"/>
              </a:solidFill>
              <a:latin typeface="Raleway"/>
              <a:ea typeface="Raleway"/>
              <a:cs typeface="Raleway"/>
            </a:endParaRPr>
          </a:p>
        </p:txBody>
      </p:sp>
      <p:pic>
        <p:nvPicPr>
          <p:cNvPr id="4" name="Picture 3" descr="A screenshot of a computer program&#10;&#10;AI-generated content may be incorrect.">
            <a:extLst>
              <a:ext uri="{FF2B5EF4-FFF2-40B4-BE49-F238E27FC236}">
                <a16:creationId xmlns:a16="http://schemas.microsoft.com/office/drawing/2014/main" id="{EBDAB6E8-61B4-E4D1-F33A-CDF5D1F64F01}"/>
              </a:ext>
            </a:extLst>
          </p:cNvPr>
          <p:cNvPicPr>
            <a:picLocks noChangeAspect="1"/>
          </p:cNvPicPr>
          <p:nvPr/>
        </p:nvPicPr>
        <p:blipFill>
          <a:blip r:embed="rId3"/>
          <a:stretch>
            <a:fillRect/>
          </a:stretch>
        </p:blipFill>
        <p:spPr>
          <a:xfrm>
            <a:off x="2103287" y="856167"/>
            <a:ext cx="4476619" cy="3086100"/>
          </a:xfrm>
          <a:prstGeom prst="rect">
            <a:avLst/>
          </a:prstGeom>
        </p:spPr>
      </p:pic>
      <p:sp>
        <p:nvSpPr>
          <p:cNvPr id="6" name="Google Shape;386;p57">
            <a:extLst>
              <a:ext uri="{FF2B5EF4-FFF2-40B4-BE49-F238E27FC236}">
                <a16:creationId xmlns:a16="http://schemas.microsoft.com/office/drawing/2014/main" id="{38383FA7-B70F-FAE7-6D8B-F4C132FDF628}"/>
              </a:ext>
            </a:extLst>
          </p:cNvPr>
          <p:cNvSpPr/>
          <p:nvPr/>
        </p:nvSpPr>
        <p:spPr>
          <a:xfrm>
            <a:off x="5111627" y="2849464"/>
            <a:ext cx="2251777" cy="351900"/>
          </a:xfrm>
          <a:prstGeom prst="leftArrow">
            <a:avLst>
              <a:gd name="adj1" fmla="val 50000"/>
              <a:gd name="adj2" fmla="val 50000"/>
            </a:avLst>
          </a:prstGeom>
          <a:solidFill>
            <a:srgbClr val="93C4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8091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3"/>
          <p:cNvSpPr txBox="1">
            <a:spLocks noGrp="1"/>
          </p:cNvSpPr>
          <p:nvPr>
            <p:ph type="title"/>
          </p:nvPr>
        </p:nvSpPr>
        <p:spPr>
          <a:xfrm>
            <a:off x="-25" y="2150850"/>
            <a:ext cx="9144000" cy="841800"/>
          </a:xfrm>
          <a:prstGeom prst="rect">
            <a:avLst/>
          </a:prstGeom>
          <a:solidFill>
            <a:srgbClr val="FFFFFF"/>
          </a:solidFill>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Raleway"/>
                <a:ea typeface="Raleway"/>
                <a:cs typeface="Raleway"/>
                <a:sym typeface="Raleway"/>
              </a:rPr>
              <a:t>Packages </a:t>
            </a:r>
            <a:endParaRPr b="1">
              <a:latin typeface="Raleway"/>
              <a:ea typeface="Raleway"/>
              <a:cs typeface="Raleway"/>
              <a:sym typeface="Ralewa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Packages</a:t>
            </a:r>
            <a:endParaRPr b="1"/>
          </a:p>
        </p:txBody>
      </p:sp>
      <p:sp>
        <p:nvSpPr>
          <p:cNvPr id="326" name="Google Shape;326;p54"/>
          <p:cNvSpPr txBox="1">
            <a:spLocks noGrp="1"/>
          </p:cNvSpPr>
          <p:nvPr>
            <p:ph type="body" idx="1"/>
          </p:nvPr>
        </p:nvSpPr>
        <p:spPr>
          <a:xfrm>
            <a:off x="311700" y="1000075"/>
            <a:ext cx="8520600" cy="1660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latin typeface="Raleway"/>
                <a:ea typeface="Raleway"/>
                <a:cs typeface="Raleway"/>
                <a:sym typeface="Raleway"/>
              </a:rPr>
              <a:t>A </a:t>
            </a:r>
            <a:r>
              <a:rPr lang="en" b="1">
                <a:solidFill>
                  <a:srgbClr val="000000"/>
                </a:solidFill>
                <a:latin typeface="Raleway"/>
                <a:ea typeface="Raleway"/>
                <a:cs typeface="Raleway"/>
                <a:sym typeface="Raleway"/>
              </a:rPr>
              <a:t>package</a:t>
            </a:r>
            <a:r>
              <a:rPr lang="en">
                <a:solidFill>
                  <a:srgbClr val="000000"/>
                </a:solidFill>
                <a:latin typeface="Raleway"/>
                <a:ea typeface="Raleway"/>
                <a:cs typeface="Raleway"/>
                <a:sym typeface="Raleway"/>
              </a:rPr>
              <a:t> is a folder that contains one or more </a:t>
            </a:r>
            <a:r>
              <a:rPr lang="en" b="1">
                <a:solidFill>
                  <a:srgbClr val="000000"/>
                </a:solidFill>
                <a:latin typeface="Raleway"/>
                <a:ea typeface="Raleway"/>
                <a:cs typeface="Raleway"/>
                <a:sym typeface="Raleway"/>
              </a:rPr>
              <a:t>modules</a:t>
            </a:r>
            <a:r>
              <a:rPr lang="en">
                <a:solidFill>
                  <a:srgbClr val="000000"/>
                </a:solidFill>
                <a:latin typeface="Raleway"/>
                <a:ea typeface="Raleway"/>
                <a:cs typeface="Raleway"/>
                <a:sym typeface="Raleway"/>
              </a:rPr>
              <a:t> that you can </a:t>
            </a:r>
            <a:r>
              <a:rPr lang="en" b="1">
                <a:solidFill>
                  <a:srgbClr val="38761D"/>
                </a:solidFill>
                <a:latin typeface="Raleway"/>
                <a:ea typeface="Raleway"/>
                <a:cs typeface="Raleway"/>
                <a:sym typeface="Raleway"/>
              </a:rPr>
              <a:t>import</a:t>
            </a:r>
            <a:r>
              <a:rPr lang="en">
                <a:solidFill>
                  <a:srgbClr val="000000"/>
                </a:solidFill>
                <a:latin typeface="Raleway"/>
                <a:ea typeface="Raleway"/>
                <a:cs typeface="Raleway"/>
                <a:sym typeface="Raleway"/>
              </a:rPr>
              <a:t> into your script</a:t>
            </a:r>
            <a:endParaRPr>
              <a:solidFill>
                <a:srgbClr val="000000"/>
              </a:solidFill>
              <a:latin typeface="Raleway"/>
              <a:ea typeface="Raleway"/>
              <a:cs typeface="Raleway"/>
              <a:sym typeface="Raleway"/>
            </a:endParaRPr>
          </a:p>
        </p:txBody>
      </p:sp>
      <p:pic>
        <p:nvPicPr>
          <p:cNvPr id="327" name="Google Shape;327;p54"/>
          <p:cNvPicPr preferRelativeResize="0"/>
          <p:nvPr/>
        </p:nvPicPr>
        <p:blipFill rotWithShape="1">
          <a:blip r:embed="rId3">
            <a:alphaModFix/>
          </a:blip>
          <a:srcRect r="57659"/>
          <a:stretch/>
        </p:blipFill>
        <p:spPr>
          <a:xfrm>
            <a:off x="1000448" y="1815000"/>
            <a:ext cx="2082899" cy="2809175"/>
          </a:xfrm>
          <a:prstGeom prst="rect">
            <a:avLst/>
          </a:prstGeom>
          <a:noFill/>
          <a:ln>
            <a:noFill/>
          </a:ln>
        </p:spPr>
      </p:pic>
      <p:sp>
        <p:nvSpPr>
          <p:cNvPr id="328" name="Google Shape;328;p54"/>
          <p:cNvSpPr/>
          <p:nvPr/>
        </p:nvSpPr>
        <p:spPr>
          <a:xfrm>
            <a:off x="1023975" y="1905300"/>
            <a:ext cx="2059500" cy="873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54"/>
          <p:cNvSpPr/>
          <p:nvPr/>
        </p:nvSpPr>
        <p:spPr>
          <a:xfrm>
            <a:off x="1012150" y="2897375"/>
            <a:ext cx="2059500" cy="1660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0" name="Google Shape;330;p54"/>
          <p:cNvCxnSpPr>
            <a:stCxn id="328" idx="3"/>
            <a:endCxn id="331" idx="1"/>
          </p:cNvCxnSpPr>
          <p:nvPr/>
        </p:nvCxnSpPr>
        <p:spPr>
          <a:xfrm>
            <a:off x="3083475" y="2342250"/>
            <a:ext cx="959400" cy="654000"/>
          </a:xfrm>
          <a:prstGeom prst="straightConnector1">
            <a:avLst/>
          </a:prstGeom>
          <a:noFill/>
          <a:ln w="9525" cap="flat" cmpd="sng">
            <a:solidFill>
              <a:schemeClr val="dk2"/>
            </a:solidFill>
            <a:prstDash val="solid"/>
            <a:round/>
            <a:headEnd type="none" w="med" len="med"/>
            <a:tailEnd type="triangle" w="med" len="med"/>
          </a:ln>
        </p:spPr>
      </p:cxnSp>
      <p:cxnSp>
        <p:nvCxnSpPr>
          <p:cNvPr id="332" name="Google Shape;332;p54"/>
          <p:cNvCxnSpPr>
            <a:stCxn id="329" idx="3"/>
            <a:endCxn id="331" idx="1"/>
          </p:cNvCxnSpPr>
          <p:nvPr/>
        </p:nvCxnSpPr>
        <p:spPr>
          <a:xfrm rot="10800000" flipH="1">
            <a:off x="3071650" y="2996225"/>
            <a:ext cx="971100" cy="731400"/>
          </a:xfrm>
          <a:prstGeom prst="straightConnector1">
            <a:avLst/>
          </a:prstGeom>
          <a:noFill/>
          <a:ln w="9525" cap="flat" cmpd="sng">
            <a:solidFill>
              <a:schemeClr val="dk2"/>
            </a:solidFill>
            <a:prstDash val="solid"/>
            <a:round/>
            <a:headEnd type="none" w="med" len="med"/>
            <a:tailEnd type="triangle" w="med" len="med"/>
          </a:ln>
        </p:spPr>
      </p:cxnSp>
      <p:sp>
        <p:nvSpPr>
          <p:cNvPr id="331" name="Google Shape;331;p54"/>
          <p:cNvSpPr/>
          <p:nvPr/>
        </p:nvSpPr>
        <p:spPr>
          <a:xfrm>
            <a:off x="4042763" y="2584375"/>
            <a:ext cx="1677600" cy="8238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Raleway"/>
                <a:ea typeface="Raleway"/>
                <a:cs typeface="Raleway"/>
                <a:sym typeface="Raleway"/>
              </a:rPr>
              <a:t>Package</a:t>
            </a:r>
            <a:endParaRPr b="1">
              <a:latin typeface="Raleway"/>
              <a:ea typeface="Raleway"/>
              <a:cs typeface="Raleway"/>
              <a:sym typeface="Raleway"/>
            </a:endParaRPr>
          </a:p>
        </p:txBody>
      </p:sp>
      <p:sp>
        <p:nvSpPr>
          <p:cNvPr id="333" name="Google Shape;333;p54"/>
          <p:cNvSpPr/>
          <p:nvPr/>
        </p:nvSpPr>
        <p:spPr>
          <a:xfrm>
            <a:off x="6679675" y="2584375"/>
            <a:ext cx="1677600" cy="8238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Raleway"/>
                <a:ea typeface="Raleway"/>
                <a:cs typeface="Raleway"/>
                <a:sym typeface="Raleway"/>
              </a:rPr>
              <a:t>Script</a:t>
            </a:r>
            <a:endParaRPr b="1">
              <a:latin typeface="Raleway"/>
              <a:ea typeface="Raleway"/>
              <a:cs typeface="Raleway"/>
              <a:sym typeface="Raleway"/>
            </a:endParaRPr>
          </a:p>
        </p:txBody>
      </p:sp>
      <p:cxnSp>
        <p:nvCxnSpPr>
          <p:cNvPr id="334" name="Google Shape;334;p54"/>
          <p:cNvCxnSpPr>
            <a:stCxn id="331" idx="3"/>
            <a:endCxn id="333" idx="1"/>
          </p:cNvCxnSpPr>
          <p:nvPr/>
        </p:nvCxnSpPr>
        <p:spPr>
          <a:xfrm>
            <a:off x="5720363" y="2996275"/>
            <a:ext cx="959400" cy="0"/>
          </a:xfrm>
          <a:prstGeom prst="straightConnector1">
            <a:avLst/>
          </a:prstGeom>
          <a:noFill/>
          <a:ln w="9525" cap="flat" cmpd="sng">
            <a:solidFill>
              <a:schemeClr val="dk2"/>
            </a:solidFill>
            <a:prstDash val="solid"/>
            <a:round/>
            <a:headEnd type="none" w="med" len="med"/>
            <a:tailEnd type="triangle" w="med" len="med"/>
          </a:ln>
        </p:spPr>
      </p:cxnSp>
      <p:sp>
        <p:nvSpPr>
          <p:cNvPr id="335" name="Google Shape;335;p54"/>
          <p:cNvSpPr txBox="1"/>
          <p:nvPr/>
        </p:nvSpPr>
        <p:spPr>
          <a:xfrm>
            <a:off x="5742075" y="2645500"/>
            <a:ext cx="959400" cy="23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38761D"/>
                </a:solidFill>
                <a:latin typeface="Raleway"/>
                <a:ea typeface="Raleway"/>
                <a:cs typeface="Raleway"/>
                <a:sym typeface="Raleway"/>
              </a:rPr>
              <a:t>import</a:t>
            </a:r>
            <a:endParaRPr b="1">
              <a:solidFill>
                <a:srgbClr val="38761D"/>
              </a:solidFill>
              <a:latin typeface="Raleway"/>
              <a:ea typeface="Raleway"/>
              <a:cs typeface="Raleway"/>
              <a:sym typeface="Raleway"/>
            </a:endParaRPr>
          </a:p>
        </p:txBody>
      </p:sp>
      <p:sp>
        <p:nvSpPr>
          <p:cNvPr id="336" name="Google Shape;336;p54"/>
          <p:cNvSpPr/>
          <p:nvPr/>
        </p:nvSpPr>
        <p:spPr>
          <a:xfrm rot="-5400000">
            <a:off x="-31300" y="3597625"/>
            <a:ext cx="1661700" cy="261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aleway"/>
                <a:ea typeface="Raleway"/>
                <a:cs typeface="Raleway"/>
                <a:sym typeface="Raleway"/>
              </a:rPr>
              <a:t>functions</a:t>
            </a:r>
            <a:endParaRPr sz="1100">
              <a:latin typeface="Raleway"/>
              <a:ea typeface="Raleway"/>
              <a:cs typeface="Raleway"/>
              <a:sym typeface="Raleway"/>
            </a:endParaRPr>
          </a:p>
        </p:txBody>
      </p:sp>
      <p:sp>
        <p:nvSpPr>
          <p:cNvPr id="337" name="Google Shape;337;p54"/>
          <p:cNvSpPr/>
          <p:nvPr/>
        </p:nvSpPr>
        <p:spPr>
          <a:xfrm rot="-5400000">
            <a:off x="360500" y="2211600"/>
            <a:ext cx="878100" cy="261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aleway"/>
                <a:ea typeface="Raleway"/>
                <a:cs typeface="Raleway"/>
                <a:sym typeface="Raleway"/>
              </a:rPr>
              <a:t>greet</a:t>
            </a:r>
            <a:endParaRPr sz="1100">
              <a:latin typeface="Raleway"/>
              <a:ea typeface="Raleway"/>
              <a:cs typeface="Raleway"/>
              <a:sym typeface="Raleway"/>
            </a:endParaRPr>
          </a:p>
        </p:txBody>
      </p:sp>
      <p:sp>
        <p:nvSpPr>
          <p:cNvPr id="338" name="Google Shape;338;p54"/>
          <p:cNvSpPr/>
          <p:nvPr/>
        </p:nvSpPr>
        <p:spPr>
          <a:xfrm>
            <a:off x="4042850" y="3466325"/>
            <a:ext cx="1699200" cy="261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aleway"/>
                <a:ea typeface="Raleway"/>
                <a:cs typeface="Raleway"/>
                <a:sym typeface="Raleway"/>
              </a:rPr>
              <a:t>misc_functions</a:t>
            </a:r>
            <a:endParaRPr sz="1100">
              <a:latin typeface="Raleway"/>
              <a:ea typeface="Raleway"/>
              <a:cs typeface="Raleway"/>
              <a:sym typeface="Raleway"/>
            </a:endParaRPr>
          </a:p>
        </p:txBody>
      </p:sp>
      <p:grpSp>
        <p:nvGrpSpPr>
          <p:cNvPr id="339" name="Google Shape;339;p54"/>
          <p:cNvGrpSpPr/>
          <p:nvPr/>
        </p:nvGrpSpPr>
        <p:grpSpPr>
          <a:xfrm>
            <a:off x="482500" y="1834925"/>
            <a:ext cx="2662200" cy="3054000"/>
            <a:chOff x="482500" y="1834925"/>
            <a:chExt cx="2662200" cy="3054000"/>
          </a:xfrm>
        </p:grpSpPr>
        <p:sp>
          <p:nvSpPr>
            <p:cNvPr id="340" name="Google Shape;340;p54"/>
            <p:cNvSpPr/>
            <p:nvPr/>
          </p:nvSpPr>
          <p:spPr>
            <a:xfrm>
              <a:off x="482500" y="1834925"/>
              <a:ext cx="2662200" cy="3054000"/>
            </a:xfrm>
            <a:prstGeom prst="rect">
              <a:avLst/>
            </a:prstGeom>
            <a:solidFill>
              <a:srgbClr val="FFFFFF">
                <a:alpha val="553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600">
                  <a:latin typeface="Caveat"/>
                  <a:ea typeface="Caveat"/>
                  <a:cs typeface="Caveat"/>
                  <a:sym typeface="Caveat"/>
                </a:rPr>
                <a:t>1</a:t>
              </a:r>
              <a:endParaRPr sz="4600">
                <a:latin typeface="Caveat"/>
                <a:ea typeface="Caveat"/>
                <a:cs typeface="Caveat"/>
                <a:sym typeface="Caveat"/>
              </a:endParaRPr>
            </a:p>
          </p:txBody>
        </p:sp>
        <p:sp>
          <p:nvSpPr>
            <p:cNvPr id="341" name="Google Shape;341;p54"/>
            <p:cNvSpPr/>
            <p:nvPr/>
          </p:nvSpPr>
          <p:spPr>
            <a:xfrm>
              <a:off x="1558775" y="3034925"/>
              <a:ext cx="654000" cy="654000"/>
            </a:xfrm>
            <a:prstGeom prst="ellipse">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 name="Google Shape;342;p54"/>
          <p:cNvGrpSpPr/>
          <p:nvPr/>
        </p:nvGrpSpPr>
        <p:grpSpPr>
          <a:xfrm>
            <a:off x="3144375" y="1808250"/>
            <a:ext cx="2662200" cy="3054000"/>
            <a:chOff x="3144375" y="1808250"/>
            <a:chExt cx="2662200" cy="3054000"/>
          </a:xfrm>
        </p:grpSpPr>
        <p:sp>
          <p:nvSpPr>
            <p:cNvPr id="343" name="Google Shape;343;p54"/>
            <p:cNvSpPr/>
            <p:nvPr/>
          </p:nvSpPr>
          <p:spPr>
            <a:xfrm>
              <a:off x="3144375" y="1808250"/>
              <a:ext cx="2662200" cy="3054000"/>
            </a:xfrm>
            <a:prstGeom prst="rect">
              <a:avLst/>
            </a:prstGeom>
            <a:solidFill>
              <a:srgbClr val="FFFFFF">
                <a:alpha val="553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600">
                  <a:latin typeface="Caveat"/>
                  <a:ea typeface="Caveat"/>
                  <a:cs typeface="Caveat"/>
                  <a:sym typeface="Caveat"/>
                </a:rPr>
                <a:t>2</a:t>
              </a:r>
              <a:endParaRPr sz="4600">
                <a:latin typeface="Caveat"/>
                <a:ea typeface="Caveat"/>
                <a:cs typeface="Caveat"/>
                <a:sym typeface="Caveat"/>
              </a:endParaRPr>
            </a:p>
          </p:txBody>
        </p:sp>
        <p:sp>
          <p:nvSpPr>
            <p:cNvPr id="344" name="Google Shape;344;p54"/>
            <p:cNvSpPr/>
            <p:nvPr/>
          </p:nvSpPr>
          <p:spPr>
            <a:xfrm>
              <a:off x="4245000" y="3034925"/>
              <a:ext cx="654000" cy="654000"/>
            </a:xfrm>
            <a:prstGeom prst="ellipse">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 name="Google Shape;345;p54"/>
          <p:cNvGrpSpPr/>
          <p:nvPr/>
        </p:nvGrpSpPr>
        <p:grpSpPr>
          <a:xfrm>
            <a:off x="5791275" y="1827000"/>
            <a:ext cx="748238" cy="3054000"/>
            <a:chOff x="5791275" y="1827000"/>
            <a:chExt cx="748238" cy="3054000"/>
          </a:xfrm>
        </p:grpSpPr>
        <p:sp>
          <p:nvSpPr>
            <p:cNvPr id="346" name="Google Shape;346;p54"/>
            <p:cNvSpPr/>
            <p:nvPr/>
          </p:nvSpPr>
          <p:spPr>
            <a:xfrm>
              <a:off x="5791275" y="1827000"/>
              <a:ext cx="726900" cy="3054000"/>
            </a:xfrm>
            <a:prstGeom prst="rect">
              <a:avLst/>
            </a:prstGeom>
            <a:solidFill>
              <a:srgbClr val="FFFFFF">
                <a:alpha val="553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600">
                  <a:latin typeface="Caveat"/>
                  <a:ea typeface="Caveat"/>
                  <a:cs typeface="Caveat"/>
                  <a:sym typeface="Caveat"/>
                </a:rPr>
                <a:t>3</a:t>
              </a:r>
              <a:endParaRPr sz="4600">
                <a:latin typeface="Caveat"/>
                <a:ea typeface="Caveat"/>
                <a:cs typeface="Caveat"/>
                <a:sym typeface="Caveat"/>
              </a:endParaRPr>
            </a:p>
          </p:txBody>
        </p:sp>
        <p:sp>
          <p:nvSpPr>
            <p:cNvPr id="347" name="Google Shape;347;p54"/>
            <p:cNvSpPr/>
            <p:nvPr/>
          </p:nvSpPr>
          <p:spPr>
            <a:xfrm>
              <a:off x="5885513" y="3008250"/>
              <a:ext cx="654000" cy="654000"/>
            </a:xfrm>
            <a:prstGeom prst="ellipse">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54"/>
          <p:cNvGrpSpPr/>
          <p:nvPr/>
        </p:nvGrpSpPr>
        <p:grpSpPr>
          <a:xfrm>
            <a:off x="6618450" y="1834925"/>
            <a:ext cx="1920600" cy="3054000"/>
            <a:chOff x="6618450" y="1834925"/>
            <a:chExt cx="1920600" cy="3054000"/>
          </a:xfrm>
        </p:grpSpPr>
        <p:sp>
          <p:nvSpPr>
            <p:cNvPr id="349" name="Google Shape;349;p54"/>
            <p:cNvSpPr/>
            <p:nvPr/>
          </p:nvSpPr>
          <p:spPr>
            <a:xfrm>
              <a:off x="6618450" y="1834925"/>
              <a:ext cx="1920600" cy="3054000"/>
            </a:xfrm>
            <a:prstGeom prst="rect">
              <a:avLst/>
            </a:prstGeom>
            <a:solidFill>
              <a:srgbClr val="FFFFFF">
                <a:alpha val="553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600">
                  <a:latin typeface="Caveat"/>
                  <a:ea typeface="Caveat"/>
                  <a:cs typeface="Caveat"/>
                  <a:sym typeface="Caveat"/>
                </a:rPr>
                <a:t>4</a:t>
              </a:r>
              <a:endParaRPr sz="7800">
                <a:latin typeface="Caveat"/>
                <a:ea typeface="Caveat"/>
                <a:cs typeface="Caveat"/>
                <a:sym typeface="Caveat"/>
              </a:endParaRPr>
            </a:p>
          </p:txBody>
        </p:sp>
        <p:sp>
          <p:nvSpPr>
            <p:cNvPr id="350" name="Google Shape;350;p54"/>
            <p:cNvSpPr/>
            <p:nvPr/>
          </p:nvSpPr>
          <p:spPr>
            <a:xfrm>
              <a:off x="7342825" y="3008250"/>
              <a:ext cx="654000" cy="654000"/>
            </a:xfrm>
            <a:prstGeom prst="ellipse">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339"/>
                                        </p:tgtEl>
                                      </p:cBhvr>
                                    </p:animEffect>
                                    <p:set>
                                      <p:cBhvr>
                                        <p:cTn id="7" dur="1" fill="hold">
                                          <p:stCondLst>
                                            <p:cond delay="1000"/>
                                          </p:stCondLst>
                                        </p:cTn>
                                        <p:tgtEl>
                                          <p:spTgt spid="33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0"/>
                                        <p:tgtEl>
                                          <p:spTgt spid="342"/>
                                        </p:tgtEl>
                                      </p:cBhvr>
                                    </p:animEffect>
                                    <p:set>
                                      <p:cBhvr>
                                        <p:cTn id="12" dur="1" fill="hold">
                                          <p:stCondLst>
                                            <p:cond delay="1000"/>
                                          </p:stCondLst>
                                        </p:cTn>
                                        <p:tgtEl>
                                          <p:spTgt spid="34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1000"/>
                                        <p:tgtEl>
                                          <p:spTgt spid="345"/>
                                        </p:tgtEl>
                                      </p:cBhvr>
                                    </p:animEffect>
                                    <p:set>
                                      <p:cBhvr>
                                        <p:cTn id="17" dur="1" fill="hold">
                                          <p:stCondLst>
                                            <p:cond delay="1000"/>
                                          </p:stCondLst>
                                        </p:cTn>
                                        <p:tgtEl>
                                          <p:spTgt spid="34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1000"/>
                                        <p:tgtEl>
                                          <p:spTgt spid="348"/>
                                        </p:tgtEl>
                                      </p:cBhvr>
                                    </p:animEffect>
                                    <p:set>
                                      <p:cBhvr>
                                        <p:cTn id="22" dur="1" fill="hold">
                                          <p:stCondLst>
                                            <p:cond delay="1000"/>
                                          </p:stCondLst>
                                        </p:cTn>
                                        <p:tgtEl>
                                          <p:spTgt spid="34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55"/>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latin typeface="Raleway"/>
                <a:ea typeface="Raleway"/>
                <a:cs typeface="Raleway"/>
                <a:sym typeface="Raleway"/>
              </a:rPr>
              <a:t>Using packages in your script</a:t>
            </a:r>
            <a:endParaRPr b="1">
              <a:latin typeface="Raleway"/>
              <a:ea typeface="Raleway"/>
              <a:cs typeface="Raleway"/>
              <a:sym typeface="Raleway"/>
            </a:endParaRPr>
          </a:p>
        </p:txBody>
      </p:sp>
      <p:pic>
        <p:nvPicPr>
          <p:cNvPr id="356" name="Google Shape;356;p55"/>
          <p:cNvPicPr preferRelativeResize="0"/>
          <p:nvPr/>
        </p:nvPicPr>
        <p:blipFill rotWithShape="1">
          <a:blip r:embed="rId3">
            <a:alphaModFix/>
          </a:blip>
          <a:srcRect r="57659"/>
          <a:stretch/>
        </p:blipFill>
        <p:spPr>
          <a:xfrm>
            <a:off x="1333499" y="1091700"/>
            <a:ext cx="1623197" cy="1861800"/>
          </a:xfrm>
          <a:prstGeom prst="rect">
            <a:avLst/>
          </a:prstGeom>
          <a:noFill/>
          <a:ln>
            <a:noFill/>
          </a:ln>
        </p:spPr>
      </p:pic>
      <p:sp>
        <p:nvSpPr>
          <p:cNvPr id="357" name="Google Shape;357;p55"/>
          <p:cNvSpPr/>
          <p:nvPr/>
        </p:nvSpPr>
        <p:spPr>
          <a:xfrm>
            <a:off x="1351834" y="1151547"/>
            <a:ext cx="1605000" cy="579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5"/>
          <p:cNvSpPr/>
          <p:nvPr/>
        </p:nvSpPr>
        <p:spPr>
          <a:xfrm>
            <a:off x="1342619" y="1809051"/>
            <a:ext cx="1605000" cy="11004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59" name="Google Shape;359;p55"/>
          <p:cNvCxnSpPr>
            <a:stCxn id="357" idx="3"/>
            <a:endCxn id="360" idx="1"/>
          </p:cNvCxnSpPr>
          <p:nvPr/>
        </p:nvCxnSpPr>
        <p:spPr>
          <a:xfrm>
            <a:off x="2956834" y="1441197"/>
            <a:ext cx="747600" cy="433500"/>
          </a:xfrm>
          <a:prstGeom prst="straightConnector1">
            <a:avLst/>
          </a:prstGeom>
          <a:noFill/>
          <a:ln w="9525" cap="flat" cmpd="sng">
            <a:solidFill>
              <a:schemeClr val="dk2"/>
            </a:solidFill>
            <a:prstDash val="solid"/>
            <a:round/>
            <a:headEnd type="none" w="med" len="med"/>
            <a:tailEnd type="triangle" w="med" len="med"/>
          </a:ln>
        </p:spPr>
      </p:cxnSp>
      <p:cxnSp>
        <p:nvCxnSpPr>
          <p:cNvPr id="361" name="Google Shape;361;p55"/>
          <p:cNvCxnSpPr>
            <a:stCxn id="358" idx="3"/>
            <a:endCxn id="360" idx="1"/>
          </p:cNvCxnSpPr>
          <p:nvPr/>
        </p:nvCxnSpPr>
        <p:spPr>
          <a:xfrm rot="10800000" flipH="1">
            <a:off x="2947619" y="1874751"/>
            <a:ext cx="756600" cy="484500"/>
          </a:xfrm>
          <a:prstGeom prst="straightConnector1">
            <a:avLst/>
          </a:prstGeom>
          <a:noFill/>
          <a:ln w="9525" cap="flat" cmpd="sng">
            <a:solidFill>
              <a:schemeClr val="dk2"/>
            </a:solidFill>
            <a:prstDash val="solid"/>
            <a:round/>
            <a:headEnd type="none" w="med" len="med"/>
            <a:tailEnd type="triangle" w="med" len="med"/>
          </a:ln>
        </p:spPr>
      </p:cxnSp>
      <p:sp>
        <p:nvSpPr>
          <p:cNvPr id="360" name="Google Shape;360;p55"/>
          <p:cNvSpPr/>
          <p:nvPr/>
        </p:nvSpPr>
        <p:spPr>
          <a:xfrm>
            <a:off x="3704365" y="1601609"/>
            <a:ext cx="1307400" cy="546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Raleway"/>
                <a:ea typeface="Raleway"/>
                <a:cs typeface="Raleway"/>
                <a:sym typeface="Raleway"/>
              </a:rPr>
              <a:t>Package</a:t>
            </a:r>
            <a:endParaRPr b="1">
              <a:latin typeface="Raleway"/>
              <a:ea typeface="Raleway"/>
              <a:cs typeface="Raleway"/>
              <a:sym typeface="Raleway"/>
            </a:endParaRPr>
          </a:p>
        </p:txBody>
      </p:sp>
      <p:sp>
        <p:nvSpPr>
          <p:cNvPr id="362" name="Google Shape;362;p55"/>
          <p:cNvSpPr/>
          <p:nvPr/>
        </p:nvSpPr>
        <p:spPr>
          <a:xfrm>
            <a:off x="5759302" y="1601609"/>
            <a:ext cx="1307400" cy="546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Raleway"/>
                <a:ea typeface="Raleway"/>
                <a:cs typeface="Raleway"/>
                <a:sym typeface="Raleway"/>
              </a:rPr>
              <a:t>Script</a:t>
            </a:r>
            <a:endParaRPr b="1">
              <a:latin typeface="Raleway"/>
              <a:ea typeface="Raleway"/>
              <a:cs typeface="Raleway"/>
              <a:sym typeface="Raleway"/>
            </a:endParaRPr>
          </a:p>
        </p:txBody>
      </p:sp>
      <p:cxnSp>
        <p:nvCxnSpPr>
          <p:cNvPr id="363" name="Google Shape;363;p55"/>
          <p:cNvCxnSpPr>
            <a:stCxn id="360" idx="3"/>
            <a:endCxn id="362" idx="1"/>
          </p:cNvCxnSpPr>
          <p:nvPr/>
        </p:nvCxnSpPr>
        <p:spPr>
          <a:xfrm>
            <a:off x="5011765" y="1874609"/>
            <a:ext cx="747600" cy="0"/>
          </a:xfrm>
          <a:prstGeom prst="straightConnector1">
            <a:avLst/>
          </a:prstGeom>
          <a:noFill/>
          <a:ln w="9525" cap="flat" cmpd="sng">
            <a:solidFill>
              <a:schemeClr val="dk2"/>
            </a:solidFill>
            <a:prstDash val="solid"/>
            <a:round/>
            <a:headEnd type="none" w="med" len="med"/>
            <a:tailEnd type="triangle" w="med" len="med"/>
          </a:ln>
        </p:spPr>
      </p:cxnSp>
      <p:sp>
        <p:nvSpPr>
          <p:cNvPr id="364" name="Google Shape;364;p55"/>
          <p:cNvSpPr txBox="1"/>
          <p:nvPr/>
        </p:nvSpPr>
        <p:spPr>
          <a:xfrm>
            <a:off x="5028633" y="1565920"/>
            <a:ext cx="747600" cy="1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38761D"/>
                </a:solidFill>
                <a:latin typeface="Raleway"/>
                <a:ea typeface="Raleway"/>
                <a:cs typeface="Raleway"/>
                <a:sym typeface="Raleway"/>
              </a:rPr>
              <a:t>import</a:t>
            </a:r>
            <a:endParaRPr sz="1300" b="1">
              <a:solidFill>
                <a:srgbClr val="38761D"/>
              </a:solidFill>
              <a:latin typeface="Raleway"/>
              <a:ea typeface="Raleway"/>
              <a:cs typeface="Raleway"/>
              <a:sym typeface="Raleway"/>
            </a:endParaRPr>
          </a:p>
        </p:txBody>
      </p:sp>
      <p:sp>
        <p:nvSpPr>
          <p:cNvPr id="365" name="Google Shape;365;p55"/>
          <p:cNvSpPr/>
          <p:nvPr/>
        </p:nvSpPr>
        <p:spPr>
          <a:xfrm rot="-5400000">
            <a:off x="626325" y="2257888"/>
            <a:ext cx="1101300" cy="203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aleway"/>
                <a:ea typeface="Raleway"/>
                <a:cs typeface="Raleway"/>
                <a:sym typeface="Raleway"/>
              </a:rPr>
              <a:t>functions</a:t>
            </a:r>
            <a:endParaRPr sz="1100">
              <a:latin typeface="Raleway"/>
              <a:ea typeface="Raleway"/>
              <a:cs typeface="Raleway"/>
              <a:sym typeface="Raleway"/>
            </a:endParaRPr>
          </a:p>
        </p:txBody>
      </p:sp>
      <p:sp>
        <p:nvSpPr>
          <p:cNvPr id="366" name="Google Shape;366;p55"/>
          <p:cNvSpPr/>
          <p:nvPr/>
        </p:nvSpPr>
        <p:spPr>
          <a:xfrm rot="-5400000">
            <a:off x="885975" y="1339272"/>
            <a:ext cx="582000" cy="203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aleway"/>
                <a:ea typeface="Raleway"/>
                <a:cs typeface="Raleway"/>
                <a:sym typeface="Raleway"/>
              </a:rPr>
              <a:t>greet</a:t>
            </a:r>
            <a:endParaRPr sz="1100">
              <a:latin typeface="Raleway"/>
              <a:ea typeface="Raleway"/>
              <a:cs typeface="Raleway"/>
              <a:sym typeface="Raleway"/>
            </a:endParaRPr>
          </a:p>
        </p:txBody>
      </p:sp>
      <p:sp>
        <p:nvSpPr>
          <p:cNvPr id="367" name="Google Shape;367;p55"/>
          <p:cNvSpPr/>
          <p:nvPr/>
        </p:nvSpPr>
        <p:spPr>
          <a:xfrm>
            <a:off x="3704433" y="2186127"/>
            <a:ext cx="1324200" cy="173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aleway"/>
                <a:ea typeface="Raleway"/>
                <a:cs typeface="Raleway"/>
                <a:sym typeface="Raleway"/>
              </a:rPr>
              <a:t>misc_modules</a:t>
            </a:r>
            <a:endParaRPr sz="1100">
              <a:latin typeface="Raleway"/>
              <a:ea typeface="Raleway"/>
              <a:cs typeface="Raleway"/>
              <a:sym typeface="Raleway"/>
            </a:endParaRPr>
          </a:p>
        </p:txBody>
      </p:sp>
      <p:sp>
        <p:nvSpPr>
          <p:cNvPr id="368" name="Google Shape;368;p55"/>
          <p:cNvSpPr/>
          <p:nvPr/>
        </p:nvSpPr>
        <p:spPr>
          <a:xfrm>
            <a:off x="4409625" y="2724150"/>
            <a:ext cx="3839400" cy="2039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5"/>
          <p:cNvSpPr/>
          <p:nvPr/>
        </p:nvSpPr>
        <p:spPr>
          <a:xfrm>
            <a:off x="4409550" y="2724150"/>
            <a:ext cx="3839400" cy="337800"/>
          </a:xfrm>
          <a:prstGeom prst="rect">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Raleway"/>
                <a:ea typeface="Raleway"/>
                <a:cs typeface="Raleway"/>
                <a:sym typeface="Raleway"/>
              </a:rPr>
              <a:t>Script</a:t>
            </a:r>
            <a:r>
              <a:rPr lang="en"/>
              <a:t> </a:t>
            </a:r>
            <a:endParaRPr/>
          </a:p>
        </p:txBody>
      </p:sp>
      <p:sp>
        <p:nvSpPr>
          <p:cNvPr id="370" name="Google Shape;370;p55"/>
          <p:cNvSpPr txBox="1"/>
          <p:nvPr/>
        </p:nvSpPr>
        <p:spPr>
          <a:xfrm>
            <a:off x="4417700" y="3065700"/>
            <a:ext cx="3831300" cy="16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38761D"/>
                </a:solidFill>
                <a:latin typeface="Courier New"/>
                <a:ea typeface="Courier New"/>
                <a:cs typeface="Courier New"/>
                <a:sym typeface="Courier New"/>
              </a:rPr>
              <a:t>from</a:t>
            </a:r>
            <a:r>
              <a:rPr lang="en">
                <a:latin typeface="Courier New"/>
                <a:ea typeface="Courier New"/>
                <a:cs typeface="Courier New"/>
                <a:sym typeface="Courier New"/>
              </a:rPr>
              <a:t> misc_modules </a:t>
            </a:r>
            <a:r>
              <a:rPr lang="en" b="1">
                <a:solidFill>
                  <a:srgbClr val="38761D"/>
                </a:solidFill>
                <a:latin typeface="Courier New"/>
                <a:ea typeface="Courier New"/>
                <a:cs typeface="Courier New"/>
                <a:sym typeface="Courier New"/>
              </a:rPr>
              <a:t>import</a:t>
            </a:r>
            <a:r>
              <a:rPr lang="en">
                <a:latin typeface="Courier New"/>
                <a:ea typeface="Courier New"/>
                <a:cs typeface="Courier New"/>
                <a:sym typeface="Courier New"/>
              </a:rPr>
              <a:t> functions</a:t>
            </a:r>
            <a:endParaRPr>
              <a:latin typeface="Courier New"/>
              <a:ea typeface="Courier New"/>
              <a:cs typeface="Courier New"/>
              <a:sym typeface="Courier New"/>
            </a:endParaRPr>
          </a:p>
          <a:p>
            <a:pPr marL="0" lvl="0" indent="0" algn="l" rtl="0">
              <a:spcBef>
                <a:spcPts val="0"/>
              </a:spcBef>
              <a:spcAft>
                <a:spcPts val="0"/>
              </a:spcAft>
              <a:buNone/>
            </a:pPr>
            <a:endParaRPr>
              <a:latin typeface="Courier New"/>
              <a:ea typeface="Courier New"/>
              <a:cs typeface="Courier New"/>
              <a:sym typeface="Courier New"/>
            </a:endParaRPr>
          </a:p>
          <a:p>
            <a:pPr marL="0" lvl="0" indent="0" algn="l" rtl="0">
              <a:spcBef>
                <a:spcPts val="0"/>
              </a:spcBef>
              <a:spcAft>
                <a:spcPts val="0"/>
              </a:spcAft>
              <a:buNone/>
            </a:pPr>
            <a:r>
              <a:rPr lang="en">
                <a:latin typeface="Courier New"/>
                <a:ea typeface="Courier New"/>
                <a:cs typeface="Courier New"/>
                <a:sym typeface="Courier New"/>
              </a:rPr>
              <a:t>&gt;&gt;&gt;functions.sum(3,2)</a:t>
            </a:r>
            <a:endParaRPr>
              <a:latin typeface="Courier New"/>
              <a:ea typeface="Courier New"/>
              <a:cs typeface="Courier New"/>
              <a:sym typeface="Courier New"/>
            </a:endParaRPr>
          </a:p>
          <a:p>
            <a:pPr marL="0" lvl="0" indent="0" algn="l" rtl="0">
              <a:spcBef>
                <a:spcPts val="0"/>
              </a:spcBef>
              <a:spcAft>
                <a:spcPts val="0"/>
              </a:spcAft>
              <a:buNone/>
            </a:pPr>
            <a:r>
              <a:rPr lang="en">
                <a:latin typeface="Courier New"/>
                <a:ea typeface="Courier New"/>
                <a:cs typeface="Courier New"/>
                <a:sym typeface="Courier New"/>
              </a:rPr>
              <a:t>5</a:t>
            </a:r>
            <a:endParaRPr>
              <a:latin typeface="Courier New"/>
              <a:ea typeface="Courier New"/>
              <a:cs typeface="Courier New"/>
              <a:sym typeface="Courier New"/>
            </a:endParaRPr>
          </a:p>
          <a:p>
            <a:pPr marL="0" lvl="0" indent="0" algn="l" rtl="0">
              <a:spcBef>
                <a:spcPts val="0"/>
              </a:spcBef>
              <a:spcAft>
                <a:spcPts val="0"/>
              </a:spcAft>
              <a:buNone/>
            </a:pPr>
            <a:endParaRPr>
              <a:latin typeface="Courier New"/>
              <a:ea typeface="Courier New"/>
              <a:cs typeface="Courier New"/>
              <a:sym typeface="Courier New"/>
            </a:endParaRPr>
          </a:p>
          <a:p>
            <a:pPr marL="0" lvl="0" indent="0" algn="l" rtl="0">
              <a:spcBef>
                <a:spcPts val="0"/>
              </a:spcBef>
              <a:spcAft>
                <a:spcPts val="0"/>
              </a:spcAft>
              <a:buNone/>
            </a:pPr>
            <a:r>
              <a:rPr lang="en">
                <a:latin typeface="Courier New"/>
                <a:ea typeface="Courier New"/>
                <a:cs typeface="Courier New"/>
                <a:sym typeface="Courier New"/>
              </a:rPr>
              <a:t>&gt;&gt;&gt;functions.average(3,2)</a:t>
            </a:r>
            <a:endParaRPr>
              <a:latin typeface="Courier New"/>
              <a:ea typeface="Courier New"/>
              <a:cs typeface="Courier New"/>
              <a:sym typeface="Courier New"/>
            </a:endParaRPr>
          </a:p>
          <a:p>
            <a:pPr marL="0" lvl="0" indent="0" algn="l" rtl="0">
              <a:spcBef>
                <a:spcPts val="0"/>
              </a:spcBef>
              <a:spcAft>
                <a:spcPts val="0"/>
              </a:spcAft>
              <a:buNone/>
            </a:pPr>
            <a:r>
              <a:rPr lang="en">
                <a:latin typeface="Courier New"/>
                <a:ea typeface="Courier New"/>
                <a:cs typeface="Courier New"/>
                <a:sym typeface="Courier New"/>
              </a:rPr>
              <a:t>2.5</a:t>
            </a:r>
            <a:endParaRPr>
              <a:latin typeface="Courier New"/>
              <a:ea typeface="Courier New"/>
              <a:cs typeface="Courier New"/>
              <a:sym typeface="Courier New"/>
            </a:endParaRPr>
          </a:p>
          <a:p>
            <a:pPr marL="0" lvl="0" indent="0" algn="l" rtl="0">
              <a:spcBef>
                <a:spcPts val="0"/>
              </a:spcBef>
              <a:spcAft>
                <a:spcPts val="0"/>
              </a:spcAft>
              <a:buNone/>
            </a:pPr>
            <a:endParaRPr>
              <a:latin typeface="Courier New"/>
              <a:ea typeface="Courier New"/>
              <a:cs typeface="Courier New"/>
              <a:sym typeface="Courier New"/>
            </a:endParaRPr>
          </a:p>
        </p:txBody>
      </p:sp>
      <p:cxnSp>
        <p:nvCxnSpPr>
          <p:cNvPr id="371" name="Google Shape;371;p55"/>
          <p:cNvCxnSpPr/>
          <p:nvPr/>
        </p:nvCxnSpPr>
        <p:spPr>
          <a:xfrm flipH="1">
            <a:off x="4977225" y="2129725"/>
            <a:ext cx="813600" cy="592800"/>
          </a:xfrm>
          <a:prstGeom prst="straightConnector1">
            <a:avLst/>
          </a:prstGeom>
          <a:noFill/>
          <a:ln w="9525" cap="flat" cmpd="sng">
            <a:solidFill>
              <a:schemeClr val="dk2"/>
            </a:solidFill>
            <a:prstDash val="solid"/>
            <a:round/>
            <a:headEnd type="none" w="med" len="med"/>
            <a:tailEnd type="none" w="med" len="med"/>
          </a:ln>
        </p:spPr>
      </p:cxnSp>
      <p:cxnSp>
        <p:nvCxnSpPr>
          <p:cNvPr id="372" name="Google Shape;372;p55"/>
          <p:cNvCxnSpPr/>
          <p:nvPr/>
        </p:nvCxnSpPr>
        <p:spPr>
          <a:xfrm>
            <a:off x="7018250" y="2129725"/>
            <a:ext cx="813600" cy="5928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6"/>
          <p:cNvSpPr txBox="1">
            <a:spLocks noGrp="1"/>
          </p:cNvSpPr>
          <p:nvPr>
            <p:ph type="title"/>
          </p:nvPr>
        </p:nvSpPr>
        <p:spPr>
          <a:xfrm>
            <a:off x="387900" y="2164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Common Python Packages</a:t>
            </a:r>
            <a:endParaRPr b="1">
              <a:latin typeface="Raleway"/>
              <a:ea typeface="Raleway"/>
              <a:cs typeface="Raleway"/>
              <a:sym typeface="Raleway"/>
            </a:endParaRPr>
          </a:p>
          <a:p>
            <a:pPr marL="457200" lvl="0" indent="0" algn="l" rtl="0">
              <a:spcBef>
                <a:spcPts val="0"/>
              </a:spcBef>
              <a:spcAft>
                <a:spcPts val="0"/>
              </a:spcAft>
              <a:buNone/>
            </a:pPr>
            <a:endParaRPr/>
          </a:p>
        </p:txBody>
      </p:sp>
      <p:sp>
        <p:nvSpPr>
          <p:cNvPr id="378" name="Google Shape;378;p56"/>
          <p:cNvSpPr txBox="1">
            <a:spLocks noGrp="1"/>
          </p:cNvSpPr>
          <p:nvPr>
            <p:ph type="body" idx="1"/>
          </p:nvPr>
        </p:nvSpPr>
        <p:spPr>
          <a:xfrm>
            <a:off x="387900" y="755650"/>
            <a:ext cx="8520600" cy="358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latin typeface="Raleway"/>
                <a:ea typeface="Raleway"/>
                <a:cs typeface="Raleway"/>
                <a:sym typeface="Raleway"/>
              </a:rPr>
              <a:t>You don’t have to reinvent the wheel!</a:t>
            </a:r>
            <a:endParaRPr>
              <a:solidFill>
                <a:srgbClr val="000000"/>
              </a:solidFill>
              <a:latin typeface="Raleway"/>
              <a:ea typeface="Raleway"/>
              <a:cs typeface="Raleway"/>
              <a:sym typeface="Raleway"/>
            </a:endParaRPr>
          </a:p>
          <a:p>
            <a:pPr marL="457200" lvl="0" indent="-342900" algn="l" rtl="0">
              <a:spcBef>
                <a:spcPts val="1600"/>
              </a:spcBef>
              <a:spcAft>
                <a:spcPts val="0"/>
              </a:spcAft>
              <a:buClr>
                <a:srgbClr val="000000"/>
              </a:buClr>
              <a:buSzPts val="1800"/>
              <a:buFont typeface="Raleway"/>
              <a:buChar char="●"/>
            </a:pPr>
            <a:r>
              <a:rPr lang="en">
                <a:solidFill>
                  <a:srgbClr val="000000"/>
                </a:solidFill>
                <a:latin typeface="Raleway"/>
                <a:ea typeface="Raleway"/>
                <a:cs typeface="Raleway"/>
                <a:sym typeface="Raleway"/>
              </a:rPr>
              <a:t>Math</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Numpy</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Scipy</a:t>
            </a:r>
            <a:endParaRPr>
              <a:solidFill>
                <a:srgbClr val="000000"/>
              </a:solidFill>
              <a:latin typeface="Raleway"/>
              <a:ea typeface="Raleway"/>
              <a:cs typeface="Raleway"/>
              <a:sym typeface="Raleway"/>
            </a:endParaRPr>
          </a:p>
          <a:p>
            <a:pPr marL="457200" lvl="0" indent="-342900" algn="l" rtl="0">
              <a:spcBef>
                <a:spcPts val="0"/>
              </a:spcBef>
              <a:spcAft>
                <a:spcPts val="0"/>
              </a:spcAft>
              <a:buClr>
                <a:srgbClr val="000000"/>
              </a:buClr>
              <a:buSzPts val="1800"/>
              <a:buFont typeface="Raleway"/>
              <a:buChar char="●"/>
            </a:pPr>
            <a:r>
              <a:rPr lang="en">
                <a:solidFill>
                  <a:srgbClr val="000000"/>
                </a:solidFill>
                <a:latin typeface="Raleway"/>
                <a:ea typeface="Raleway"/>
                <a:cs typeface="Raleway"/>
                <a:sym typeface="Raleway"/>
              </a:rPr>
              <a:t>Graphing </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Matplotlib </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Seaborn</a:t>
            </a:r>
            <a:endParaRPr>
              <a:solidFill>
                <a:srgbClr val="000000"/>
              </a:solidFill>
              <a:latin typeface="Raleway"/>
              <a:ea typeface="Raleway"/>
              <a:cs typeface="Raleway"/>
              <a:sym typeface="Raleway"/>
            </a:endParaRPr>
          </a:p>
          <a:p>
            <a:pPr marL="457200" lvl="0" indent="-342900" algn="l" rtl="0">
              <a:spcBef>
                <a:spcPts val="0"/>
              </a:spcBef>
              <a:spcAft>
                <a:spcPts val="0"/>
              </a:spcAft>
              <a:buClr>
                <a:srgbClr val="000000"/>
              </a:buClr>
              <a:buSzPts val="1800"/>
              <a:buFont typeface="Raleway"/>
              <a:buChar char="●"/>
            </a:pPr>
            <a:r>
              <a:rPr lang="en">
                <a:solidFill>
                  <a:srgbClr val="000000"/>
                </a:solidFill>
                <a:latin typeface="Raleway"/>
                <a:ea typeface="Raleway"/>
                <a:cs typeface="Raleway"/>
                <a:sym typeface="Raleway"/>
              </a:rPr>
              <a:t>Data Manipulation/Analysis</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Pandas</a:t>
            </a:r>
            <a:endParaRPr>
              <a:solidFill>
                <a:srgbClr val="000000"/>
              </a:solidFill>
              <a:latin typeface="Raleway"/>
              <a:ea typeface="Raleway"/>
              <a:cs typeface="Raleway"/>
              <a:sym typeface="Raleway"/>
            </a:endParaRPr>
          </a:p>
          <a:p>
            <a:pPr marL="457200" lvl="0" indent="-342900" algn="l" rtl="0">
              <a:spcBef>
                <a:spcPts val="0"/>
              </a:spcBef>
              <a:spcAft>
                <a:spcPts val="0"/>
              </a:spcAft>
              <a:buClr>
                <a:srgbClr val="000000"/>
              </a:buClr>
              <a:buSzPts val="1800"/>
              <a:buFont typeface="Raleway"/>
              <a:buChar char="●"/>
            </a:pPr>
            <a:r>
              <a:rPr lang="en">
                <a:solidFill>
                  <a:srgbClr val="000000"/>
                </a:solidFill>
                <a:latin typeface="Raleway"/>
                <a:ea typeface="Raleway"/>
                <a:cs typeface="Raleway"/>
                <a:sym typeface="Raleway"/>
              </a:rPr>
              <a:t>Operating System Functionalities</a:t>
            </a:r>
            <a:endParaRPr>
              <a:solidFill>
                <a:srgbClr val="000000"/>
              </a:solidFill>
              <a:latin typeface="Raleway"/>
              <a:ea typeface="Raleway"/>
              <a:cs typeface="Raleway"/>
              <a:sym typeface="Raleway"/>
            </a:endParaRPr>
          </a:p>
          <a:p>
            <a:pPr marL="914400" lvl="1" indent="-317500" algn="l" rtl="0">
              <a:spcBef>
                <a:spcPts val="0"/>
              </a:spcBef>
              <a:spcAft>
                <a:spcPts val="0"/>
              </a:spcAft>
              <a:buClr>
                <a:schemeClr val="dk1"/>
              </a:buClr>
              <a:buSzPts val="1400"/>
              <a:buFont typeface="Raleway"/>
              <a:buChar char="○"/>
            </a:pPr>
            <a:r>
              <a:rPr lang="en" sz="1400">
                <a:solidFill>
                  <a:schemeClr val="dk1"/>
                </a:solidFill>
                <a:latin typeface="Raleway"/>
                <a:ea typeface="Raleway"/>
                <a:cs typeface="Raleway"/>
                <a:sym typeface="Raleway"/>
              </a:rPr>
              <a:t>os</a:t>
            </a:r>
            <a:endParaRPr>
              <a:solidFill>
                <a:srgbClr val="000000"/>
              </a:solidFill>
              <a:latin typeface="Raleway"/>
              <a:ea typeface="Raleway"/>
              <a:cs typeface="Raleway"/>
              <a:sym typeface="Raleway"/>
            </a:endParaRPr>
          </a:p>
          <a:p>
            <a:pPr marL="457200" lvl="0" indent="-342900" algn="l" rtl="0">
              <a:spcBef>
                <a:spcPts val="0"/>
              </a:spcBef>
              <a:spcAft>
                <a:spcPts val="0"/>
              </a:spcAft>
              <a:buClr>
                <a:schemeClr val="dk1"/>
              </a:buClr>
              <a:buSzPts val="1800"/>
              <a:buFont typeface="Raleway"/>
              <a:buChar char="●"/>
            </a:pPr>
            <a:r>
              <a:rPr lang="en">
                <a:solidFill>
                  <a:schemeClr val="dk1"/>
                </a:solidFill>
                <a:latin typeface="Raleway"/>
                <a:ea typeface="Raleway"/>
                <a:cs typeface="Raleway"/>
                <a:sym typeface="Raleway"/>
              </a:rPr>
              <a:t>Machine Learning</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Scikit Learn</a:t>
            </a:r>
            <a:endParaRPr>
              <a:solidFill>
                <a:srgbClr val="000000"/>
              </a:solidFill>
              <a:latin typeface="Raleway"/>
              <a:ea typeface="Raleway"/>
              <a:cs typeface="Raleway"/>
              <a:sym typeface="Raleway"/>
            </a:endParaRPr>
          </a:p>
          <a:p>
            <a:pPr marL="914400" lvl="1" indent="-317500" algn="l" rtl="0">
              <a:spcBef>
                <a:spcPts val="0"/>
              </a:spcBef>
              <a:spcAft>
                <a:spcPts val="0"/>
              </a:spcAft>
              <a:buClr>
                <a:srgbClr val="000000"/>
              </a:buClr>
              <a:buSzPts val="1400"/>
              <a:buFont typeface="Raleway"/>
              <a:buChar char="○"/>
            </a:pPr>
            <a:r>
              <a:rPr lang="en">
                <a:solidFill>
                  <a:srgbClr val="000000"/>
                </a:solidFill>
                <a:latin typeface="Raleway"/>
                <a:ea typeface="Raleway"/>
                <a:cs typeface="Raleway"/>
                <a:sym typeface="Raleway"/>
              </a:rPr>
              <a:t>Pytorch</a:t>
            </a:r>
            <a:endParaRPr>
              <a:solidFill>
                <a:srgbClr val="000000"/>
              </a:solidFill>
              <a:latin typeface="Raleway"/>
              <a:ea typeface="Raleway"/>
              <a:cs typeface="Raleway"/>
              <a:sym typeface="Raleway"/>
            </a:endParaRPr>
          </a:p>
          <a:p>
            <a:pPr marL="0" lvl="0" indent="0" algn="l" rtl="0">
              <a:spcBef>
                <a:spcPts val="1600"/>
              </a:spcBef>
              <a:spcAft>
                <a:spcPts val="0"/>
              </a:spcAft>
              <a:buNone/>
            </a:pPr>
            <a:endParaRPr>
              <a:solidFill>
                <a:srgbClr val="000000"/>
              </a:solidFill>
              <a:latin typeface="Raleway"/>
              <a:ea typeface="Raleway"/>
              <a:cs typeface="Raleway"/>
              <a:sym typeface="Raleway"/>
            </a:endParaRPr>
          </a:p>
          <a:p>
            <a:pPr marL="457200" lvl="0" indent="0" algn="l" rtl="0">
              <a:spcBef>
                <a:spcPts val="1600"/>
              </a:spcBef>
              <a:spcAft>
                <a:spcPts val="1600"/>
              </a:spcAft>
              <a:buNone/>
            </a:pPr>
            <a:endParaRPr/>
          </a:p>
        </p:txBody>
      </p:sp>
      <p:pic>
        <p:nvPicPr>
          <p:cNvPr id="379" name="Google Shape;379;p56"/>
          <p:cNvPicPr preferRelativeResize="0"/>
          <p:nvPr/>
        </p:nvPicPr>
        <p:blipFill>
          <a:blip r:embed="rId3">
            <a:alphaModFix/>
          </a:blip>
          <a:stretch>
            <a:fillRect/>
          </a:stretch>
        </p:blipFill>
        <p:spPr>
          <a:xfrm>
            <a:off x="5529375" y="1667650"/>
            <a:ext cx="2672700" cy="2672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158CC1DE-D3E2-80D2-1165-B20C5830D00D}"/>
              </a:ext>
            </a:extLst>
          </p:cNvPr>
          <p:cNvPicPr>
            <a:picLocks noChangeAspect="1"/>
          </p:cNvPicPr>
          <p:nvPr/>
        </p:nvPicPr>
        <p:blipFill>
          <a:blip r:embed="rId3"/>
          <a:stretch>
            <a:fillRect/>
          </a:stretch>
        </p:blipFill>
        <p:spPr>
          <a:xfrm>
            <a:off x="1753208" y="660633"/>
            <a:ext cx="5639518" cy="2969546"/>
          </a:xfrm>
          <a:prstGeom prst="rect">
            <a:avLst/>
          </a:prstGeom>
        </p:spPr>
      </p:pic>
      <p:sp>
        <p:nvSpPr>
          <p:cNvPr id="384" name="Google Shape;384;p5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p>
            <a:pPr marL="0" indent="0"/>
            <a:r>
              <a:rPr lang="en" sz="3000" b="1">
                <a:solidFill>
                  <a:srgbClr val="000000"/>
                </a:solidFill>
                <a:latin typeface="Raleway"/>
                <a:ea typeface="Raleway"/>
                <a:cs typeface="Raleway"/>
                <a:sym typeface="Raleway"/>
              </a:rPr>
              <a:t>DEMO: Python Packages</a:t>
            </a:r>
            <a:endParaRPr lang="en" sz="3000" b="1">
              <a:solidFill>
                <a:srgbClr val="000000"/>
              </a:solidFill>
              <a:latin typeface="Raleway"/>
              <a:ea typeface="Raleway"/>
              <a:cs typeface="Raleway"/>
            </a:endParaRPr>
          </a:p>
        </p:txBody>
      </p:sp>
      <p:sp>
        <p:nvSpPr>
          <p:cNvPr id="386" name="Google Shape;386;p57"/>
          <p:cNvSpPr/>
          <p:nvPr/>
        </p:nvSpPr>
        <p:spPr>
          <a:xfrm>
            <a:off x="3839578" y="2145228"/>
            <a:ext cx="2251777" cy="351900"/>
          </a:xfrm>
          <a:prstGeom prst="leftArrow">
            <a:avLst>
              <a:gd name="adj1" fmla="val 50000"/>
              <a:gd name="adj2" fmla="val 50000"/>
            </a:avLst>
          </a:prstGeom>
          <a:solidFill>
            <a:srgbClr val="93C4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9667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2"/>
          <p:cNvSpPr txBox="1">
            <a:spLocks noGrp="1"/>
          </p:cNvSpPr>
          <p:nvPr>
            <p:ph type="title"/>
          </p:nvPr>
        </p:nvSpPr>
        <p:spPr>
          <a:xfrm>
            <a:off x="311700" y="147275"/>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aleway"/>
                <a:ea typeface="Raleway"/>
                <a:cs typeface="Raleway"/>
                <a:sym typeface="Raleway"/>
              </a:rPr>
              <a:t>10 minute break!</a:t>
            </a:r>
            <a:endParaRPr>
              <a:latin typeface="Raleway"/>
              <a:ea typeface="Raleway"/>
              <a:cs typeface="Raleway"/>
              <a:sym typeface="Raleway"/>
            </a:endParaRPr>
          </a:p>
        </p:txBody>
      </p:sp>
      <p:pic>
        <p:nvPicPr>
          <p:cNvPr id="315" name="Google Shape;315;p52"/>
          <p:cNvPicPr preferRelativeResize="0"/>
          <p:nvPr/>
        </p:nvPicPr>
        <p:blipFill>
          <a:blip r:embed="rId3">
            <a:alphaModFix/>
          </a:blip>
          <a:stretch>
            <a:fillRect/>
          </a:stretch>
        </p:blipFill>
        <p:spPr>
          <a:xfrm>
            <a:off x="1458400" y="912875"/>
            <a:ext cx="6227200" cy="4154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0DDCCAC9-9D32-20C8-D99C-04D716E4D3A9}"/>
            </a:ext>
          </a:extLst>
        </p:cNvPr>
        <p:cNvGrpSpPr/>
        <p:nvPr/>
      </p:nvGrpSpPr>
      <p:grpSpPr>
        <a:xfrm>
          <a:off x="0" y="0"/>
          <a:ext cx="0" cy="0"/>
          <a:chOff x="0" y="0"/>
          <a:chExt cx="0" cy="0"/>
        </a:xfrm>
      </p:grpSpPr>
      <p:sp>
        <p:nvSpPr>
          <p:cNvPr id="200" name="Google Shape;200;p38">
            <a:extLst>
              <a:ext uri="{FF2B5EF4-FFF2-40B4-BE49-F238E27FC236}">
                <a16:creationId xmlns:a16="http://schemas.microsoft.com/office/drawing/2014/main" id="{EB15CA58-6075-1EAE-8EEA-158FB7B658F0}"/>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Raleway"/>
              <a:buChar char="●"/>
            </a:pPr>
            <a:r>
              <a:rPr lang="en" dirty="0">
                <a:solidFill>
                  <a:srgbClr val="999999"/>
                </a:solidFill>
                <a:latin typeface="Raleway"/>
                <a:sym typeface="Raleway"/>
              </a:rPr>
              <a:t>Basics of </a:t>
            </a:r>
            <a:r>
              <a:rPr lang="en" dirty="0" err="1">
                <a:solidFill>
                  <a:srgbClr val="999999"/>
                </a:solidFill>
                <a:latin typeface="Raleway"/>
                <a:sym typeface="Raleway"/>
              </a:rPr>
              <a:t>Jupyter</a:t>
            </a:r>
            <a:r>
              <a:rPr lang="en" dirty="0">
                <a:solidFill>
                  <a:srgbClr val="999999"/>
                </a:solidFill>
                <a:latin typeface="Raleway"/>
                <a:sym typeface="Raleway"/>
              </a:rPr>
              <a:t> Notebook</a:t>
            </a:r>
          </a:p>
          <a:p>
            <a:pPr marL="457200" lvl="0" indent="-342900" algn="l" rtl="0">
              <a:spcBef>
                <a:spcPts val="0"/>
              </a:spcBef>
              <a:spcAft>
                <a:spcPts val="0"/>
              </a:spcAft>
              <a:buClr>
                <a:schemeClr val="dk1"/>
              </a:buClr>
              <a:buSzPts val="1800"/>
              <a:buFont typeface="Raleway"/>
              <a:buChar char="●"/>
            </a:pPr>
            <a:r>
              <a:rPr lang="en" dirty="0">
                <a:solidFill>
                  <a:srgbClr val="999999"/>
                </a:solidFill>
                <a:latin typeface="Raleway"/>
                <a:sym typeface="Raleway"/>
              </a:rPr>
              <a:t>Basics of Programming in Python</a:t>
            </a:r>
            <a:endParaRPr dirty="0">
              <a:solidFill>
                <a:srgbClr val="999999"/>
              </a:solidFill>
              <a:latin typeface="Raleway"/>
              <a:sym typeface="Raleway"/>
            </a:endParaRPr>
          </a:p>
          <a:p>
            <a:pPr marL="914400" lvl="1" indent="-317500" algn="l" rtl="0">
              <a:spcBef>
                <a:spcPts val="0"/>
              </a:spcBef>
              <a:spcAft>
                <a:spcPts val="0"/>
              </a:spcAft>
              <a:buClr>
                <a:schemeClr val="dk1"/>
              </a:buClr>
              <a:buSzPts val="1400"/>
              <a:buFont typeface="Raleway"/>
              <a:buChar char="○"/>
            </a:pPr>
            <a:r>
              <a:rPr lang="en" dirty="0">
                <a:solidFill>
                  <a:srgbClr val="999999"/>
                </a:solidFill>
                <a:latin typeface="Raleway"/>
                <a:sym typeface="Raleway"/>
              </a:rPr>
              <a:t>Fundamentals</a:t>
            </a:r>
            <a:endParaRPr dirty="0">
              <a:solidFill>
                <a:srgbClr val="999999"/>
              </a:solidFill>
              <a:latin typeface="Raleway"/>
              <a:sym typeface="Raleway"/>
            </a:endParaRPr>
          </a:p>
          <a:p>
            <a:pPr marL="914400" lvl="1" indent="-317500" algn="l" rtl="0">
              <a:spcBef>
                <a:spcPts val="0"/>
              </a:spcBef>
              <a:spcAft>
                <a:spcPts val="0"/>
              </a:spcAft>
              <a:buClr>
                <a:schemeClr val="dk1"/>
              </a:buClr>
              <a:buSzPts val="1400"/>
              <a:buFont typeface="Raleway"/>
              <a:buChar char="○"/>
            </a:pPr>
            <a:r>
              <a:rPr lang="en" dirty="0">
                <a:solidFill>
                  <a:srgbClr val="999999"/>
                </a:solidFill>
                <a:latin typeface="Raleway"/>
                <a:sym typeface="Raleway"/>
              </a:rPr>
              <a:t>Packages</a:t>
            </a:r>
            <a:endParaRPr dirty="0">
              <a:solidFill>
                <a:srgbClr val="999999"/>
              </a:solidFill>
              <a:latin typeface="Raleway"/>
              <a:sym typeface="Raleway"/>
            </a:endParaRPr>
          </a:p>
          <a:p>
            <a:pPr marL="457200" lvl="0" indent="-342900" algn="l" rtl="0">
              <a:spcBef>
                <a:spcPts val="0"/>
              </a:spcBef>
              <a:spcAft>
                <a:spcPts val="0"/>
              </a:spcAft>
              <a:buClr>
                <a:srgbClr val="999999"/>
              </a:buClr>
              <a:buSzPts val="1800"/>
              <a:buFont typeface="Raleway"/>
              <a:buChar char="●"/>
            </a:pPr>
            <a:r>
              <a:rPr lang="en" dirty="0">
                <a:solidFill>
                  <a:schemeClr val="tx1"/>
                </a:solidFill>
                <a:latin typeface="Raleway"/>
                <a:ea typeface="Raleway"/>
                <a:cs typeface="Raleway"/>
                <a:sym typeface="Raleway"/>
              </a:rPr>
              <a:t>Basics of Programming in R</a:t>
            </a:r>
          </a:p>
          <a:p>
            <a:pPr lvl="1" indent="-342900">
              <a:spcBef>
                <a:spcPts val="0"/>
              </a:spcBef>
              <a:buClr>
                <a:srgbClr val="999999"/>
              </a:buClr>
              <a:buSzPts val="1800"/>
              <a:buFont typeface="Raleway"/>
              <a:buChar char="●"/>
            </a:pPr>
            <a:r>
              <a:rPr lang="en" dirty="0">
                <a:solidFill>
                  <a:schemeClr val="tx1"/>
                </a:solidFill>
                <a:latin typeface="Raleway"/>
                <a:ea typeface="Raleway"/>
                <a:cs typeface="Raleway"/>
                <a:sym typeface="Raleway"/>
              </a:rPr>
              <a:t>Fundamentals</a:t>
            </a:r>
          </a:p>
          <a:p>
            <a:pPr lvl="1" indent="-342900">
              <a:spcBef>
                <a:spcPts val="0"/>
              </a:spcBef>
              <a:buClr>
                <a:srgbClr val="999999"/>
              </a:buClr>
              <a:buSzPts val="1800"/>
              <a:buFont typeface="Raleway"/>
              <a:buChar char="●"/>
            </a:pPr>
            <a:r>
              <a:rPr lang="en" dirty="0">
                <a:solidFill>
                  <a:schemeClr val="tx1"/>
                </a:solidFill>
                <a:latin typeface="Raleway"/>
                <a:ea typeface="Raleway"/>
                <a:cs typeface="Raleway"/>
                <a:sym typeface="Raleway"/>
              </a:rPr>
              <a:t>Packages</a:t>
            </a:r>
            <a:endParaRPr dirty="0">
              <a:solidFill>
                <a:schemeClr val="tx1"/>
              </a:solidFill>
              <a:latin typeface="Raleway"/>
              <a:ea typeface="Raleway"/>
              <a:cs typeface="Raleway"/>
              <a:sym typeface="Raleway"/>
            </a:endParaRPr>
          </a:p>
        </p:txBody>
      </p:sp>
      <p:sp>
        <p:nvSpPr>
          <p:cNvPr id="201" name="Google Shape;201;p38">
            <a:extLst>
              <a:ext uri="{FF2B5EF4-FFF2-40B4-BE49-F238E27FC236}">
                <a16:creationId xmlns:a16="http://schemas.microsoft.com/office/drawing/2014/main" id="{10804EB6-6D61-18D6-6143-4F13CCCC738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Outline for Day 1</a:t>
            </a:r>
            <a:endParaRPr b="1">
              <a:latin typeface="Raleway"/>
              <a:ea typeface="Raleway"/>
              <a:cs typeface="Raleway"/>
              <a:sym typeface="Raleway"/>
            </a:endParaRPr>
          </a:p>
        </p:txBody>
      </p:sp>
    </p:spTree>
    <p:extLst>
      <p:ext uri="{BB962C8B-B14F-4D97-AF65-F5344CB8AC3E}">
        <p14:creationId xmlns:p14="http://schemas.microsoft.com/office/powerpoint/2010/main" val="762802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Google Shape;1302;p1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Introduction to R: What is R?</a:t>
            </a:r>
            <a:endParaRPr b="1">
              <a:latin typeface="Raleway"/>
              <a:ea typeface="Raleway"/>
              <a:cs typeface="Raleway"/>
              <a:sym typeface="Raleway"/>
            </a:endParaRPr>
          </a:p>
        </p:txBody>
      </p:sp>
      <p:sp>
        <p:nvSpPr>
          <p:cNvPr id="1303" name="Google Shape;1303;p149"/>
          <p:cNvSpPr txBox="1">
            <a:spLocks noGrp="1"/>
          </p:cNvSpPr>
          <p:nvPr>
            <p:ph type="body" idx="1"/>
          </p:nvPr>
        </p:nvSpPr>
        <p:spPr>
          <a:xfrm>
            <a:off x="311700" y="1263400"/>
            <a:ext cx="4477500" cy="3416400"/>
          </a:xfrm>
          <a:prstGeom prst="rect">
            <a:avLst/>
          </a:prstGeom>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rgbClr val="000000"/>
              </a:buClr>
              <a:buSzPts val="1800"/>
              <a:buFont typeface="Raleway"/>
              <a:buChar char="●"/>
            </a:pPr>
            <a:r>
              <a:rPr lang="en">
                <a:solidFill>
                  <a:srgbClr val="000000"/>
                </a:solidFill>
                <a:latin typeface="Raleway"/>
                <a:ea typeface="Raleway"/>
                <a:cs typeface="Raleway"/>
                <a:sym typeface="Raleway"/>
              </a:rPr>
              <a:t>R is a high-level language used by many statisticians</a:t>
            </a:r>
            <a:endParaRPr>
              <a:solidFill>
                <a:srgbClr val="000000"/>
              </a:solidFill>
              <a:latin typeface="Raleway"/>
              <a:ea typeface="Raleway"/>
              <a:cs typeface="Raleway"/>
              <a:sym typeface="Raleway"/>
            </a:endParaRPr>
          </a:p>
          <a:p>
            <a:pPr marL="457200" lvl="0" indent="-342900" algn="l" rtl="0">
              <a:lnSpc>
                <a:spcPct val="100000"/>
              </a:lnSpc>
              <a:spcBef>
                <a:spcPts val="1000"/>
              </a:spcBef>
              <a:spcAft>
                <a:spcPts val="0"/>
              </a:spcAft>
              <a:buClr>
                <a:srgbClr val="000000"/>
              </a:buClr>
              <a:buSzPts val="1800"/>
              <a:buFont typeface="Raleway"/>
              <a:buChar char="●"/>
            </a:pPr>
            <a:r>
              <a:rPr lang="en" b="1">
                <a:solidFill>
                  <a:schemeClr val="dk1"/>
                </a:solidFill>
                <a:latin typeface="Raleway"/>
                <a:ea typeface="Raleway"/>
                <a:cs typeface="Raleway"/>
                <a:sym typeface="Raleway"/>
              </a:rPr>
              <a:t>Strengths: data analysis, complex statistics, detailed visualizations</a:t>
            </a:r>
            <a:endParaRPr>
              <a:solidFill>
                <a:srgbClr val="000000"/>
              </a:solidFill>
              <a:latin typeface="Raleway"/>
              <a:ea typeface="Raleway"/>
              <a:cs typeface="Raleway"/>
              <a:sym typeface="Raleway"/>
            </a:endParaRPr>
          </a:p>
          <a:p>
            <a:pPr marL="457200" lvl="0" indent="-342900" algn="l" rtl="0">
              <a:lnSpc>
                <a:spcPct val="100000"/>
              </a:lnSpc>
              <a:spcBef>
                <a:spcPts val="1000"/>
              </a:spcBef>
              <a:spcAft>
                <a:spcPts val="0"/>
              </a:spcAft>
              <a:buClr>
                <a:srgbClr val="000000"/>
              </a:buClr>
              <a:buSzPts val="1800"/>
              <a:buFont typeface="Raleway"/>
              <a:buChar char="●"/>
            </a:pPr>
            <a:r>
              <a:rPr lang="en">
                <a:solidFill>
                  <a:srgbClr val="000000"/>
                </a:solidFill>
                <a:latin typeface="Raleway"/>
                <a:ea typeface="Raleway"/>
                <a:cs typeface="Raleway"/>
                <a:sym typeface="Raleway"/>
              </a:rPr>
              <a:t>Similarities to python</a:t>
            </a:r>
            <a:endParaRPr>
              <a:solidFill>
                <a:srgbClr val="000000"/>
              </a:solidFill>
              <a:latin typeface="Raleway"/>
              <a:ea typeface="Raleway"/>
              <a:cs typeface="Raleway"/>
              <a:sym typeface="Raleway"/>
            </a:endParaRPr>
          </a:p>
          <a:p>
            <a:pPr marL="914400" lvl="1" indent="-317500" algn="l" rtl="0">
              <a:lnSpc>
                <a:spcPct val="100000"/>
              </a:lnSpc>
              <a:spcBef>
                <a:spcPts val="1000"/>
              </a:spcBef>
              <a:spcAft>
                <a:spcPts val="0"/>
              </a:spcAft>
              <a:buClr>
                <a:srgbClr val="000000"/>
              </a:buClr>
              <a:buSzPts val="1400"/>
              <a:buFont typeface="Raleway"/>
              <a:buChar char="○"/>
            </a:pPr>
            <a:r>
              <a:rPr lang="en">
                <a:solidFill>
                  <a:srgbClr val="000000"/>
                </a:solidFill>
                <a:latin typeface="Raleway"/>
                <a:ea typeface="Raleway"/>
                <a:cs typeface="Raleway"/>
                <a:sym typeface="Raleway"/>
              </a:rPr>
              <a:t>R is also an interactive environment (R studio)</a:t>
            </a:r>
            <a:endParaRPr>
              <a:solidFill>
                <a:srgbClr val="000000"/>
              </a:solidFill>
              <a:latin typeface="Raleway"/>
              <a:ea typeface="Raleway"/>
              <a:cs typeface="Raleway"/>
              <a:sym typeface="Raleway"/>
            </a:endParaRPr>
          </a:p>
          <a:p>
            <a:pPr marL="914400" lvl="1" indent="-317500" algn="l" rtl="0">
              <a:lnSpc>
                <a:spcPct val="100000"/>
              </a:lnSpc>
              <a:spcBef>
                <a:spcPts val="1000"/>
              </a:spcBef>
              <a:spcAft>
                <a:spcPts val="0"/>
              </a:spcAft>
              <a:buClr>
                <a:srgbClr val="000000"/>
              </a:buClr>
              <a:buSzPts val="1400"/>
              <a:buFont typeface="Raleway"/>
              <a:buChar char="○"/>
            </a:pPr>
            <a:r>
              <a:rPr lang="en">
                <a:solidFill>
                  <a:srgbClr val="000000"/>
                </a:solidFill>
                <a:latin typeface="Raleway"/>
                <a:ea typeface="Raleway"/>
                <a:cs typeface="Raleway"/>
                <a:sym typeface="Raleway"/>
              </a:rPr>
              <a:t>R has built-in functions and packages</a:t>
            </a:r>
            <a:endParaRPr>
              <a:solidFill>
                <a:srgbClr val="000000"/>
              </a:solidFill>
              <a:latin typeface="Raleway"/>
              <a:ea typeface="Raleway"/>
              <a:cs typeface="Raleway"/>
              <a:sym typeface="Raleway"/>
            </a:endParaRPr>
          </a:p>
          <a:p>
            <a:pPr marL="457200" lvl="0" indent="-342900" algn="l" rtl="0">
              <a:lnSpc>
                <a:spcPct val="100000"/>
              </a:lnSpc>
              <a:spcBef>
                <a:spcPts val="1000"/>
              </a:spcBef>
              <a:spcAft>
                <a:spcPts val="1000"/>
              </a:spcAft>
              <a:buClr>
                <a:srgbClr val="000000"/>
              </a:buClr>
              <a:buSzPts val="1800"/>
              <a:buFont typeface="Raleway"/>
              <a:buChar char="●"/>
            </a:pPr>
            <a:r>
              <a:rPr lang="en">
                <a:solidFill>
                  <a:srgbClr val="000000"/>
                </a:solidFill>
                <a:latin typeface="Raleway"/>
                <a:ea typeface="Raleway"/>
                <a:cs typeface="Raleway"/>
                <a:sym typeface="Raleway"/>
              </a:rPr>
              <a:t>R has its own syntax and structure</a:t>
            </a:r>
            <a:endParaRPr b="1">
              <a:solidFill>
                <a:srgbClr val="000000"/>
              </a:solidFill>
              <a:latin typeface="Raleway"/>
              <a:ea typeface="Raleway"/>
              <a:cs typeface="Raleway"/>
              <a:sym typeface="Raleway"/>
            </a:endParaRPr>
          </a:p>
        </p:txBody>
      </p:sp>
      <p:pic>
        <p:nvPicPr>
          <p:cNvPr id="1304" name="Google Shape;1304;p149"/>
          <p:cNvPicPr preferRelativeResize="0"/>
          <p:nvPr/>
        </p:nvPicPr>
        <p:blipFill>
          <a:blip r:embed="rId3">
            <a:alphaModFix/>
          </a:blip>
          <a:stretch>
            <a:fillRect/>
          </a:stretch>
        </p:blipFill>
        <p:spPr>
          <a:xfrm>
            <a:off x="5476325" y="1481597"/>
            <a:ext cx="2813775" cy="2180300"/>
          </a:xfrm>
          <a:prstGeom prst="rect">
            <a:avLst/>
          </a:prstGeom>
          <a:noFill/>
          <a:ln>
            <a:noFill/>
          </a:ln>
        </p:spPr>
      </p:pic>
    </p:spTree>
    <p:extLst>
      <p:ext uri="{BB962C8B-B14F-4D97-AF65-F5344CB8AC3E}">
        <p14:creationId xmlns:p14="http://schemas.microsoft.com/office/powerpoint/2010/main" val="25250060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08"/>
        <p:cNvGrpSpPr/>
        <p:nvPr/>
      </p:nvGrpSpPr>
      <p:grpSpPr>
        <a:xfrm>
          <a:off x="0" y="0"/>
          <a:ext cx="0" cy="0"/>
          <a:chOff x="0" y="0"/>
          <a:chExt cx="0" cy="0"/>
        </a:xfrm>
      </p:grpSpPr>
      <p:pic>
        <p:nvPicPr>
          <p:cNvPr id="1309" name="Google Shape;1309;p150"/>
          <p:cNvPicPr preferRelativeResize="0"/>
          <p:nvPr/>
        </p:nvPicPr>
        <p:blipFill>
          <a:blip r:embed="rId3">
            <a:alphaModFix amt="14000"/>
          </a:blip>
          <a:stretch>
            <a:fillRect/>
          </a:stretch>
        </p:blipFill>
        <p:spPr>
          <a:xfrm>
            <a:off x="409092" y="1310262"/>
            <a:ext cx="4078325" cy="3205374"/>
          </a:xfrm>
          <a:prstGeom prst="rect">
            <a:avLst/>
          </a:prstGeom>
          <a:noFill/>
          <a:ln>
            <a:noFill/>
          </a:ln>
        </p:spPr>
      </p:pic>
      <p:pic>
        <p:nvPicPr>
          <p:cNvPr id="1310" name="Google Shape;1310;p150"/>
          <p:cNvPicPr preferRelativeResize="0"/>
          <p:nvPr/>
        </p:nvPicPr>
        <p:blipFill>
          <a:blip r:embed="rId4">
            <a:alphaModFix amt="10000"/>
          </a:blip>
          <a:stretch>
            <a:fillRect/>
          </a:stretch>
        </p:blipFill>
        <p:spPr>
          <a:xfrm>
            <a:off x="4731100" y="1146888"/>
            <a:ext cx="3532099" cy="3532099"/>
          </a:xfrm>
          <a:prstGeom prst="rect">
            <a:avLst/>
          </a:prstGeom>
          <a:noFill/>
          <a:ln>
            <a:noFill/>
          </a:ln>
        </p:spPr>
      </p:pic>
      <p:sp>
        <p:nvSpPr>
          <p:cNvPr id="1311" name="Google Shape;1311;p1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latin typeface="Raleway"/>
                <a:ea typeface="Raleway"/>
                <a:cs typeface="Raleway"/>
                <a:sym typeface="Raleway"/>
              </a:rPr>
              <a:t>The Purpose of Using Both Python and R</a:t>
            </a:r>
            <a:endParaRPr b="1">
              <a:latin typeface="Raleway"/>
              <a:ea typeface="Raleway"/>
              <a:cs typeface="Raleway"/>
              <a:sym typeface="Raleway"/>
            </a:endParaRPr>
          </a:p>
        </p:txBody>
      </p:sp>
      <p:graphicFrame>
        <p:nvGraphicFramePr>
          <p:cNvPr id="1312" name="Google Shape;1312;p150"/>
          <p:cNvGraphicFramePr/>
          <p:nvPr/>
        </p:nvGraphicFramePr>
        <p:xfrm>
          <a:off x="952500" y="1385050"/>
          <a:ext cx="7239000" cy="3383220"/>
        </p:xfrm>
        <a:graphic>
          <a:graphicData uri="http://schemas.openxmlformats.org/drawingml/2006/table">
            <a:tbl>
              <a:tblPr>
                <a:noFill/>
                <a:tableStyleId>{D4906686-9108-46FC-B36B-164DBEF758CF}</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405925">
                <a:tc>
                  <a:txBody>
                    <a:bodyPr/>
                    <a:lstStyle/>
                    <a:p>
                      <a:pPr marL="0" lvl="0" indent="0" algn="l" rtl="0">
                        <a:spcBef>
                          <a:spcPts val="0"/>
                        </a:spcBef>
                        <a:spcAft>
                          <a:spcPts val="0"/>
                        </a:spcAft>
                        <a:buNone/>
                      </a:pPr>
                      <a:r>
                        <a:rPr lang="en" sz="1600" b="1">
                          <a:latin typeface="Raleway"/>
                          <a:ea typeface="Raleway"/>
                          <a:cs typeface="Raleway"/>
                          <a:sym typeface="Raleway"/>
                        </a:rPr>
                        <a:t>R</a:t>
                      </a:r>
                      <a:endParaRPr sz="1600" b="1">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b="1">
                          <a:latin typeface="Raleway"/>
                          <a:ea typeface="Raleway"/>
                          <a:cs typeface="Raleway"/>
                          <a:sym typeface="Raleway"/>
                        </a:rPr>
                        <a:t>Python</a:t>
                      </a:r>
                      <a:endParaRPr sz="1600" b="1">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625275">
                <a:tc>
                  <a:txBody>
                    <a:bodyPr/>
                    <a:lstStyle/>
                    <a:p>
                      <a:pPr marL="457200" lvl="0" indent="-317500" algn="l" rtl="0">
                        <a:spcBef>
                          <a:spcPts val="0"/>
                        </a:spcBef>
                        <a:spcAft>
                          <a:spcPts val="0"/>
                        </a:spcAft>
                        <a:buSzPts val="1400"/>
                        <a:buFont typeface="Raleway"/>
                        <a:buChar char="●"/>
                      </a:pPr>
                      <a:r>
                        <a:rPr lang="en">
                          <a:latin typeface="Raleway"/>
                          <a:ea typeface="Raleway"/>
                          <a:cs typeface="Raleway"/>
                          <a:sym typeface="Raleway"/>
                        </a:rPr>
                        <a:t>Objective: analysis and statistics</a:t>
                      </a:r>
                      <a:endParaRPr>
                        <a:latin typeface="Raleway"/>
                        <a:ea typeface="Raleway"/>
                        <a:cs typeface="Raleway"/>
                        <a:sym typeface="Raleway"/>
                      </a:endParaRPr>
                    </a:p>
                    <a:p>
                      <a:pPr marL="457200" lvl="0" indent="0" algn="l" rtl="0">
                        <a:spcBef>
                          <a:spcPts val="0"/>
                        </a:spcBef>
                        <a:spcAft>
                          <a:spcPts val="0"/>
                        </a:spcAft>
                        <a:buNone/>
                      </a:pPr>
                      <a:endParaRPr>
                        <a:latin typeface="Raleway"/>
                        <a:ea typeface="Raleway"/>
                        <a:cs typeface="Raleway"/>
                        <a:sym typeface="Raleway"/>
                      </a:endParaRPr>
                    </a:p>
                    <a:p>
                      <a:pPr marL="457200" lvl="0" indent="-317500" algn="l" rtl="0">
                        <a:spcBef>
                          <a:spcPts val="0"/>
                        </a:spcBef>
                        <a:spcAft>
                          <a:spcPts val="0"/>
                        </a:spcAft>
                        <a:buSzPts val="1400"/>
                        <a:buFont typeface="Raleway"/>
                        <a:buChar char="●"/>
                      </a:pPr>
                      <a:r>
                        <a:rPr lang="en">
                          <a:latin typeface="Raleway"/>
                          <a:ea typeface="Raleway"/>
                          <a:cs typeface="Raleway"/>
                          <a:sym typeface="Raleway"/>
                        </a:rPr>
                        <a:t>Users: statisticians and academics</a:t>
                      </a:r>
                      <a:endParaRPr>
                        <a:latin typeface="Raleway"/>
                        <a:ea typeface="Raleway"/>
                        <a:cs typeface="Raleway"/>
                        <a:sym typeface="Raleway"/>
                      </a:endParaRPr>
                    </a:p>
                    <a:p>
                      <a:pPr marL="457200" lvl="0" indent="0" algn="l" rtl="0">
                        <a:spcBef>
                          <a:spcPts val="0"/>
                        </a:spcBef>
                        <a:spcAft>
                          <a:spcPts val="0"/>
                        </a:spcAft>
                        <a:buNone/>
                      </a:pPr>
                      <a:endParaRPr>
                        <a:latin typeface="Raleway"/>
                        <a:ea typeface="Raleway"/>
                        <a:cs typeface="Raleway"/>
                        <a:sym typeface="Raleway"/>
                      </a:endParaRPr>
                    </a:p>
                    <a:p>
                      <a:pPr marL="457200" lvl="0" indent="-317500" algn="l" rtl="0">
                        <a:spcBef>
                          <a:spcPts val="0"/>
                        </a:spcBef>
                        <a:spcAft>
                          <a:spcPts val="0"/>
                        </a:spcAft>
                        <a:buSzPts val="1400"/>
                        <a:buFont typeface="Raleway"/>
                        <a:buChar char="●"/>
                      </a:pPr>
                      <a:r>
                        <a:rPr lang="en">
                          <a:latin typeface="Raleway"/>
                          <a:ea typeface="Raleway"/>
                          <a:cs typeface="Raleway"/>
                          <a:sym typeface="Raleway"/>
                        </a:rPr>
                        <a:t>Lots of models available for use in analysis</a:t>
                      </a:r>
                      <a:endParaRPr>
                        <a:latin typeface="Raleway"/>
                        <a:ea typeface="Raleway"/>
                        <a:cs typeface="Raleway"/>
                        <a:sym typeface="Raleway"/>
                      </a:endParaRPr>
                    </a:p>
                    <a:p>
                      <a:pPr marL="457200" lvl="0" indent="0" algn="l" rtl="0">
                        <a:spcBef>
                          <a:spcPts val="0"/>
                        </a:spcBef>
                        <a:spcAft>
                          <a:spcPts val="0"/>
                        </a:spcAft>
                        <a:buNone/>
                      </a:pPr>
                      <a:endParaRPr>
                        <a:latin typeface="Raleway"/>
                        <a:ea typeface="Raleway"/>
                        <a:cs typeface="Raleway"/>
                        <a:sym typeface="Raleway"/>
                      </a:endParaRPr>
                    </a:p>
                    <a:p>
                      <a:pPr marL="457200" lvl="0" indent="-317500" algn="l" rtl="0">
                        <a:spcBef>
                          <a:spcPts val="0"/>
                        </a:spcBef>
                        <a:spcAft>
                          <a:spcPts val="0"/>
                        </a:spcAft>
                        <a:buSzPts val="1400"/>
                        <a:buFont typeface="Raleway"/>
                        <a:buChar char="●"/>
                      </a:pPr>
                      <a:r>
                        <a:rPr lang="en">
                          <a:latin typeface="Raleway"/>
                          <a:ea typeface="Raleway"/>
                          <a:cs typeface="Raleway"/>
                          <a:sym typeface="Raleway"/>
                        </a:rPr>
                        <a:t>Larger catalog for data analysis, more customizable visualizations</a:t>
                      </a:r>
                      <a:endParaRPr>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lvl="0"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Objective: deployment and production</a:t>
                      </a:r>
                      <a:endParaRPr>
                        <a:solidFill>
                          <a:schemeClr val="dk1"/>
                        </a:solidFill>
                        <a:latin typeface="Raleway"/>
                        <a:ea typeface="Raleway"/>
                        <a:cs typeface="Raleway"/>
                        <a:sym typeface="Raleway"/>
                      </a:endParaRPr>
                    </a:p>
                    <a:p>
                      <a:pPr marL="457200" lvl="0" indent="0" algn="l" rtl="0">
                        <a:spcBef>
                          <a:spcPts val="0"/>
                        </a:spcBef>
                        <a:spcAft>
                          <a:spcPts val="0"/>
                        </a:spcAft>
                        <a:buNone/>
                      </a:pPr>
                      <a:endParaRPr>
                        <a:solidFill>
                          <a:schemeClr val="dk1"/>
                        </a:solidFill>
                        <a:latin typeface="Raleway"/>
                        <a:ea typeface="Raleway"/>
                        <a:cs typeface="Raleway"/>
                        <a:sym typeface="Raleway"/>
                      </a:endParaRPr>
                    </a:p>
                    <a:p>
                      <a:pPr marL="457200" lvl="0"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Users: programmers and developers</a:t>
                      </a:r>
                      <a:endParaRPr>
                        <a:solidFill>
                          <a:schemeClr val="dk1"/>
                        </a:solidFill>
                        <a:latin typeface="Raleway"/>
                        <a:ea typeface="Raleway"/>
                        <a:cs typeface="Raleway"/>
                        <a:sym typeface="Raleway"/>
                      </a:endParaRPr>
                    </a:p>
                    <a:p>
                      <a:pPr marL="457200" lvl="0" indent="0" algn="l" rtl="0">
                        <a:spcBef>
                          <a:spcPts val="0"/>
                        </a:spcBef>
                        <a:spcAft>
                          <a:spcPts val="0"/>
                        </a:spcAft>
                        <a:buNone/>
                      </a:pPr>
                      <a:endParaRPr>
                        <a:solidFill>
                          <a:schemeClr val="dk1"/>
                        </a:solidFill>
                        <a:latin typeface="Raleway"/>
                        <a:ea typeface="Raleway"/>
                        <a:cs typeface="Raleway"/>
                        <a:sym typeface="Raleway"/>
                      </a:endParaRPr>
                    </a:p>
                    <a:p>
                      <a:pPr marL="457200" lvl="0"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Can use pre-existing models or easily create new models from scratch</a:t>
                      </a:r>
                      <a:endParaRPr>
                        <a:solidFill>
                          <a:schemeClr val="dk1"/>
                        </a:solidFill>
                        <a:latin typeface="Raleway"/>
                        <a:ea typeface="Raleway"/>
                        <a:cs typeface="Raleway"/>
                        <a:sym typeface="Raleway"/>
                      </a:endParaRPr>
                    </a:p>
                    <a:p>
                      <a:pPr marL="457200" lvl="0" indent="0" algn="l" rtl="0">
                        <a:spcBef>
                          <a:spcPts val="0"/>
                        </a:spcBef>
                        <a:spcAft>
                          <a:spcPts val="0"/>
                        </a:spcAft>
                        <a:buNone/>
                      </a:pPr>
                      <a:endParaRPr>
                        <a:solidFill>
                          <a:schemeClr val="dk1"/>
                        </a:solidFill>
                        <a:latin typeface="Raleway"/>
                        <a:ea typeface="Raleway"/>
                        <a:cs typeface="Raleway"/>
                        <a:sym typeface="Raleway"/>
                      </a:endParaRPr>
                    </a:p>
                    <a:p>
                      <a:pPr marL="457200" lvl="0"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Easier to publish and share packages </a:t>
                      </a:r>
                      <a:endParaRPr>
                        <a:solidFill>
                          <a:schemeClr val="dk1"/>
                        </a:solidFill>
                        <a:latin typeface="Raleway"/>
                        <a:ea typeface="Raleway"/>
                        <a:cs typeface="Raleway"/>
                        <a:sym typeface="Raleway"/>
                      </a:endParaRPr>
                    </a:p>
                    <a:p>
                      <a:pPr marL="457200" lvl="0" indent="0" algn="l" rtl="0">
                        <a:spcBef>
                          <a:spcPts val="0"/>
                        </a:spcBef>
                        <a:spcAft>
                          <a:spcPts val="0"/>
                        </a:spcAft>
                        <a:buNone/>
                      </a:pPr>
                      <a:endParaRPr>
                        <a:solidFill>
                          <a:schemeClr val="dk1"/>
                        </a:solidFill>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13" name="Google Shape;1313;p150"/>
          <p:cNvSpPr txBox="1"/>
          <p:nvPr/>
        </p:nvSpPr>
        <p:spPr>
          <a:xfrm>
            <a:off x="5166900" y="4581225"/>
            <a:ext cx="40377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Clr>
                <a:schemeClr val="dk1"/>
              </a:buClr>
              <a:buSzPts val="1100"/>
              <a:buFont typeface="Arial"/>
              <a:buNone/>
            </a:pPr>
            <a:r>
              <a:rPr lang="en" sz="1800" i="1">
                <a:solidFill>
                  <a:schemeClr val="dk1"/>
                </a:solidFill>
                <a:highlight>
                  <a:srgbClr val="FFFF00"/>
                </a:highlight>
                <a:latin typeface="Raleway"/>
                <a:ea typeface="Raleway"/>
                <a:cs typeface="Raleway"/>
                <a:sym typeface="Raleway"/>
              </a:rPr>
              <a:t>Use whatever works best for you!</a:t>
            </a:r>
            <a:endParaRPr/>
          </a:p>
        </p:txBody>
      </p:sp>
    </p:spTree>
    <p:extLst>
      <p:ext uri="{BB962C8B-B14F-4D97-AF65-F5344CB8AC3E}">
        <p14:creationId xmlns:p14="http://schemas.microsoft.com/office/powerpoint/2010/main" val="2535141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17"/>
        <p:cNvGrpSpPr/>
        <p:nvPr/>
      </p:nvGrpSpPr>
      <p:grpSpPr>
        <a:xfrm>
          <a:off x="0" y="0"/>
          <a:ext cx="0" cy="0"/>
          <a:chOff x="0" y="0"/>
          <a:chExt cx="0" cy="0"/>
        </a:xfrm>
      </p:grpSpPr>
      <p:sp>
        <p:nvSpPr>
          <p:cNvPr id="1318" name="Google Shape;1318;p1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The Backbone of Programming Languages</a:t>
            </a:r>
            <a:endParaRPr b="1">
              <a:latin typeface="Raleway"/>
              <a:ea typeface="Raleway"/>
              <a:cs typeface="Raleway"/>
              <a:sym typeface="Raleway"/>
            </a:endParaRPr>
          </a:p>
        </p:txBody>
      </p:sp>
      <p:sp>
        <p:nvSpPr>
          <p:cNvPr id="1319" name="Google Shape;1319;p151"/>
          <p:cNvSpPr txBox="1"/>
          <p:nvPr/>
        </p:nvSpPr>
        <p:spPr>
          <a:xfrm>
            <a:off x="311700" y="1152475"/>
            <a:ext cx="8520600" cy="1176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latin typeface="Raleway"/>
                <a:ea typeface="Raleway"/>
                <a:cs typeface="Raleway"/>
                <a:sym typeface="Raleway"/>
              </a:rPr>
              <a:t>Like how we break up languages into basic structures (e.g., part of speech, verb tense, etc.), we can also deconstruct programming languages into five basic concepts:</a:t>
            </a:r>
            <a:endParaRPr sz="1800">
              <a:latin typeface="Raleway"/>
              <a:ea typeface="Raleway"/>
              <a:cs typeface="Raleway"/>
              <a:sym typeface="Raleway"/>
            </a:endParaRPr>
          </a:p>
          <a:p>
            <a:pPr marL="0" lvl="0" indent="0" algn="l" rtl="0">
              <a:lnSpc>
                <a:spcPct val="115000"/>
              </a:lnSpc>
              <a:spcBef>
                <a:spcPts val="1600"/>
              </a:spcBef>
              <a:spcAft>
                <a:spcPts val="0"/>
              </a:spcAft>
              <a:buNone/>
            </a:pPr>
            <a:endParaRPr sz="1800">
              <a:solidFill>
                <a:srgbClr val="595959"/>
              </a:solidFill>
              <a:latin typeface="Lato"/>
              <a:ea typeface="Lato"/>
              <a:cs typeface="Lato"/>
              <a:sym typeface="Lato"/>
            </a:endParaRPr>
          </a:p>
          <a:p>
            <a:pPr marL="0" lvl="0" indent="0" algn="l" rtl="0">
              <a:lnSpc>
                <a:spcPct val="115000"/>
              </a:lnSpc>
              <a:spcBef>
                <a:spcPts val="1600"/>
              </a:spcBef>
              <a:spcAft>
                <a:spcPts val="0"/>
              </a:spcAft>
              <a:buNone/>
            </a:pPr>
            <a:endParaRPr sz="1800">
              <a:solidFill>
                <a:srgbClr val="595959"/>
              </a:solidFill>
              <a:latin typeface="Lato"/>
              <a:ea typeface="Lato"/>
              <a:cs typeface="Lato"/>
              <a:sym typeface="Lato"/>
            </a:endParaRPr>
          </a:p>
          <a:p>
            <a:pPr marL="0" lvl="0" indent="0" algn="l" rtl="0">
              <a:lnSpc>
                <a:spcPct val="115000"/>
              </a:lnSpc>
              <a:spcBef>
                <a:spcPts val="1600"/>
              </a:spcBef>
              <a:spcAft>
                <a:spcPts val="0"/>
              </a:spcAft>
              <a:buNone/>
            </a:pPr>
            <a:endParaRPr sz="1800">
              <a:solidFill>
                <a:srgbClr val="595959"/>
              </a:solidFill>
              <a:latin typeface="Lato"/>
              <a:ea typeface="Lato"/>
              <a:cs typeface="Lato"/>
              <a:sym typeface="Lato"/>
            </a:endParaRPr>
          </a:p>
          <a:p>
            <a:pPr marL="0" lvl="0" indent="0" algn="l" rtl="0">
              <a:lnSpc>
                <a:spcPct val="115000"/>
              </a:lnSpc>
              <a:spcBef>
                <a:spcPts val="1600"/>
              </a:spcBef>
              <a:spcAft>
                <a:spcPts val="0"/>
              </a:spcAft>
              <a:buNone/>
            </a:pPr>
            <a:endParaRPr sz="1800">
              <a:solidFill>
                <a:srgbClr val="595959"/>
              </a:solidFill>
              <a:latin typeface="Lato"/>
              <a:ea typeface="Lato"/>
              <a:cs typeface="Lato"/>
              <a:sym typeface="Lato"/>
            </a:endParaRPr>
          </a:p>
          <a:p>
            <a:pPr marL="0" lvl="0" indent="0" algn="l" rtl="0">
              <a:lnSpc>
                <a:spcPct val="115000"/>
              </a:lnSpc>
              <a:spcBef>
                <a:spcPts val="1600"/>
              </a:spcBef>
              <a:spcAft>
                <a:spcPts val="1600"/>
              </a:spcAft>
              <a:buNone/>
            </a:pPr>
            <a:endParaRPr i="1">
              <a:solidFill>
                <a:srgbClr val="595959"/>
              </a:solidFill>
              <a:latin typeface="Lato"/>
              <a:ea typeface="Lato"/>
              <a:cs typeface="Lato"/>
              <a:sym typeface="Lato"/>
            </a:endParaRPr>
          </a:p>
        </p:txBody>
      </p:sp>
      <p:sp>
        <p:nvSpPr>
          <p:cNvPr id="1320" name="Google Shape;1320;p151"/>
          <p:cNvSpPr/>
          <p:nvPr/>
        </p:nvSpPr>
        <p:spPr>
          <a:xfrm>
            <a:off x="1104282" y="2435387"/>
            <a:ext cx="20352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① VARIABLES</a:t>
            </a:r>
            <a:endParaRPr b="1">
              <a:solidFill>
                <a:srgbClr val="274E13"/>
              </a:solidFill>
            </a:endParaRPr>
          </a:p>
        </p:txBody>
      </p:sp>
      <p:sp>
        <p:nvSpPr>
          <p:cNvPr id="1321" name="Google Shape;1321;p151"/>
          <p:cNvSpPr/>
          <p:nvPr/>
        </p:nvSpPr>
        <p:spPr>
          <a:xfrm>
            <a:off x="3478429" y="2435387"/>
            <a:ext cx="20352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② CONDITIONAL STATEMENTS</a:t>
            </a:r>
            <a:endParaRPr b="1">
              <a:solidFill>
                <a:srgbClr val="274E13"/>
              </a:solidFill>
            </a:endParaRPr>
          </a:p>
        </p:txBody>
      </p:sp>
      <p:sp>
        <p:nvSpPr>
          <p:cNvPr id="1322" name="Google Shape;1322;p151"/>
          <p:cNvSpPr/>
          <p:nvPr/>
        </p:nvSpPr>
        <p:spPr>
          <a:xfrm>
            <a:off x="5852577" y="2435387"/>
            <a:ext cx="20352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③ LOOPING &amp; ITERATION</a:t>
            </a:r>
            <a:endParaRPr b="1">
              <a:solidFill>
                <a:srgbClr val="274E13"/>
              </a:solidFill>
            </a:endParaRPr>
          </a:p>
        </p:txBody>
      </p:sp>
      <p:sp>
        <p:nvSpPr>
          <p:cNvPr id="1323" name="Google Shape;1323;p151"/>
          <p:cNvSpPr/>
          <p:nvPr/>
        </p:nvSpPr>
        <p:spPr>
          <a:xfrm>
            <a:off x="2319606" y="3342962"/>
            <a:ext cx="20352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④ DATA TYPES &amp; DATA STRUCTURES</a:t>
            </a:r>
            <a:endParaRPr b="1">
              <a:solidFill>
                <a:srgbClr val="274E13"/>
              </a:solidFill>
            </a:endParaRPr>
          </a:p>
        </p:txBody>
      </p:sp>
      <p:sp>
        <p:nvSpPr>
          <p:cNvPr id="1324" name="Google Shape;1324;p151"/>
          <p:cNvSpPr/>
          <p:nvPr/>
        </p:nvSpPr>
        <p:spPr>
          <a:xfrm>
            <a:off x="4635906" y="3342962"/>
            <a:ext cx="20352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⑤ FUNCTIONS</a:t>
            </a:r>
            <a:endParaRPr b="1">
              <a:solidFill>
                <a:srgbClr val="274E13"/>
              </a:solidFill>
            </a:endParaRPr>
          </a:p>
        </p:txBody>
      </p:sp>
    </p:spTree>
    <p:extLst>
      <p:ext uri="{BB962C8B-B14F-4D97-AF65-F5344CB8AC3E}">
        <p14:creationId xmlns:p14="http://schemas.microsoft.com/office/powerpoint/2010/main" val="1461678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29" name="Google Shape;1329;p152"/>
          <p:cNvSpPr/>
          <p:nvPr/>
        </p:nvSpPr>
        <p:spPr>
          <a:xfrm>
            <a:off x="519326" y="709675"/>
            <a:ext cx="39585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① VARIABLES</a:t>
            </a:r>
            <a:endParaRPr b="1">
              <a:solidFill>
                <a:srgbClr val="274E13"/>
              </a:solidFill>
            </a:endParaRPr>
          </a:p>
        </p:txBody>
      </p:sp>
      <p:sp>
        <p:nvSpPr>
          <p:cNvPr id="1330" name="Google Shape;1330;p152"/>
          <p:cNvSpPr/>
          <p:nvPr/>
        </p:nvSpPr>
        <p:spPr>
          <a:xfrm>
            <a:off x="5071151" y="709675"/>
            <a:ext cx="3958500" cy="653700"/>
          </a:xfrm>
          <a:prstGeom prst="roundRect">
            <a:avLst>
              <a:gd name="adj" fmla="val 16667"/>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① VARIABLES</a:t>
            </a:r>
            <a:endParaRPr b="1">
              <a:solidFill>
                <a:srgbClr val="274E13"/>
              </a:solidFill>
            </a:endParaRPr>
          </a:p>
        </p:txBody>
      </p:sp>
      <p:sp>
        <p:nvSpPr>
          <p:cNvPr id="1331" name="Google Shape;1331;p152"/>
          <p:cNvSpPr/>
          <p:nvPr/>
        </p:nvSpPr>
        <p:spPr>
          <a:xfrm>
            <a:off x="559725" y="1430975"/>
            <a:ext cx="3892800" cy="13110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700">
              <a:latin typeface="Courier New"/>
              <a:ea typeface="Courier New"/>
              <a:cs typeface="Courier New"/>
              <a:sym typeface="Courier New"/>
            </a:endParaRPr>
          </a:p>
          <a:p>
            <a:pPr marL="0" lvl="0" indent="0" algn="l" rtl="0">
              <a:spcBef>
                <a:spcPts val="0"/>
              </a:spcBef>
              <a:spcAft>
                <a:spcPts val="0"/>
              </a:spcAft>
              <a:buNone/>
            </a:pPr>
            <a:endParaRPr sz="1700">
              <a:latin typeface="Courier New"/>
              <a:ea typeface="Courier New"/>
              <a:cs typeface="Courier New"/>
              <a:sym typeface="Courier New"/>
            </a:endParaRPr>
          </a:p>
          <a:p>
            <a:pPr marL="0" lvl="0" indent="0" algn="l" rtl="0">
              <a:spcBef>
                <a:spcPts val="0"/>
              </a:spcBef>
              <a:spcAft>
                <a:spcPts val="0"/>
              </a:spcAft>
              <a:buNone/>
            </a:pPr>
            <a:r>
              <a:rPr lang="en" sz="1700">
                <a:latin typeface="Courier New"/>
                <a:ea typeface="Courier New"/>
                <a:cs typeface="Courier New"/>
                <a:sym typeface="Courier New"/>
              </a:rPr>
              <a:t>&gt;&gt;&gt; a = [1, 2, 3]</a:t>
            </a:r>
            <a:endParaRPr sz="1700">
              <a:latin typeface="Courier New"/>
              <a:ea typeface="Courier New"/>
              <a:cs typeface="Courier New"/>
              <a:sym typeface="Courier New"/>
            </a:endParaRPr>
          </a:p>
          <a:p>
            <a:pPr marL="0" lvl="0" indent="0" algn="l" rtl="0">
              <a:spcBef>
                <a:spcPts val="0"/>
              </a:spcBef>
              <a:spcAft>
                <a:spcPts val="0"/>
              </a:spcAft>
              <a:buNone/>
            </a:pPr>
            <a:r>
              <a:rPr lang="en" sz="1700">
                <a:latin typeface="Courier New"/>
                <a:ea typeface="Courier New"/>
                <a:cs typeface="Courier New"/>
                <a:sym typeface="Courier New"/>
              </a:rPr>
              <a:t>&gt;&gt;&gt; a</a:t>
            </a:r>
            <a:endParaRPr sz="1700">
              <a:latin typeface="Courier New"/>
              <a:ea typeface="Courier New"/>
              <a:cs typeface="Courier New"/>
              <a:sym typeface="Courier New"/>
            </a:endParaRPr>
          </a:p>
          <a:p>
            <a:pPr marL="0" lvl="0" indent="0" algn="l" rtl="0">
              <a:spcBef>
                <a:spcPts val="0"/>
              </a:spcBef>
              <a:spcAft>
                <a:spcPts val="0"/>
              </a:spcAft>
              <a:buNone/>
            </a:pPr>
            <a:r>
              <a:rPr lang="en" sz="1700">
                <a:latin typeface="Courier New"/>
                <a:ea typeface="Courier New"/>
                <a:cs typeface="Courier New"/>
                <a:sym typeface="Courier New"/>
              </a:rPr>
              <a:t>&gt;&gt;&gt; a[0]</a:t>
            </a:r>
            <a:endParaRPr sz="1700">
              <a:latin typeface="Courier New"/>
              <a:ea typeface="Courier New"/>
              <a:cs typeface="Courier New"/>
              <a:sym typeface="Courier New"/>
            </a:endParaRPr>
          </a:p>
          <a:p>
            <a:pPr marL="0" lvl="0" indent="0" algn="l" rtl="0">
              <a:spcBef>
                <a:spcPts val="0"/>
              </a:spcBef>
              <a:spcAft>
                <a:spcPts val="0"/>
              </a:spcAft>
              <a:buNone/>
            </a:pPr>
            <a:endParaRPr sz="1700">
              <a:latin typeface="Courier New"/>
              <a:ea typeface="Courier New"/>
              <a:cs typeface="Courier New"/>
              <a:sym typeface="Courier New"/>
            </a:endParaRPr>
          </a:p>
        </p:txBody>
      </p:sp>
      <p:sp>
        <p:nvSpPr>
          <p:cNvPr id="1332" name="Google Shape;1332;p152"/>
          <p:cNvSpPr/>
          <p:nvPr/>
        </p:nvSpPr>
        <p:spPr>
          <a:xfrm>
            <a:off x="5045925" y="1430975"/>
            <a:ext cx="3958500" cy="1311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&gt; a &lt;- c(1,2,3)</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&gt; a</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&gt; a[1]</a:t>
            </a:r>
            <a:endParaRPr/>
          </a:p>
        </p:txBody>
      </p:sp>
      <p:sp>
        <p:nvSpPr>
          <p:cNvPr id="1333" name="Google Shape;1333;p152"/>
          <p:cNvSpPr/>
          <p:nvPr/>
        </p:nvSpPr>
        <p:spPr>
          <a:xfrm>
            <a:off x="559725" y="1430975"/>
            <a:ext cx="3892800" cy="363000"/>
          </a:xfrm>
          <a:prstGeom prst="rect">
            <a:avLst/>
          </a:prstGeom>
          <a:solidFill>
            <a:srgbClr val="666666"/>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rPr>
              <a:t>Python Script</a:t>
            </a:r>
            <a:endParaRPr>
              <a:solidFill>
                <a:srgbClr val="FFFFFF"/>
              </a:solidFill>
            </a:endParaRPr>
          </a:p>
        </p:txBody>
      </p:sp>
      <p:sp>
        <p:nvSpPr>
          <p:cNvPr id="1334" name="Google Shape;1334;p152"/>
          <p:cNvSpPr/>
          <p:nvPr/>
        </p:nvSpPr>
        <p:spPr>
          <a:xfrm>
            <a:off x="5045925" y="1430975"/>
            <a:ext cx="3958500" cy="363000"/>
          </a:xfrm>
          <a:prstGeom prst="rect">
            <a:avLst/>
          </a:prstGeom>
          <a:solidFill>
            <a:srgbClr val="666666"/>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rPr>
              <a:t>R Script</a:t>
            </a:r>
            <a:endParaRPr>
              <a:solidFill>
                <a:srgbClr val="FFFFFF"/>
              </a:solidFill>
            </a:endParaRPr>
          </a:p>
        </p:txBody>
      </p:sp>
      <p:pic>
        <p:nvPicPr>
          <p:cNvPr id="1335" name="Google Shape;1335;p152"/>
          <p:cNvPicPr preferRelativeResize="0"/>
          <p:nvPr/>
        </p:nvPicPr>
        <p:blipFill>
          <a:blip r:embed="rId3">
            <a:alphaModFix/>
          </a:blip>
          <a:stretch>
            <a:fillRect/>
          </a:stretch>
        </p:blipFill>
        <p:spPr>
          <a:xfrm>
            <a:off x="131100" y="1430975"/>
            <a:ext cx="363001" cy="362999"/>
          </a:xfrm>
          <a:prstGeom prst="rect">
            <a:avLst/>
          </a:prstGeom>
          <a:noFill/>
          <a:ln>
            <a:noFill/>
          </a:ln>
        </p:spPr>
      </p:pic>
      <p:pic>
        <p:nvPicPr>
          <p:cNvPr id="1336" name="Google Shape;1336;p152"/>
          <p:cNvPicPr preferRelativeResize="0"/>
          <p:nvPr/>
        </p:nvPicPr>
        <p:blipFill>
          <a:blip r:embed="rId4">
            <a:alphaModFix/>
          </a:blip>
          <a:stretch>
            <a:fillRect/>
          </a:stretch>
        </p:blipFill>
        <p:spPr>
          <a:xfrm>
            <a:off x="4518936" y="1434030"/>
            <a:ext cx="460574" cy="356882"/>
          </a:xfrm>
          <a:prstGeom prst="rect">
            <a:avLst/>
          </a:prstGeom>
          <a:noFill/>
          <a:ln>
            <a:noFill/>
          </a:ln>
        </p:spPr>
      </p:pic>
      <p:sp>
        <p:nvSpPr>
          <p:cNvPr id="1337" name="Google Shape;1337;p152"/>
          <p:cNvSpPr/>
          <p:nvPr/>
        </p:nvSpPr>
        <p:spPr>
          <a:xfrm>
            <a:off x="559725" y="2773450"/>
            <a:ext cx="3892800" cy="10197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700">
                <a:latin typeface="Courier New"/>
                <a:ea typeface="Courier New"/>
                <a:cs typeface="Courier New"/>
                <a:sym typeface="Courier New"/>
              </a:rPr>
              <a:t>[1, 2, 3]</a:t>
            </a:r>
            <a:endParaRPr sz="1700">
              <a:latin typeface="Courier New"/>
              <a:ea typeface="Courier New"/>
              <a:cs typeface="Courier New"/>
              <a:sym typeface="Courier New"/>
            </a:endParaRPr>
          </a:p>
          <a:p>
            <a:pPr marL="0" lvl="0" indent="0" algn="l" rtl="0">
              <a:spcBef>
                <a:spcPts val="0"/>
              </a:spcBef>
              <a:spcAft>
                <a:spcPts val="0"/>
              </a:spcAft>
              <a:buNone/>
            </a:pPr>
            <a:r>
              <a:rPr lang="en" sz="1700">
                <a:latin typeface="Courier New"/>
                <a:ea typeface="Courier New"/>
                <a:cs typeface="Courier New"/>
                <a:sym typeface="Courier New"/>
              </a:rPr>
              <a:t>1</a:t>
            </a:r>
            <a:endParaRPr sz="1700">
              <a:latin typeface="Courier New"/>
              <a:ea typeface="Courier New"/>
              <a:cs typeface="Courier New"/>
              <a:sym typeface="Courier New"/>
            </a:endParaRPr>
          </a:p>
        </p:txBody>
      </p:sp>
      <p:sp>
        <p:nvSpPr>
          <p:cNvPr id="1338" name="Google Shape;1338;p152"/>
          <p:cNvSpPr/>
          <p:nvPr/>
        </p:nvSpPr>
        <p:spPr>
          <a:xfrm>
            <a:off x="5045925" y="2773175"/>
            <a:ext cx="3958500" cy="1019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[1] 1 2 3</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[1] 1</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a:p>
        </p:txBody>
      </p:sp>
      <p:sp>
        <p:nvSpPr>
          <p:cNvPr id="1339" name="Google Shape;1339;p152"/>
          <p:cNvSpPr txBox="1"/>
          <p:nvPr/>
        </p:nvSpPr>
        <p:spPr>
          <a:xfrm>
            <a:off x="0" y="2741975"/>
            <a:ext cx="6252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340" name="Google Shape;1340;p152"/>
          <p:cNvSpPr txBox="1"/>
          <p:nvPr/>
        </p:nvSpPr>
        <p:spPr>
          <a:xfrm>
            <a:off x="4518913" y="2741975"/>
            <a:ext cx="6252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341" name="Google Shape;1341;p152"/>
          <p:cNvSpPr txBox="1"/>
          <p:nvPr/>
        </p:nvSpPr>
        <p:spPr>
          <a:xfrm>
            <a:off x="6861475" y="3998950"/>
            <a:ext cx="18543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Clr>
                <a:schemeClr val="dk1"/>
              </a:buClr>
              <a:buSzPts val="1100"/>
              <a:buFont typeface="Arial"/>
              <a:buNone/>
            </a:pPr>
            <a:r>
              <a:rPr lang="en" sz="1800" i="1">
                <a:solidFill>
                  <a:schemeClr val="dk1"/>
                </a:solidFill>
                <a:highlight>
                  <a:srgbClr val="FFFF00"/>
                </a:highlight>
                <a:latin typeface="Raleway"/>
                <a:ea typeface="Raleway"/>
                <a:cs typeface="Raleway"/>
                <a:sym typeface="Raleway"/>
              </a:rPr>
              <a:t>R is 1-indexed!!!</a:t>
            </a:r>
            <a:endParaRPr/>
          </a:p>
        </p:txBody>
      </p:sp>
    </p:spTree>
    <p:extLst>
      <p:ext uri="{BB962C8B-B14F-4D97-AF65-F5344CB8AC3E}">
        <p14:creationId xmlns:p14="http://schemas.microsoft.com/office/powerpoint/2010/main" val="1986737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45"/>
        <p:cNvGrpSpPr/>
        <p:nvPr/>
      </p:nvGrpSpPr>
      <p:grpSpPr>
        <a:xfrm>
          <a:off x="0" y="0"/>
          <a:ext cx="0" cy="0"/>
          <a:chOff x="0" y="0"/>
          <a:chExt cx="0" cy="0"/>
        </a:xfrm>
      </p:grpSpPr>
      <p:sp>
        <p:nvSpPr>
          <p:cNvPr id="1346" name="Google Shape;1346;p1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R: Vectors vs. Lists</a:t>
            </a:r>
            <a:endParaRPr b="1">
              <a:latin typeface="Raleway"/>
              <a:ea typeface="Raleway"/>
              <a:cs typeface="Raleway"/>
              <a:sym typeface="Raleway"/>
            </a:endParaRPr>
          </a:p>
        </p:txBody>
      </p:sp>
      <p:graphicFrame>
        <p:nvGraphicFramePr>
          <p:cNvPr id="1347" name="Google Shape;1347;p153"/>
          <p:cNvGraphicFramePr/>
          <p:nvPr/>
        </p:nvGraphicFramePr>
        <p:xfrm>
          <a:off x="645725" y="1158700"/>
          <a:ext cx="7852550" cy="1676340"/>
        </p:xfrm>
        <a:graphic>
          <a:graphicData uri="http://schemas.openxmlformats.org/drawingml/2006/table">
            <a:tbl>
              <a:tblPr>
                <a:noFill/>
                <a:tableStyleId>{D4906686-9108-46FC-B36B-164DBEF758CF}</a:tableStyleId>
              </a:tblPr>
              <a:tblGrid>
                <a:gridCol w="3926275">
                  <a:extLst>
                    <a:ext uri="{9D8B030D-6E8A-4147-A177-3AD203B41FA5}">
                      <a16:colId xmlns:a16="http://schemas.microsoft.com/office/drawing/2014/main" val="20000"/>
                    </a:ext>
                  </a:extLst>
                </a:gridCol>
                <a:gridCol w="3926275">
                  <a:extLst>
                    <a:ext uri="{9D8B030D-6E8A-4147-A177-3AD203B41FA5}">
                      <a16:colId xmlns:a16="http://schemas.microsoft.com/office/drawing/2014/main" val="20001"/>
                    </a:ext>
                  </a:extLst>
                </a:gridCol>
              </a:tblGrid>
              <a:tr h="0">
                <a:tc>
                  <a:txBody>
                    <a:bodyPr/>
                    <a:lstStyle/>
                    <a:p>
                      <a:pPr marL="0" lvl="0" indent="0" algn="l" rtl="0">
                        <a:spcBef>
                          <a:spcPts val="0"/>
                        </a:spcBef>
                        <a:spcAft>
                          <a:spcPts val="0"/>
                        </a:spcAft>
                        <a:buNone/>
                      </a:pPr>
                      <a:r>
                        <a:rPr lang="en" sz="1600">
                          <a:latin typeface="Raleway"/>
                          <a:ea typeface="Raleway"/>
                          <a:cs typeface="Raleway"/>
                          <a:sym typeface="Raleway"/>
                        </a:rPr>
                        <a:t>Vectors</a:t>
                      </a:r>
                      <a:endParaRPr sz="1600">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Raleway"/>
                          <a:ea typeface="Raleway"/>
                          <a:cs typeface="Raleway"/>
                          <a:sym typeface="Raleway"/>
                        </a:rPr>
                        <a:t>Lists</a:t>
                      </a:r>
                      <a:endParaRPr sz="1600">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41500">
                <a:tc>
                  <a:txBody>
                    <a:bodyPr/>
                    <a:lstStyle/>
                    <a:p>
                      <a:pPr marL="457200" lvl="0" indent="-317500" algn="l" rtl="0">
                        <a:spcBef>
                          <a:spcPts val="0"/>
                        </a:spcBef>
                        <a:spcAft>
                          <a:spcPts val="0"/>
                        </a:spcAft>
                        <a:buSzPts val="1400"/>
                        <a:buFont typeface="Raleway"/>
                        <a:buChar char="●"/>
                      </a:pPr>
                      <a:r>
                        <a:rPr lang="en">
                          <a:latin typeface="Raleway"/>
                          <a:ea typeface="Raleway"/>
                          <a:cs typeface="Raleway"/>
                          <a:sym typeface="Raleway"/>
                        </a:rPr>
                        <a:t>Atomic</a:t>
                      </a:r>
                      <a:endParaRPr>
                        <a:latin typeface="Raleway"/>
                        <a:ea typeface="Raleway"/>
                        <a:cs typeface="Raleway"/>
                        <a:sym typeface="Raleway"/>
                      </a:endParaRPr>
                    </a:p>
                    <a:p>
                      <a:pPr marL="914400" lvl="1" indent="-317500" algn="l" rtl="0">
                        <a:spcBef>
                          <a:spcPts val="0"/>
                        </a:spcBef>
                        <a:spcAft>
                          <a:spcPts val="0"/>
                        </a:spcAft>
                        <a:buSzPts val="1400"/>
                        <a:buFont typeface="Raleway"/>
                        <a:buChar char="○"/>
                      </a:pPr>
                      <a:r>
                        <a:rPr lang="en">
                          <a:latin typeface="Raleway"/>
                          <a:ea typeface="Raleway"/>
                          <a:cs typeface="Raleway"/>
                          <a:sym typeface="Raleway"/>
                        </a:rPr>
                        <a:t>One-dimensional</a:t>
                      </a:r>
                      <a:endParaRPr>
                        <a:latin typeface="Raleway"/>
                        <a:ea typeface="Raleway"/>
                        <a:cs typeface="Raleway"/>
                        <a:sym typeface="Raleway"/>
                      </a:endParaRPr>
                    </a:p>
                    <a:p>
                      <a:pPr marL="914400" lvl="1" indent="-317500" algn="l" rtl="0">
                        <a:spcBef>
                          <a:spcPts val="0"/>
                        </a:spcBef>
                        <a:spcAft>
                          <a:spcPts val="0"/>
                        </a:spcAft>
                        <a:buSzPts val="1400"/>
                        <a:buFont typeface="Raleway"/>
                        <a:buChar char="○"/>
                      </a:pPr>
                      <a:r>
                        <a:rPr lang="en">
                          <a:latin typeface="Raleway"/>
                          <a:ea typeface="Raleway"/>
                          <a:cs typeface="Raleway"/>
                          <a:sym typeface="Raleway"/>
                        </a:rPr>
                        <a:t>Can hold values of one type</a:t>
                      </a:r>
                      <a:endParaRPr>
                        <a:latin typeface="Raleway"/>
                        <a:ea typeface="Raleway"/>
                        <a:cs typeface="Raleway"/>
                        <a:sym typeface="Raleway"/>
                      </a:endParaRPr>
                    </a:p>
                    <a:p>
                      <a:pPr marL="457200" lvl="0" indent="-317500" algn="l" rtl="0">
                        <a:spcBef>
                          <a:spcPts val="0"/>
                        </a:spcBef>
                        <a:spcAft>
                          <a:spcPts val="0"/>
                        </a:spcAft>
                        <a:buSzPts val="1400"/>
                        <a:buFont typeface="Raleway"/>
                        <a:buChar char="●"/>
                      </a:pPr>
                      <a:r>
                        <a:rPr lang="en">
                          <a:latin typeface="Raleway"/>
                          <a:ea typeface="Raleway"/>
                          <a:cs typeface="Raleway"/>
                          <a:sym typeface="Raleway"/>
                        </a:rPr>
                        <a:t>Most basic data structure</a:t>
                      </a:r>
                      <a:endParaRPr>
                        <a:latin typeface="Raleway"/>
                        <a:ea typeface="Raleway"/>
                        <a:cs typeface="Raleway"/>
                        <a:sym typeface="Raleway"/>
                      </a:endParaRPr>
                    </a:p>
                    <a:p>
                      <a:pPr marL="457200" lvl="0" indent="-317500" algn="l" rtl="0">
                        <a:spcBef>
                          <a:spcPts val="0"/>
                        </a:spcBef>
                        <a:spcAft>
                          <a:spcPts val="0"/>
                        </a:spcAft>
                        <a:buSzPts val="1400"/>
                        <a:buFont typeface="Raleway"/>
                        <a:buChar char="●"/>
                      </a:pPr>
                      <a:r>
                        <a:rPr lang="en">
                          <a:latin typeface="Raleway"/>
                          <a:ea typeface="Raleway"/>
                          <a:cs typeface="Raleway"/>
                          <a:sym typeface="Raleway"/>
                        </a:rPr>
                        <a:t>Easier to manipulate</a:t>
                      </a:r>
                      <a:endParaRPr>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lvl="0"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Recursive</a:t>
                      </a:r>
                      <a:endParaRPr>
                        <a:solidFill>
                          <a:schemeClr val="dk1"/>
                        </a:solidFill>
                        <a:latin typeface="Raleway"/>
                        <a:ea typeface="Raleway"/>
                        <a:cs typeface="Raleway"/>
                        <a:sym typeface="Raleway"/>
                      </a:endParaRPr>
                    </a:p>
                    <a:p>
                      <a:pPr marL="914400" lvl="1"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Multi-dimensional</a:t>
                      </a:r>
                      <a:endParaRPr>
                        <a:solidFill>
                          <a:schemeClr val="dk1"/>
                        </a:solidFill>
                        <a:latin typeface="Raleway"/>
                        <a:ea typeface="Raleway"/>
                        <a:cs typeface="Raleway"/>
                        <a:sym typeface="Raleway"/>
                      </a:endParaRPr>
                    </a:p>
                    <a:p>
                      <a:pPr marL="914400" lvl="1"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Can hold values of multiple types</a:t>
                      </a:r>
                      <a:endParaRPr>
                        <a:solidFill>
                          <a:schemeClr val="dk1"/>
                        </a:solidFill>
                        <a:latin typeface="Raleway"/>
                        <a:ea typeface="Raleway"/>
                        <a:cs typeface="Raleway"/>
                        <a:sym typeface="Raleway"/>
                      </a:endParaRPr>
                    </a:p>
                    <a:p>
                      <a:pPr marL="457200" lvl="0"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Commonly used to represent datasets or modules</a:t>
                      </a:r>
                      <a:endParaRPr>
                        <a:solidFill>
                          <a:schemeClr val="dk1"/>
                        </a:solidFill>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48" name="Google Shape;1348;p153"/>
          <p:cNvSpPr/>
          <p:nvPr/>
        </p:nvSpPr>
        <p:spPr>
          <a:xfrm>
            <a:off x="918250" y="2989125"/>
            <a:ext cx="3519300" cy="951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700">
                <a:solidFill>
                  <a:schemeClr val="dk1"/>
                </a:solidFill>
                <a:latin typeface="Courier New"/>
                <a:ea typeface="Courier New"/>
                <a:cs typeface="Courier New"/>
                <a:sym typeface="Courier New"/>
              </a:rPr>
              <a:t>&gt; a &lt;- c(1,2,3)</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&gt; a</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&gt; a[1]</a:t>
            </a:r>
            <a:endParaRPr/>
          </a:p>
        </p:txBody>
      </p:sp>
      <p:pic>
        <p:nvPicPr>
          <p:cNvPr id="1349" name="Google Shape;1349;p153"/>
          <p:cNvPicPr preferRelativeResize="0"/>
          <p:nvPr/>
        </p:nvPicPr>
        <p:blipFill>
          <a:blip r:embed="rId3">
            <a:alphaModFix/>
          </a:blip>
          <a:stretch>
            <a:fillRect/>
          </a:stretch>
        </p:blipFill>
        <p:spPr>
          <a:xfrm>
            <a:off x="391250" y="2989125"/>
            <a:ext cx="460574" cy="356875"/>
          </a:xfrm>
          <a:prstGeom prst="rect">
            <a:avLst/>
          </a:prstGeom>
          <a:noFill/>
          <a:ln>
            <a:noFill/>
          </a:ln>
        </p:spPr>
      </p:pic>
      <p:sp>
        <p:nvSpPr>
          <p:cNvPr id="1350" name="Google Shape;1350;p153"/>
          <p:cNvSpPr/>
          <p:nvPr/>
        </p:nvSpPr>
        <p:spPr>
          <a:xfrm>
            <a:off x="918250" y="3971400"/>
            <a:ext cx="3519300" cy="1019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[1] 1 2 3</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[1] 1</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a:p>
        </p:txBody>
      </p:sp>
      <p:sp>
        <p:nvSpPr>
          <p:cNvPr id="1351" name="Google Shape;1351;p153"/>
          <p:cNvSpPr txBox="1"/>
          <p:nvPr/>
        </p:nvSpPr>
        <p:spPr>
          <a:xfrm>
            <a:off x="391238" y="3940200"/>
            <a:ext cx="6252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352" name="Google Shape;1352;p153"/>
          <p:cNvSpPr/>
          <p:nvPr/>
        </p:nvSpPr>
        <p:spPr>
          <a:xfrm>
            <a:off x="4706400" y="2989125"/>
            <a:ext cx="3519300" cy="951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Courier New"/>
                <a:ea typeface="Courier New"/>
                <a:cs typeface="Courier New"/>
                <a:sym typeface="Courier New"/>
              </a:rPr>
              <a:t>&gt; b &lt;- list(values=c(1,2,3), ids=letters[1:3])</a:t>
            </a:r>
            <a:endParaRPr sz="12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&gt; b</a:t>
            </a:r>
            <a:endParaRPr sz="12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1"/>
                </a:solidFill>
                <a:latin typeface="Courier New"/>
                <a:ea typeface="Courier New"/>
                <a:cs typeface="Courier New"/>
                <a:sym typeface="Courier New"/>
              </a:rPr>
              <a:t>&gt; b$values</a:t>
            </a:r>
            <a:endParaRPr sz="12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1"/>
                </a:solidFill>
                <a:latin typeface="Courier New"/>
                <a:ea typeface="Courier New"/>
                <a:cs typeface="Courier New"/>
                <a:sym typeface="Courier New"/>
              </a:rPr>
              <a:t>&gt; b[[1]]</a:t>
            </a:r>
            <a:endParaRPr sz="1200">
              <a:solidFill>
                <a:schemeClr val="dk1"/>
              </a:solidFill>
              <a:latin typeface="Courier New"/>
              <a:ea typeface="Courier New"/>
              <a:cs typeface="Courier New"/>
              <a:sym typeface="Courier New"/>
            </a:endParaRPr>
          </a:p>
        </p:txBody>
      </p:sp>
      <p:sp>
        <p:nvSpPr>
          <p:cNvPr id="1353" name="Google Shape;1353;p153"/>
          <p:cNvSpPr/>
          <p:nvPr/>
        </p:nvSpPr>
        <p:spPr>
          <a:xfrm>
            <a:off x="4706400" y="3971400"/>
            <a:ext cx="3519300" cy="1019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$values</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[1] 1 2 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$ids</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[1] "a" "b" "c"</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1 2 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1 2 3</a:t>
            </a:r>
            <a:endParaRPr sz="1000">
              <a:solidFill>
                <a:schemeClr val="dk1"/>
              </a:solidFill>
              <a:latin typeface="Courier New"/>
              <a:ea typeface="Courier New"/>
              <a:cs typeface="Courier New"/>
              <a:sym typeface="Courier New"/>
            </a:endParaRPr>
          </a:p>
        </p:txBody>
      </p:sp>
      <p:sp>
        <p:nvSpPr>
          <p:cNvPr id="1354" name="Google Shape;1354;p153"/>
          <p:cNvSpPr/>
          <p:nvPr/>
        </p:nvSpPr>
        <p:spPr>
          <a:xfrm>
            <a:off x="4583610" y="1022720"/>
            <a:ext cx="4120800" cy="4023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5338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1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R: Vectors vs. Lists</a:t>
            </a:r>
            <a:endParaRPr b="1">
              <a:latin typeface="Raleway"/>
              <a:ea typeface="Raleway"/>
              <a:cs typeface="Raleway"/>
              <a:sym typeface="Raleway"/>
            </a:endParaRPr>
          </a:p>
        </p:txBody>
      </p:sp>
      <p:graphicFrame>
        <p:nvGraphicFramePr>
          <p:cNvPr id="1360" name="Google Shape;1360;p154"/>
          <p:cNvGraphicFramePr/>
          <p:nvPr/>
        </p:nvGraphicFramePr>
        <p:xfrm>
          <a:off x="645725" y="1158700"/>
          <a:ext cx="7852550" cy="1676340"/>
        </p:xfrm>
        <a:graphic>
          <a:graphicData uri="http://schemas.openxmlformats.org/drawingml/2006/table">
            <a:tbl>
              <a:tblPr>
                <a:noFill/>
                <a:tableStyleId>{D4906686-9108-46FC-B36B-164DBEF758CF}</a:tableStyleId>
              </a:tblPr>
              <a:tblGrid>
                <a:gridCol w="3926275">
                  <a:extLst>
                    <a:ext uri="{9D8B030D-6E8A-4147-A177-3AD203B41FA5}">
                      <a16:colId xmlns:a16="http://schemas.microsoft.com/office/drawing/2014/main" val="20000"/>
                    </a:ext>
                  </a:extLst>
                </a:gridCol>
                <a:gridCol w="3926275">
                  <a:extLst>
                    <a:ext uri="{9D8B030D-6E8A-4147-A177-3AD203B41FA5}">
                      <a16:colId xmlns:a16="http://schemas.microsoft.com/office/drawing/2014/main" val="20001"/>
                    </a:ext>
                  </a:extLst>
                </a:gridCol>
              </a:tblGrid>
              <a:tr h="0">
                <a:tc>
                  <a:txBody>
                    <a:bodyPr/>
                    <a:lstStyle/>
                    <a:p>
                      <a:pPr marL="0" lvl="0" indent="0" algn="l" rtl="0">
                        <a:spcBef>
                          <a:spcPts val="0"/>
                        </a:spcBef>
                        <a:spcAft>
                          <a:spcPts val="0"/>
                        </a:spcAft>
                        <a:buNone/>
                      </a:pPr>
                      <a:r>
                        <a:rPr lang="en" sz="1600">
                          <a:latin typeface="Raleway"/>
                          <a:ea typeface="Raleway"/>
                          <a:cs typeface="Raleway"/>
                          <a:sym typeface="Raleway"/>
                        </a:rPr>
                        <a:t>Vectors</a:t>
                      </a:r>
                      <a:endParaRPr sz="1600">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Raleway"/>
                          <a:ea typeface="Raleway"/>
                          <a:cs typeface="Raleway"/>
                          <a:sym typeface="Raleway"/>
                        </a:rPr>
                        <a:t>Lists</a:t>
                      </a:r>
                      <a:endParaRPr sz="1600">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41500">
                <a:tc>
                  <a:txBody>
                    <a:bodyPr/>
                    <a:lstStyle/>
                    <a:p>
                      <a:pPr marL="457200" lvl="0" indent="-317500" algn="l" rtl="0">
                        <a:spcBef>
                          <a:spcPts val="0"/>
                        </a:spcBef>
                        <a:spcAft>
                          <a:spcPts val="0"/>
                        </a:spcAft>
                        <a:buSzPts val="1400"/>
                        <a:buFont typeface="Raleway"/>
                        <a:buChar char="●"/>
                      </a:pPr>
                      <a:r>
                        <a:rPr lang="en">
                          <a:latin typeface="Raleway"/>
                          <a:ea typeface="Raleway"/>
                          <a:cs typeface="Raleway"/>
                          <a:sym typeface="Raleway"/>
                        </a:rPr>
                        <a:t>Atomic</a:t>
                      </a:r>
                      <a:endParaRPr>
                        <a:latin typeface="Raleway"/>
                        <a:ea typeface="Raleway"/>
                        <a:cs typeface="Raleway"/>
                        <a:sym typeface="Raleway"/>
                      </a:endParaRPr>
                    </a:p>
                    <a:p>
                      <a:pPr marL="914400" lvl="1" indent="-317500" algn="l" rtl="0">
                        <a:spcBef>
                          <a:spcPts val="0"/>
                        </a:spcBef>
                        <a:spcAft>
                          <a:spcPts val="0"/>
                        </a:spcAft>
                        <a:buSzPts val="1400"/>
                        <a:buFont typeface="Raleway"/>
                        <a:buChar char="○"/>
                      </a:pPr>
                      <a:r>
                        <a:rPr lang="en">
                          <a:latin typeface="Raleway"/>
                          <a:ea typeface="Raleway"/>
                          <a:cs typeface="Raleway"/>
                          <a:sym typeface="Raleway"/>
                        </a:rPr>
                        <a:t>One-dimensional</a:t>
                      </a:r>
                      <a:endParaRPr>
                        <a:latin typeface="Raleway"/>
                        <a:ea typeface="Raleway"/>
                        <a:cs typeface="Raleway"/>
                        <a:sym typeface="Raleway"/>
                      </a:endParaRPr>
                    </a:p>
                    <a:p>
                      <a:pPr marL="914400" lvl="1" indent="-317500" algn="l" rtl="0">
                        <a:spcBef>
                          <a:spcPts val="0"/>
                        </a:spcBef>
                        <a:spcAft>
                          <a:spcPts val="0"/>
                        </a:spcAft>
                        <a:buSzPts val="1400"/>
                        <a:buFont typeface="Raleway"/>
                        <a:buChar char="○"/>
                      </a:pPr>
                      <a:r>
                        <a:rPr lang="en">
                          <a:latin typeface="Raleway"/>
                          <a:ea typeface="Raleway"/>
                          <a:cs typeface="Raleway"/>
                          <a:sym typeface="Raleway"/>
                        </a:rPr>
                        <a:t>Can hold values of one type</a:t>
                      </a:r>
                      <a:endParaRPr>
                        <a:latin typeface="Raleway"/>
                        <a:ea typeface="Raleway"/>
                        <a:cs typeface="Raleway"/>
                        <a:sym typeface="Raleway"/>
                      </a:endParaRPr>
                    </a:p>
                    <a:p>
                      <a:pPr marL="457200" lvl="0" indent="-317500" algn="l" rtl="0">
                        <a:spcBef>
                          <a:spcPts val="0"/>
                        </a:spcBef>
                        <a:spcAft>
                          <a:spcPts val="0"/>
                        </a:spcAft>
                        <a:buSzPts val="1400"/>
                        <a:buFont typeface="Raleway"/>
                        <a:buChar char="●"/>
                      </a:pPr>
                      <a:r>
                        <a:rPr lang="en">
                          <a:latin typeface="Raleway"/>
                          <a:ea typeface="Raleway"/>
                          <a:cs typeface="Raleway"/>
                          <a:sym typeface="Raleway"/>
                        </a:rPr>
                        <a:t>Most basic data structure</a:t>
                      </a:r>
                      <a:endParaRPr>
                        <a:latin typeface="Raleway"/>
                        <a:ea typeface="Raleway"/>
                        <a:cs typeface="Raleway"/>
                        <a:sym typeface="Raleway"/>
                      </a:endParaRPr>
                    </a:p>
                    <a:p>
                      <a:pPr marL="457200" lvl="0" indent="-317500" algn="l" rtl="0">
                        <a:spcBef>
                          <a:spcPts val="0"/>
                        </a:spcBef>
                        <a:spcAft>
                          <a:spcPts val="0"/>
                        </a:spcAft>
                        <a:buSzPts val="1400"/>
                        <a:buFont typeface="Raleway"/>
                        <a:buChar char="●"/>
                      </a:pPr>
                      <a:r>
                        <a:rPr lang="en">
                          <a:latin typeface="Raleway"/>
                          <a:ea typeface="Raleway"/>
                          <a:cs typeface="Raleway"/>
                          <a:sym typeface="Raleway"/>
                        </a:rPr>
                        <a:t>Easier to manipulate</a:t>
                      </a:r>
                      <a:endParaRPr>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lvl="0"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Recursive</a:t>
                      </a:r>
                      <a:endParaRPr>
                        <a:solidFill>
                          <a:schemeClr val="dk1"/>
                        </a:solidFill>
                        <a:latin typeface="Raleway"/>
                        <a:ea typeface="Raleway"/>
                        <a:cs typeface="Raleway"/>
                        <a:sym typeface="Raleway"/>
                      </a:endParaRPr>
                    </a:p>
                    <a:p>
                      <a:pPr marL="914400" lvl="1"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Multi-dimensional</a:t>
                      </a:r>
                      <a:endParaRPr>
                        <a:solidFill>
                          <a:schemeClr val="dk1"/>
                        </a:solidFill>
                        <a:latin typeface="Raleway"/>
                        <a:ea typeface="Raleway"/>
                        <a:cs typeface="Raleway"/>
                        <a:sym typeface="Raleway"/>
                      </a:endParaRPr>
                    </a:p>
                    <a:p>
                      <a:pPr marL="914400" lvl="1"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Can hold values of multiple types</a:t>
                      </a:r>
                      <a:endParaRPr>
                        <a:solidFill>
                          <a:schemeClr val="dk1"/>
                        </a:solidFill>
                        <a:latin typeface="Raleway"/>
                        <a:ea typeface="Raleway"/>
                        <a:cs typeface="Raleway"/>
                        <a:sym typeface="Raleway"/>
                      </a:endParaRPr>
                    </a:p>
                    <a:p>
                      <a:pPr marL="457200" lvl="0"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Commonly used to represent datasets or modules</a:t>
                      </a:r>
                      <a:endParaRPr>
                        <a:solidFill>
                          <a:schemeClr val="dk1"/>
                        </a:solidFill>
                        <a:latin typeface="Raleway"/>
                        <a:ea typeface="Raleway"/>
                        <a:cs typeface="Raleway"/>
                        <a:sym typeface="Ralew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61" name="Google Shape;1361;p154"/>
          <p:cNvSpPr/>
          <p:nvPr/>
        </p:nvSpPr>
        <p:spPr>
          <a:xfrm>
            <a:off x="918250" y="2989125"/>
            <a:ext cx="3519300" cy="951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700">
                <a:solidFill>
                  <a:schemeClr val="dk1"/>
                </a:solidFill>
                <a:latin typeface="Courier New"/>
                <a:ea typeface="Courier New"/>
                <a:cs typeface="Courier New"/>
                <a:sym typeface="Courier New"/>
              </a:rPr>
              <a:t>&gt; a &lt;- c(1,2,3)</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&gt; a</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&gt; a[1]</a:t>
            </a:r>
            <a:endParaRPr/>
          </a:p>
        </p:txBody>
      </p:sp>
      <p:pic>
        <p:nvPicPr>
          <p:cNvPr id="1362" name="Google Shape;1362;p154"/>
          <p:cNvPicPr preferRelativeResize="0"/>
          <p:nvPr/>
        </p:nvPicPr>
        <p:blipFill>
          <a:blip r:embed="rId3">
            <a:alphaModFix/>
          </a:blip>
          <a:stretch>
            <a:fillRect/>
          </a:stretch>
        </p:blipFill>
        <p:spPr>
          <a:xfrm>
            <a:off x="391250" y="2989125"/>
            <a:ext cx="460574" cy="356875"/>
          </a:xfrm>
          <a:prstGeom prst="rect">
            <a:avLst/>
          </a:prstGeom>
          <a:noFill/>
          <a:ln>
            <a:noFill/>
          </a:ln>
        </p:spPr>
      </p:pic>
      <p:sp>
        <p:nvSpPr>
          <p:cNvPr id="1363" name="Google Shape;1363;p154"/>
          <p:cNvSpPr/>
          <p:nvPr/>
        </p:nvSpPr>
        <p:spPr>
          <a:xfrm>
            <a:off x="918250" y="3971400"/>
            <a:ext cx="3519300" cy="1019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[1] 1 2 3</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[1] 1</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a:p>
        </p:txBody>
      </p:sp>
      <p:sp>
        <p:nvSpPr>
          <p:cNvPr id="1364" name="Google Shape;1364;p154"/>
          <p:cNvSpPr txBox="1"/>
          <p:nvPr/>
        </p:nvSpPr>
        <p:spPr>
          <a:xfrm>
            <a:off x="391238" y="3940200"/>
            <a:ext cx="6252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365" name="Google Shape;1365;p154"/>
          <p:cNvSpPr/>
          <p:nvPr/>
        </p:nvSpPr>
        <p:spPr>
          <a:xfrm>
            <a:off x="4706400" y="2989125"/>
            <a:ext cx="3519300" cy="951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Courier New"/>
                <a:ea typeface="Courier New"/>
                <a:cs typeface="Courier New"/>
                <a:sym typeface="Courier New"/>
              </a:rPr>
              <a:t>&gt; b &lt;- list(values=c(1,2,3), ids=letters[1:4])</a:t>
            </a:r>
            <a:endParaRPr sz="12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&gt; b</a:t>
            </a:r>
            <a:endParaRPr sz="12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1"/>
                </a:solidFill>
                <a:latin typeface="Courier New"/>
                <a:ea typeface="Courier New"/>
                <a:cs typeface="Courier New"/>
                <a:sym typeface="Courier New"/>
              </a:rPr>
              <a:t>&gt; b$values</a:t>
            </a:r>
            <a:endParaRPr sz="12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1"/>
                </a:solidFill>
                <a:latin typeface="Courier New"/>
                <a:ea typeface="Courier New"/>
                <a:cs typeface="Courier New"/>
                <a:sym typeface="Courier New"/>
              </a:rPr>
              <a:t>&gt; b[[1]]</a:t>
            </a:r>
            <a:endParaRPr sz="1200">
              <a:solidFill>
                <a:schemeClr val="dk1"/>
              </a:solidFill>
              <a:latin typeface="Courier New"/>
              <a:ea typeface="Courier New"/>
              <a:cs typeface="Courier New"/>
              <a:sym typeface="Courier New"/>
            </a:endParaRPr>
          </a:p>
        </p:txBody>
      </p:sp>
      <p:sp>
        <p:nvSpPr>
          <p:cNvPr id="1366" name="Google Shape;1366;p154"/>
          <p:cNvSpPr/>
          <p:nvPr/>
        </p:nvSpPr>
        <p:spPr>
          <a:xfrm>
            <a:off x="4706400" y="3971400"/>
            <a:ext cx="3519300" cy="1019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Courier New"/>
                <a:ea typeface="Courier New"/>
                <a:cs typeface="Courier New"/>
                <a:sym typeface="Courier New"/>
              </a:rPr>
              <a:t>$values</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1 2 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$ids</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"a" "b" "c" "d"</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1 2 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1 2 3</a:t>
            </a:r>
            <a:endParaRPr sz="1000">
              <a:solidFill>
                <a:schemeClr val="dk1"/>
              </a:solidFill>
              <a:latin typeface="Courier New"/>
              <a:ea typeface="Courier New"/>
              <a:cs typeface="Courier New"/>
              <a:sym typeface="Courier New"/>
            </a:endParaRPr>
          </a:p>
        </p:txBody>
      </p:sp>
    </p:spTree>
    <p:extLst>
      <p:ext uri="{BB962C8B-B14F-4D97-AF65-F5344CB8AC3E}">
        <p14:creationId xmlns:p14="http://schemas.microsoft.com/office/powerpoint/2010/main" val="27482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sp>
        <p:nvSpPr>
          <p:cNvPr id="1371" name="Google Shape;1371;p155"/>
          <p:cNvSpPr/>
          <p:nvPr/>
        </p:nvSpPr>
        <p:spPr>
          <a:xfrm>
            <a:off x="519325" y="1219200"/>
            <a:ext cx="3892800" cy="18960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500">
              <a:latin typeface="Courier New"/>
              <a:ea typeface="Courier New"/>
              <a:cs typeface="Courier New"/>
              <a:sym typeface="Courier New"/>
            </a:endParaRPr>
          </a:p>
          <a:p>
            <a:pPr marL="0" lvl="0" indent="0" algn="l" rtl="0">
              <a:spcBef>
                <a:spcPts val="0"/>
              </a:spcBef>
              <a:spcAft>
                <a:spcPts val="0"/>
              </a:spcAft>
              <a:buNone/>
            </a:pPr>
            <a:r>
              <a:rPr lang="en" sz="1500">
                <a:latin typeface="Courier New"/>
                <a:ea typeface="Courier New"/>
                <a:cs typeface="Courier New"/>
                <a:sym typeface="Courier New"/>
              </a:rPr>
              <a:t>x=[1, 2, 3]</a:t>
            </a:r>
            <a:endParaRPr sz="1500">
              <a:latin typeface="Courier New"/>
              <a:ea typeface="Courier New"/>
              <a:cs typeface="Courier New"/>
              <a:sym typeface="Courier New"/>
            </a:endParaRPr>
          </a:p>
          <a:p>
            <a:pPr marL="0" lvl="0" indent="0" algn="l" rtl="0">
              <a:spcBef>
                <a:spcPts val="0"/>
              </a:spcBef>
              <a:spcAft>
                <a:spcPts val="0"/>
              </a:spcAft>
              <a:buNone/>
            </a:pPr>
            <a:r>
              <a:rPr lang="en" sz="1500">
                <a:latin typeface="Courier New"/>
                <a:ea typeface="Courier New"/>
                <a:cs typeface="Courier New"/>
                <a:sym typeface="Courier New"/>
              </a:rPr>
              <a:t>for i in x:</a:t>
            </a:r>
            <a:endParaRPr sz="1500">
              <a:latin typeface="Courier New"/>
              <a:ea typeface="Courier New"/>
              <a:cs typeface="Courier New"/>
              <a:sym typeface="Courier New"/>
            </a:endParaRPr>
          </a:p>
          <a:p>
            <a:pPr marL="0" lvl="0" indent="0" algn="l" rtl="0">
              <a:spcBef>
                <a:spcPts val="0"/>
              </a:spcBef>
              <a:spcAft>
                <a:spcPts val="0"/>
              </a:spcAft>
              <a:buNone/>
            </a:pPr>
            <a:r>
              <a:rPr lang="en" sz="1500">
                <a:latin typeface="Courier New"/>
                <a:ea typeface="Courier New"/>
                <a:cs typeface="Courier New"/>
                <a:sym typeface="Courier New"/>
              </a:rPr>
              <a:t>	if i &gt; 2:</a:t>
            </a:r>
            <a:endParaRPr sz="1500">
              <a:latin typeface="Courier New"/>
              <a:ea typeface="Courier New"/>
              <a:cs typeface="Courier New"/>
              <a:sym typeface="Courier New"/>
            </a:endParaRPr>
          </a:p>
          <a:p>
            <a:pPr marL="0" lvl="0" indent="0" algn="l" rtl="0">
              <a:spcBef>
                <a:spcPts val="0"/>
              </a:spcBef>
              <a:spcAft>
                <a:spcPts val="0"/>
              </a:spcAft>
              <a:buNone/>
            </a:pPr>
            <a:r>
              <a:rPr lang="en" sz="1500">
                <a:latin typeface="Courier New"/>
                <a:ea typeface="Courier New"/>
                <a:cs typeface="Courier New"/>
                <a:sym typeface="Courier New"/>
              </a:rPr>
              <a:t>		return “high”</a:t>
            </a:r>
            <a:endParaRPr sz="1500">
              <a:latin typeface="Courier New"/>
              <a:ea typeface="Courier New"/>
              <a:cs typeface="Courier New"/>
              <a:sym typeface="Courier New"/>
            </a:endParaRPr>
          </a:p>
          <a:p>
            <a:pPr marL="0" lvl="0" indent="0" algn="l" rtl="0">
              <a:spcBef>
                <a:spcPts val="0"/>
              </a:spcBef>
              <a:spcAft>
                <a:spcPts val="0"/>
              </a:spcAft>
              <a:buNone/>
            </a:pPr>
            <a:r>
              <a:rPr lang="en" sz="1500">
                <a:latin typeface="Courier New"/>
                <a:ea typeface="Courier New"/>
                <a:cs typeface="Courier New"/>
                <a:sym typeface="Courier New"/>
              </a:rPr>
              <a:t>	else:</a:t>
            </a:r>
            <a:endParaRPr sz="1500">
              <a:latin typeface="Courier New"/>
              <a:ea typeface="Courier New"/>
              <a:cs typeface="Courier New"/>
              <a:sym typeface="Courier New"/>
            </a:endParaRPr>
          </a:p>
          <a:p>
            <a:pPr marL="0" lvl="0" indent="0" algn="l" rtl="0">
              <a:spcBef>
                <a:spcPts val="0"/>
              </a:spcBef>
              <a:spcAft>
                <a:spcPts val="0"/>
              </a:spcAft>
              <a:buNone/>
            </a:pPr>
            <a:r>
              <a:rPr lang="en" sz="1500">
                <a:latin typeface="Courier New"/>
                <a:ea typeface="Courier New"/>
                <a:cs typeface="Courier New"/>
                <a:sym typeface="Courier New"/>
              </a:rPr>
              <a:t>		return “low”</a:t>
            </a:r>
            <a:endParaRPr sz="1500">
              <a:latin typeface="Courier New"/>
              <a:ea typeface="Courier New"/>
              <a:cs typeface="Courier New"/>
              <a:sym typeface="Courier New"/>
            </a:endParaRPr>
          </a:p>
        </p:txBody>
      </p:sp>
      <p:sp>
        <p:nvSpPr>
          <p:cNvPr id="1372" name="Google Shape;1372;p155"/>
          <p:cNvSpPr/>
          <p:nvPr/>
        </p:nvSpPr>
        <p:spPr>
          <a:xfrm>
            <a:off x="5015375" y="1219200"/>
            <a:ext cx="3902400" cy="1896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&gt; x &lt;- c(1,2,3)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&gt; for (i in x){</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if (i&gt;2){</a:t>
            </a:r>
            <a:endParaRPr sz="1000">
              <a:solidFill>
                <a:schemeClr val="dk1"/>
              </a:solidFill>
              <a:latin typeface="Courier New"/>
              <a:ea typeface="Courier New"/>
              <a:cs typeface="Courier New"/>
              <a:sym typeface="Courier New"/>
            </a:endParaRPr>
          </a:p>
          <a:p>
            <a:pPr marL="457200" lvl="0" indent="45720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print(“high”)</a:t>
            </a:r>
            <a:endParaRPr sz="1000">
              <a:solidFill>
                <a:schemeClr val="dk1"/>
              </a:solidFill>
              <a:latin typeface="Courier New"/>
              <a:ea typeface="Courier New"/>
              <a:cs typeface="Courier New"/>
              <a:sym typeface="Courier New"/>
            </a:endParaRPr>
          </a:p>
          <a:p>
            <a:pPr marL="45720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else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print(”low”)</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&gt; ifelse(x&gt;2,"high","low")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p>
        </p:txBody>
      </p:sp>
      <p:sp>
        <p:nvSpPr>
          <p:cNvPr id="1373" name="Google Shape;1373;p155"/>
          <p:cNvSpPr/>
          <p:nvPr/>
        </p:nvSpPr>
        <p:spPr>
          <a:xfrm>
            <a:off x="519325" y="1219200"/>
            <a:ext cx="3892800" cy="363000"/>
          </a:xfrm>
          <a:prstGeom prst="rect">
            <a:avLst/>
          </a:prstGeom>
          <a:solidFill>
            <a:srgbClr val="666666"/>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rPr>
              <a:t>Python Script</a:t>
            </a:r>
            <a:endParaRPr>
              <a:solidFill>
                <a:srgbClr val="FFFFFF"/>
              </a:solidFill>
            </a:endParaRPr>
          </a:p>
        </p:txBody>
      </p:sp>
      <p:sp>
        <p:nvSpPr>
          <p:cNvPr id="1374" name="Google Shape;1374;p155"/>
          <p:cNvSpPr/>
          <p:nvPr/>
        </p:nvSpPr>
        <p:spPr>
          <a:xfrm>
            <a:off x="5015377" y="1219200"/>
            <a:ext cx="3902400" cy="363000"/>
          </a:xfrm>
          <a:prstGeom prst="rect">
            <a:avLst/>
          </a:prstGeom>
          <a:solidFill>
            <a:srgbClr val="666666"/>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rPr>
              <a:t>R Script</a:t>
            </a:r>
            <a:endParaRPr>
              <a:solidFill>
                <a:srgbClr val="FFFFFF"/>
              </a:solidFill>
            </a:endParaRPr>
          </a:p>
        </p:txBody>
      </p:sp>
      <p:pic>
        <p:nvPicPr>
          <p:cNvPr id="1375" name="Google Shape;1375;p155"/>
          <p:cNvPicPr preferRelativeResize="0"/>
          <p:nvPr/>
        </p:nvPicPr>
        <p:blipFill>
          <a:blip r:embed="rId3">
            <a:alphaModFix/>
          </a:blip>
          <a:stretch>
            <a:fillRect/>
          </a:stretch>
        </p:blipFill>
        <p:spPr>
          <a:xfrm>
            <a:off x="90700" y="1219200"/>
            <a:ext cx="363001" cy="362999"/>
          </a:xfrm>
          <a:prstGeom prst="rect">
            <a:avLst/>
          </a:prstGeom>
          <a:noFill/>
          <a:ln>
            <a:noFill/>
          </a:ln>
        </p:spPr>
      </p:pic>
      <p:pic>
        <p:nvPicPr>
          <p:cNvPr id="1376" name="Google Shape;1376;p155"/>
          <p:cNvPicPr preferRelativeResize="0"/>
          <p:nvPr/>
        </p:nvPicPr>
        <p:blipFill>
          <a:blip r:embed="rId4">
            <a:alphaModFix/>
          </a:blip>
          <a:stretch>
            <a:fillRect/>
          </a:stretch>
        </p:blipFill>
        <p:spPr>
          <a:xfrm>
            <a:off x="4495823" y="1222255"/>
            <a:ext cx="454077" cy="356882"/>
          </a:xfrm>
          <a:prstGeom prst="rect">
            <a:avLst/>
          </a:prstGeom>
          <a:noFill/>
          <a:ln>
            <a:noFill/>
          </a:ln>
        </p:spPr>
      </p:pic>
      <p:sp>
        <p:nvSpPr>
          <p:cNvPr id="1377" name="Google Shape;1377;p155"/>
          <p:cNvSpPr/>
          <p:nvPr/>
        </p:nvSpPr>
        <p:spPr>
          <a:xfrm>
            <a:off x="519323" y="503625"/>
            <a:ext cx="19416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② CONDITIONAL STATEMENTS</a:t>
            </a:r>
            <a:endParaRPr b="1">
              <a:solidFill>
                <a:srgbClr val="274E13"/>
              </a:solidFill>
            </a:endParaRPr>
          </a:p>
        </p:txBody>
      </p:sp>
      <p:sp>
        <p:nvSpPr>
          <p:cNvPr id="1378" name="Google Shape;1378;p155"/>
          <p:cNvSpPr/>
          <p:nvPr/>
        </p:nvSpPr>
        <p:spPr>
          <a:xfrm>
            <a:off x="519325" y="3185825"/>
            <a:ext cx="3892800" cy="9390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500">
              <a:latin typeface="Courier New"/>
              <a:ea typeface="Courier New"/>
              <a:cs typeface="Courier New"/>
              <a:sym typeface="Courier New"/>
            </a:endParaRPr>
          </a:p>
          <a:p>
            <a:pPr marL="0" lvl="0" indent="0" algn="l" rtl="0">
              <a:spcBef>
                <a:spcPts val="0"/>
              </a:spcBef>
              <a:spcAft>
                <a:spcPts val="0"/>
              </a:spcAft>
              <a:buNone/>
            </a:pPr>
            <a:r>
              <a:rPr lang="en" sz="1500">
                <a:latin typeface="Courier New"/>
                <a:ea typeface="Courier New"/>
                <a:cs typeface="Courier New"/>
                <a:sym typeface="Courier New"/>
              </a:rPr>
              <a:t>low</a:t>
            </a:r>
            <a:endParaRPr sz="1500">
              <a:latin typeface="Courier New"/>
              <a:ea typeface="Courier New"/>
              <a:cs typeface="Courier New"/>
              <a:sym typeface="Courier New"/>
            </a:endParaRPr>
          </a:p>
          <a:p>
            <a:pPr marL="0" lvl="0" indent="0" algn="l" rtl="0">
              <a:spcBef>
                <a:spcPts val="0"/>
              </a:spcBef>
              <a:spcAft>
                <a:spcPts val="0"/>
              </a:spcAft>
              <a:buNone/>
            </a:pPr>
            <a:r>
              <a:rPr lang="en" sz="1500">
                <a:latin typeface="Courier New"/>
                <a:ea typeface="Courier New"/>
                <a:cs typeface="Courier New"/>
                <a:sym typeface="Courier New"/>
              </a:rPr>
              <a:t>low</a:t>
            </a:r>
            <a:endParaRPr sz="1500">
              <a:latin typeface="Courier New"/>
              <a:ea typeface="Courier New"/>
              <a:cs typeface="Courier New"/>
              <a:sym typeface="Courier New"/>
            </a:endParaRPr>
          </a:p>
          <a:p>
            <a:pPr marL="0" lvl="0" indent="0" algn="l" rtl="0">
              <a:spcBef>
                <a:spcPts val="0"/>
              </a:spcBef>
              <a:spcAft>
                <a:spcPts val="0"/>
              </a:spcAft>
              <a:buNone/>
            </a:pPr>
            <a:r>
              <a:rPr lang="en" sz="1500">
                <a:latin typeface="Courier New"/>
                <a:ea typeface="Courier New"/>
                <a:cs typeface="Courier New"/>
                <a:sym typeface="Courier New"/>
              </a:rPr>
              <a:t>high</a:t>
            </a:r>
            <a:endParaRPr sz="1500">
              <a:latin typeface="Courier New"/>
              <a:ea typeface="Courier New"/>
              <a:cs typeface="Courier New"/>
              <a:sym typeface="Courier New"/>
            </a:endParaRPr>
          </a:p>
          <a:p>
            <a:pPr marL="0" lvl="0" indent="0" algn="l" rtl="0">
              <a:spcBef>
                <a:spcPts val="0"/>
              </a:spcBef>
              <a:spcAft>
                <a:spcPts val="0"/>
              </a:spcAft>
              <a:buNone/>
            </a:pPr>
            <a:endParaRPr sz="1500">
              <a:latin typeface="Courier New"/>
              <a:ea typeface="Courier New"/>
              <a:cs typeface="Courier New"/>
              <a:sym typeface="Courier New"/>
            </a:endParaRPr>
          </a:p>
        </p:txBody>
      </p:sp>
      <p:sp>
        <p:nvSpPr>
          <p:cNvPr id="1379" name="Google Shape;1379;p155"/>
          <p:cNvSpPr txBox="1"/>
          <p:nvPr/>
        </p:nvSpPr>
        <p:spPr>
          <a:xfrm>
            <a:off x="0" y="3044525"/>
            <a:ext cx="6252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380" name="Google Shape;1380;p155"/>
          <p:cNvSpPr/>
          <p:nvPr/>
        </p:nvSpPr>
        <p:spPr>
          <a:xfrm>
            <a:off x="5012850" y="3185825"/>
            <a:ext cx="3902400" cy="939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Courier New"/>
              <a:ea typeface="Courier New"/>
              <a:cs typeface="Courier New"/>
              <a:sym typeface="Courier New"/>
            </a:endParaRPr>
          </a:p>
          <a:p>
            <a:pPr marL="0" lvl="0" indent="0" algn="l" rtl="0">
              <a:spcBef>
                <a:spcPts val="0"/>
              </a:spcBef>
              <a:spcAft>
                <a:spcPts val="0"/>
              </a:spcAft>
              <a:buNone/>
            </a:pPr>
            <a:endParaRPr>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a:solidFill>
                  <a:schemeClr val="dk1"/>
                </a:solidFill>
                <a:latin typeface="Courier New"/>
                <a:ea typeface="Courier New"/>
                <a:cs typeface="Courier New"/>
                <a:sym typeface="Courier New"/>
              </a:rPr>
              <a:t>[1] “low”</a:t>
            </a:r>
            <a:endParaRPr>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a:solidFill>
                  <a:schemeClr val="dk1"/>
                </a:solidFill>
                <a:latin typeface="Courier New"/>
                <a:ea typeface="Courier New"/>
                <a:cs typeface="Courier New"/>
                <a:sym typeface="Courier New"/>
              </a:rPr>
              <a:t>[1] “low”</a:t>
            </a:r>
            <a:endParaRPr>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a:solidFill>
                  <a:schemeClr val="dk1"/>
                </a:solidFill>
                <a:latin typeface="Courier New"/>
                <a:ea typeface="Courier New"/>
                <a:cs typeface="Courier New"/>
                <a:sym typeface="Courier New"/>
              </a:rPr>
              <a:t>[1] “high”</a:t>
            </a:r>
            <a:endParaRPr>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a:solidFill>
                  <a:schemeClr val="dk1"/>
                </a:solidFill>
                <a:latin typeface="Courier New"/>
                <a:ea typeface="Courier New"/>
                <a:cs typeface="Courier New"/>
                <a:sym typeface="Courier New"/>
              </a:rPr>
              <a:t>[1] "low" "low" "high" </a:t>
            </a:r>
            <a:endParaRPr>
              <a:solidFill>
                <a:schemeClr val="dk1"/>
              </a:solidFill>
              <a:latin typeface="Courier New"/>
              <a:ea typeface="Courier New"/>
              <a:cs typeface="Courier New"/>
              <a:sym typeface="Courier New"/>
            </a:endParaRPr>
          </a:p>
          <a:p>
            <a:pPr marL="0" lvl="0" indent="0" algn="l" rtl="0">
              <a:spcBef>
                <a:spcPts val="0"/>
              </a:spcBef>
              <a:spcAft>
                <a:spcPts val="0"/>
              </a:spcAft>
              <a:buNone/>
            </a:pPr>
            <a:endParaRPr>
              <a:solidFill>
                <a:schemeClr val="dk1"/>
              </a:solidFill>
              <a:latin typeface="Courier New"/>
              <a:ea typeface="Courier New"/>
              <a:cs typeface="Courier New"/>
              <a:sym typeface="Courier New"/>
            </a:endParaRPr>
          </a:p>
          <a:p>
            <a:pPr marL="0" lvl="0" indent="0" algn="l" rtl="0">
              <a:spcBef>
                <a:spcPts val="0"/>
              </a:spcBef>
              <a:spcAft>
                <a:spcPts val="0"/>
              </a:spcAft>
              <a:buNone/>
            </a:pPr>
            <a:endParaRPr/>
          </a:p>
        </p:txBody>
      </p:sp>
      <p:sp>
        <p:nvSpPr>
          <p:cNvPr id="1381" name="Google Shape;1381;p155"/>
          <p:cNvSpPr txBox="1"/>
          <p:nvPr/>
        </p:nvSpPr>
        <p:spPr>
          <a:xfrm>
            <a:off x="4495825" y="3044525"/>
            <a:ext cx="6165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382" name="Google Shape;1382;p155"/>
          <p:cNvSpPr/>
          <p:nvPr/>
        </p:nvSpPr>
        <p:spPr>
          <a:xfrm>
            <a:off x="2536800" y="494875"/>
            <a:ext cx="18753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③ LOOPING &amp; ITERATION</a:t>
            </a:r>
            <a:endParaRPr b="1">
              <a:solidFill>
                <a:srgbClr val="274E13"/>
              </a:solidFill>
            </a:endParaRPr>
          </a:p>
        </p:txBody>
      </p:sp>
      <p:sp>
        <p:nvSpPr>
          <p:cNvPr id="1383" name="Google Shape;1383;p155"/>
          <p:cNvSpPr/>
          <p:nvPr/>
        </p:nvSpPr>
        <p:spPr>
          <a:xfrm>
            <a:off x="5017661" y="508000"/>
            <a:ext cx="1941600" cy="653700"/>
          </a:xfrm>
          <a:prstGeom prst="roundRect">
            <a:avLst>
              <a:gd name="adj" fmla="val 16667"/>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② CONDITIONAL STATEMENTS</a:t>
            </a:r>
            <a:endParaRPr b="1">
              <a:solidFill>
                <a:srgbClr val="274E13"/>
              </a:solidFill>
            </a:endParaRPr>
          </a:p>
        </p:txBody>
      </p:sp>
      <p:sp>
        <p:nvSpPr>
          <p:cNvPr id="1384" name="Google Shape;1384;p155"/>
          <p:cNvSpPr/>
          <p:nvPr/>
        </p:nvSpPr>
        <p:spPr>
          <a:xfrm>
            <a:off x="7035138" y="499250"/>
            <a:ext cx="1875300" cy="653700"/>
          </a:xfrm>
          <a:prstGeom prst="roundRect">
            <a:avLst>
              <a:gd name="adj" fmla="val 16667"/>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③ LOOPING &amp; ITERATION</a:t>
            </a:r>
            <a:endParaRPr b="1">
              <a:solidFill>
                <a:srgbClr val="274E13"/>
              </a:solidFill>
            </a:endParaRPr>
          </a:p>
        </p:txBody>
      </p:sp>
      <p:sp>
        <p:nvSpPr>
          <p:cNvPr id="1385" name="Google Shape;1385;p155"/>
          <p:cNvSpPr txBox="1"/>
          <p:nvPr/>
        </p:nvSpPr>
        <p:spPr>
          <a:xfrm>
            <a:off x="5112325" y="4195450"/>
            <a:ext cx="3645900" cy="714300"/>
          </a:xfrm>
          <a:prstGeom prst="rect">
            <a:avLst/>
          </a:prstGeom>
          <a:noFill/>
          <a:ln>
            <a:noFill/>
          </a:ln>
        </p:spPr>
        <p:txBody>
          <a:bodyPr spcFirstLastPara="1" wrap="square" lIns="91425" tIns="91425" rIns="91425" bIns="91425" anchor="t" anchorCtr="0">
            <a:spAutoFit/>
          </a:bodyPr>
          <a:lstStyle/>
          <a:p>
            <a:pPr marL="0" lvl="0" indent="0" algn="r" rtl="0">
              <a:lnSpc>
                <a:spcPct val="115000"/>
              </a:lnSpc>
              <a:spcBef>
                <a:spcPts val="0"/>
              </a:spcBef>
              <a:spcAft>
                <a:spcPts val="1600"/>
              </a:spcAft>
              <a:buNone/>
            </a:pPr>
            <a:r>
              <a:rPr lang="en" sz="1600" i="1">
                <a:solidFill>
                  <a:schemeClr val="dk1"/>
                </a:solidFill>
                <a:highlight>
                  <a:srgbClr val="FFFF00"/>
                </a:highlight>
                <a:latin typeface="Raleway"/>
                <a:ea typeface="Raleway"/>
                <a:cs typeface="Raleway"/>
                <a:sym typeface="Raleway"/>
              </a:rPr>
              <a:t>Many R functions will automatically loop through vectors</a:t>
            </a:r>
            <a:endParaRPr sz="1200" i="1">
              <a:highlight>
                <a:srgbClr val="FFFF00"/>
              </a:highlight>
            </a:endParaRPr>
          </a:p>
        </p:txBody>
      </p:sp>
    </p:spTree>
    <p:extLst>
      <p:ext uri="{BB962C8B-B14F-4D97-AF65-F5344CB8AC3E}">
        <p14:creationId xmlns:p14="http://schemas.microsoft.com/office/powerpoint/2010/main" val="1760734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89"/>
        <p:cNvGrpSpPr/>
        <p:nvPr/>
      </p:nvGrpSpPr>
      <p:grpSpPr>
        <a:xfrm>
          <a:off x="0" y="0"/>
          <a:ext cx="0" cy="0"/>
          <a:chOff x="0" y="0"/>
          <a:chExt cx="0" cy="0"/>
        </a:xfrm>
      </p:grpSpPr>
      <p:sp>
        <p:nvSpPr>
          <p:cNvPr id="1390" name="Google Shape;1390;p156"/>
          <p:cNvSpPr/>
          <p:nvPr/>
        </p:nvSpPr>
        <p:spPr>
          <a:xfrm>
            <a:off x="5313000" y="2315750"/>
            <a:ext cx="3519300" cy="27333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1 2 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0.8414710 0.9092974 0.1411200</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[[1]]</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[1] 1 2 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[[2]]</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TRUE FALSE  TRUE  TRUE</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[[1]]</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[1] 2</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[[2]]</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[1] 0.75</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[,1] [,2] [,3]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1    3    5</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[2,]    2    4    6</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[1] 3 4</a:t>
            </a:r>
            <a:endParaRPr sz="1000"/>
          </a:p>
        </p:txBody>
      </p:sp>
      <p:sp>
        <p:nvSpPr>
          <p:cNvPr id="1391" name="Google Shape;1391;p1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R: Alternatives to Loops</a:t>
            </a:r>
            <a:endParaRPr b="1">
              <a:latin typeface="Raleway"/>
              <a:ea typeface="Raleway"/>
              <a:cs typeface="Raleway"/>
              <a:sym typeface="Raleway"/>
            </a:endParaRPr>
          </a:p>
        </p:txBody>
      </p:sp>
      <p:pic>
        <p:nvPicPr>
          <p:cNvPr id="1392" name="Google Shape;1392;p156"/>
          <p:cNvPicPr preferRelativeResize="0"/>
          <p:nvPr/>
        </p:nvPicPr>
        <p:blipFill>
          <a:blip r:embed="rId3">
            <a:alphaModFix/>
          </a:blip>
          <a:stretch>
            <a:fillRect/>
          </a:stretch>
        </p:blipFill>
        <p:spPr>
          <a:xfrm>
            <a:off x="4786000" y="252050"/>
            <a:ext cx="460574" cy="356875"/>
          </a:xfrm>
          <a:prstGeom prst="rect">
            <a:avLst/>
          </a:prstGeom>
          <a:noFill/>
          <a:ln>
            <a:noFill/>
          </a:ln>
        </p:spPr>
      </p:pic>
      <p:sp>
        <p:nvSpPr>
          <p:cNvPr id="1393" name="Google Shape;1393;p156"/>
          <p:cNvSpPr/>
          <p:nvPr/>
        </p:nvSpPr>
        <p:spPr>
          <a:xfrm>
            <a:off x="5313000" y="252050"/>
            <a:ext cx="3519300" cy="20121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Courier New"/>
                <a:ea typeface="Courier New"/>
                <a:cs typeface="Courier New"/>
                <a:sym typeface="Courier New"/>
              </a:rPr>
              <a:t>&gt; a &lt;- c(1,2,3)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&gt; a</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&gt; sin(a)</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&gt; b &lt;- list(c(1,2,3),c(T,F,T,T))</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&gt; b</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&gt; lapply(b,mean)</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&gt; c &lt;- matrix(c(1,2,3,4,5,6), nrow=2,ncol=3)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&gt; c</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&gt; apply(c,1,mean)</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p:txBody>
      </p:sp>
      <p:sp>
        <p:nvSpPr>
          <p:cNvPr id="1394" name="Google Shape;1394;p156"/>
          <p:cNvSpPr txBox="1"/>
          <p:nvPr/>
        </p:nvSpPr>
        <p:spPr>
          <a:xfrm>
            <a:off x="4785988" y="2270400"/>
            <a:ext cx="6252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395" name="Google Shape;1395;p156"/>
          <p:cNvSpPr txBox="1"/>
          <p:nvPr/>
        </p:nvSpPr>
        <p:spPr>
          <a:xfrm>
            <a:off x="311700" y="1152475"/>
            <a:ext cx="4206600" cy="36717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Font typeface="Raleway"/>
              <a:buChar char="●"/>
            </a:pPr>
            <a:r>
              <a:rPr lang="en" sz="1800">
                <a:solidFill>
                  <a:schemeClr val="dk1"/>
                </a:solidFill>
                <a:latin typeface="Raleway"/>
                <a:ea typeface="Raleway"/>
                <a:cs typeface="Raleway"/>
                <a:sym typeface="Raleway"/>
              </a:rPr>
              <a:t>Many functions will automatically loop through atomic vectors </a:t>
            </a:r>
            <a:endParaRPr sz="1600">
              <a:solidFill>
                <a:schemeClr val="dk1"/>
              </a:solidFill>
              <a:latin typeface="Raleway"/>
              <a:ea typeface="Raleway"/>
              <a:cs typeface="Raleway"/>
              <a:sym typeface="Raleway"/>
            </a:endParaRPr>
          </a:p>
          <a:p>
            <a:pPr marL="457200" lvl="0" indent="-342900" algn="l" rtl="0">
              <a:lnSpc>
                <a:spcPct val="115000"/>
              </a:lnSpc>
              <a:spcBef>
                <a:spcPts val="1000"/>
              </a:spcBef>
              <a:spcAft>
                <a:spcPts val="0"/>
              </a:spcAft>
              <a:buClr>
                <a:schemeClr val="dk1"/>
              </a:buClr>
              <a:buSzPts val="1800"/>
              <a:buFont typeface="Raleway"/>
              <a:buChar char="●"/>
            </a:pPr>
            <a:r>
              <a:rPr lang="en" sz="1800">
                <a:solidFill>
                  <a:schemeClr val="dk1"/>
                </a:solidFill>
                <a:latin typeface="Raleway"/>
                <a:ea typeface="Raleway"/>
                <a:cs typeface="Raleway"/>
                <a:sym typeface="Raleway"/>
              </a:rPr>
              <a:t>lapply: run a single function on all entries of a list </a:t>
            </a:r>
            <a:endParaRPr sz="1800">
              <a:solidFill>
                <a:schemeClr val="dk1"/>
              </a:solidFill>
              <a:latin typeface="Raleway"/>
              <a:ea typeface="Raleway"/>
              <a:cs typeface="Raleway"/>
              <a:sym typeface="Raleway"/>
            </a:endParaRPr>
          </a:p>
          <a:p>
            <a:pPr marL="914400" lvl="1" indent="-330200" algn="l" rtl="0">
              <a:lnSpc>
                <a:spcPct val="115000"/>
              </a:lnSpc>
              <a:spcBef>
                <a:spcPts val="1000"/>
              </a:spcBef>
              <a:spcAft>
                <a:spcPts val="0"/>
              </a:spcAft>
              <a:buClr>
                <a:srgbClr val="595959"/>
              </a:buClr>
              <a:buSzPts val="1600"/>
              <a:buFont typeface="Courier New"/>
              <a:buChar char="○"/>
            </a:pPr>
            <a:r>
              <a:rPr lang="en" sz="1600">
                <a:solidFill>
                  <a:srgbClr val="595959"/>
                </a:solidFill>
                <a:latin typeface="Courier New"/>
                <a:ea typeface="Courier New"/>
                <a:cs typeface="Courier New"/>
                <a:sym typeface="Courier New"/>
              </a:rPr>
              <a:t>lapply(x, function)</a:t>
            </a:r>
            <a:endParaRPr sz="1600">
              <a:solidFill>
                <a:srgbClr val="595959"/>
              </a:solidFill>
              <a:latin typeface="Courier New"/>
              <a:ea typeface="Courier New"/>
              <a:cs typeface="Courier New"/>
              <a:sym typeface="Courier New"/>
            </a:endParaRPr>
          </a:p>
          <a:p>
            <a:pPr marL="457200" lvl="0" indent="-342900" algn="l" rtl="0">
              <a:lnSpc>
                <a:spcPct val="115000"/>
              </a:lnSpc>
              <a:spcBef>
                <a:spcPts val="1000"/>
              </a:spcBef>
              <a:spcAft>
                <a:spcPts val="0"/>
              </a:spcAft>
              <a:buClr>
                <a:schemeClr val="dk1"/>
              </a:buClr>
              <a:buSzPts val="1800"/>
              <a:buFont typeface="Raleway"/>
              <a:buChar char="●"/>
            </a:pPr>
            <a:r>
              <a:rPr lang="en" sz="1800">
                <a:solidFill>
                  <a:schemeClr val="dk1"/>
                </a:solidFill>
                <a:latin typeface="Raleway"/>
                <a:ea typeface="Raleway"/>
                <a:cs typeface="Raleway"/>
                <a:sym typeface="Raleway"/>
              </a:rPr>
              <a:t>apply: run a single function on all rows or columns of a matrix or dataframe</a:t>
            </a:r>
            <a:endParaRPr sz="1800">
              <a:solidFill>
                <a:schemeClr val="dk1"/>
              </a:solidFill>
              <a:latin typeface="Raleway"/>
              <a:ea typeface="Raleway"/>
              <a:cs typeface="Raleway"/>
              <a:sym typeface="Raleway"/>
            </a:endParaRPr>
          </a:p>
          <a:p>
            <a:pPr marL="914400" lvl="1" indent="-330200" algn="l" rtl="0">
              <a:lnSpc>
                <a:spcPct val="115000"/>
              </a:lnSpc>
              <a:spcBef>
                <a:spcPts val="1000"/>
              </a:spcBef>
              <a:spcAft>
                <a:spcPts val="1000"/>
              </a:spcAft>
              <a:buClr>
                <a:schemeClr val="dk2"/>
              </a:buClr>
              <a:buSzPts val="1600"/>
              <a:buFont typeface="Courier New"/>
              <a:buChar char="○"/>
            </a:pPr>
            <a:r>
              <a:rPr lang="en" sz="1600">
                <a:solidFill>
                  <a:schemeClr val="dk2"/>
                </a:solidFill>
                <a:latin typeface="Courier New"/>
                <a:ea typeface="Courier New"/>
                <a:cs typeface="Courier New"/>
                <a:sym typeface="Courier New"/>
              </a:rPr>
              <a:t>apply(x, margin, function)</a:t>
            </a:r>
            <a:endParaRPr sz="1600">
              <a:solidFill>
                <a:srgbClr val="595959"/>
              </a:solidFill>
              <a:latin typeface="Courier New"/>
              <a:ea typeface="Courier New"/>
              <a:cs typeface="Courier New"/>
              <a:sym typeface="Courier New"/>
            </a:endParaRPr>
          </a:p>
        </p:txBody>
      </p:sp>
    </p:spTree>
    <p:extLst>
      <p:ext uri="{BB962C8B-B14F-4D97-AF65-F5344CB8AC3E}">
        <p14:creationId xmlns:p14="http://schemas.microsoft.com/office/powerpoint/2010/main" val="688486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99"/>
        <p:cNvGrpSpPr/>
        <p:nvPr/>
      </p:nvGrpSpPr>
      <p:grpSpPr>
        <a:xfrm>
          <a:off x="0" y="0"/>
          <a:ext cx="0" cy="0"/>
          <a:chOff x="0" y="0"/>
          <a:chExt cx="0" cy="0"/>
        </a:xfrm>
      </p:grpSpPr>
      <p:sp>
        <p:nvSpPr>
          <p:cNvPr id="1400" name="Google Shape;1400;p157"/>
          <p:cNvSpPr/>
          <p:nvPr/>
        </p:nvSpPr>
        <p:spPr>
          <a:xfrm>
            <a:off x="519325" y="990600"/>
            <a:ext cx="3892800" cy="26703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latin typeface="Courier New"/>
              <a:ea typeface="Courier New"/>
              <a:cs typeface="Courier New"/>
              <a:sym typeface="Courier New"/>
            </a:endParaRPr>
          </a:p>
          <a:p>
            <a:pPr marL="0" lvl="0" indent="0" algn="l" rtl="0">
              <a:spcBef>
                <a:spcPts val="0"/>
              </a:spcBef>
              <a:spcAft>
                <a:spcPts val="0"/>
              </a:spcAft>
              <a:buNone/>
            </a:pPr>
            <a:endParaRPr sz="1300">
              <a:latin typeface="Courier New"/>
              <a:ea typeface="Courier New"/>
              <a:cs typeface="Courier New"/>
              <a:sym typeface="Courier New"/>
            </a:endParaRPr>
          </a:p>
          <a:p>
            <a:pPr marL="0" lvl="0" indent="0" algn="l" rtl="0">
              <a:spcBef>
                <a:spcPts val="0"/>
              </a:spcBef>
              <a:spcAft>
                <a:spcPts val="0"/>
              </a:spcAft>
              <a:buNone/>
            </a:pPr>
            <a:endParaRPr sz="1300">
              <a:latin typeface="Courier New"/>
              <a:ea typeface="Courier New"/>
              <a:cs typeface="Courier New"/>
              <a:sym typeface="Courier New"/>
            </a:endParaRPr>
          </a:p>
          <a:p>
            <a:pPr marL="0" lvl="0" indent="0" algn="l" rtl="0">
              <a:spcBef>
                <a:spcPts val="0"/>
              </a:spcBef>
              <a:spcAft>
                <a:spcPts val="0"/>
              </a:spcAft>
              <a:buNone/>
            </a:pPr>
            <a:endParaRPr sz="13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latin typeface="Courier New"/>
                <a:ea typeface="Courier New"/>
                <a:cs typeface="Courier New"/>
                <a:sym typeface="Courier New"/>
              </a:rPr>
              <a:t>&gt;&gt;&gt;</a:t>
            </a:r>
            <a:r>
              <a:rPr lang="en" sz="1300" b="1">
                <a:solidFill>
                  <a:srgbClr val="38761D"/>
                </a:solidFill>
                <a:latin typeface="Courier New"/>
                <a:ea typeface="Courier New"/>
                <a:cs typeface="Courier New"/>
                <a:sym typeface="Courier New"/>
              </a:rPr>
              <a:t> import</a:t>
            </a:r>
            <a:r>
              <a:rPr lang="en" sz="1300">
                <a:latin typeface="Courier New"/>
                <a:ea typeface="Courier New"/>
                <a:cs typeface="Courier New"/>
                <a:sym typeface="Courier New"/>
              </a:rPr>
              <a:t> pandas </a:t>
            </a:r>
            <a:r>
              <a:rPr lang="en" sz="1300" b="1">
                <a:solidFill>
                  <a:srgbClr val="38761D"/>
                </a:solidFill>
                <a:latin typeface="Courier New"/>
                <a:ea typeface="Courier New"/>
                <a:cs typeface="Courier New"/>
                <a:sym typeface="Courier New"/>
              </a:rPr>
              <a:t>as</a:t>
            </a:r>
            <a:r>
              <a:rPr lang="en" sz="1300">
                <a:latin typeface="Courier New"/>
                <a:ea typeface="Courier New"/>
                <a:cs typeface="Courier New"/>
                <a:sym typeface="Courier New"/>
              </a:rPr>
              <a:t> pd</a:t>
            </a:r>
            <a:endParaRPr sz="13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latin typeface="Courier New"/>
                <a:ea typeface="Courier New"/>
                <a:cs typeface="Courier New"/>
                <a:sym typeface="Courier New"/>
              </a:rPr>
              <a:t>&gt;&gt;&gt; employee_data = {'employee':['John Doe','Peter Gynn','Jolie Hope'],'age':[21, 40, 36],'location':['La Jolla','Carlsbad','Del Mar']}</a:t>
            </a:r>
            <a:endParaRPr sz="13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latin typeface="Courier New"/>
                <a:ea typeface="Courier New"/>
                <a:cs typeface="Courier New"/>
                <a:sym typeface="Courier New"/>
              </a:rPr>
              <a:t>&gt;&gt;&gt;df = pd.DataFrame(employee_data)</a:t>
            </a:r>
            <a:endParaRPr sz="13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latin typeface="Courier New"/>
                <a:ea typeface="Courier New"/>
                <a:cs typeface="Courier New"/>
                <a:sym typeface="Courier New"/>
              </a:rPr>
              <a:t>&gt;&gt;&gt; df.head()</a:t>
            </a:r>
            <a:endParaRPr sz="1300">
              <a:latin typeface="Courier New"/>
              <a:ea typeface="Courier New"/>
              <a:cs typeface="Courier New"/>
              <a:sym typeface="Courier New"/>
            </a:endParaRPr>
          </a:p>
          <a:p>
            <a:pPr marL="0" lvl="0" indent="0" algn="l" rtl="0">
              <a:spcBef>
                <a:spcPts val="0"/>
              </a:spcBef>
              <a:spcAft>
                <a:spcPts val="0"/>
              </a:spcAft>
              <a:buNone/>
            </a:pPr>
            <a:endParaRPr sz="1300">
              <a:latin typeface="Courier New"/>
              <a:ea typeface="Courier New"/>
              <a:cs typeface="Courier New"/>
              <a:sym typeface="Courier New"/>
            </a:endParaRPr>
          </a:p>
          <a:p>
            <a:pPr marL="0" lvl="0" indent="0" algn="l" rtl="0">
              <a:spcBef>
                <a:spcPts val="0"/>
              </a:spcBef>
              <a:spcAft>
                <a:spcPts val="0"/>
              </a:spcAft>
              <a:buNone/>
            </a:pPr>
            <a:endParaRPr sz="1300">
              <a:latin typeface="Courier New"/>
              <a:ea typeface="Courier New"/>
              <a:cs typeface="Courier New"/>
              <a:sym typeface="Courier New"/>
            </a:endParaRPr>
          </a:p>
        </p:txBody>
      </p:sp>
      <p:sp>
        <p:nvSpPr>
          <p:cNvPr id="1401" name="Google Shape;1401;p157"/>
          <p:cNvSpPr/>
          <p:nvPr/>
        </p:nvSpPr>
        <p:spPr>
          <a:xfrm>
            <a:off x="5015375" y="990600"/>
            <a:ext cx="3902400" cy="26703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&gt; employee &lt;- c('John Doe','Peter Gynn','Jolie Hope')</a:t>
            </a:r>
            <a:endParaRPr sz="13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&gt; age &lt;- c(21, 40, 36)</a:t>
            </a:r>
            <a:endParaRPr sz="13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&gt; location &lt;- c('La Jolla','Carlsbad','Del Mar')</a:t>
            </a:r>
            <a:endParaRPr sz="13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&gt; employ.data &lt;- data.frame(employee, age, location)</a:t>
            </a:r>
            <a:endParaRPr sz="13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solidFill>
                  <a:schemeClr val="dk1"/>
                </a:solidFill>
                <a:latin typeface="Courier New"/>
                <a:ea typeface="Courier New"/>
                <a:cs typeface="Courier New"/>
                <a:sym typeface="Courier New"/>
              </a:rPr>
              <a:t>&gt; employ.data</a:t>
            </a: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 </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a:p>
        </p:txBody>
      </p:sp>
      <p:sp>
        <p:nvSpPr>
          <p:cNvPr id="1402" name="Google Shape;1402;p157"/>
          <p:cNvSpPr/>
          <p:nvPr/>
        </p:nvSpPr>
        <p:spPr>
          <a:xfrm>
            <a:off x="519325" y="990600"/>
            <a:ext cx="3892800" cy="363000"/>
          </a:xfrm>
          <a:prstGeom prst="rect">
            <a:avLst/>
          </a:prstGeom>
          <a:solidFill>
            <a:srgbClr val="666666"/>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rPr>
              <a:t>Python Script</a:t>
            </a:r>
            <a:endParaRPr>
              <a:solidFill>
                <a:srgbClr val="FFFFFF"/>
              </a:solidFill>
            </a:endParaRPr>
          </a:p>
        </p:txBody>
      </p:sp>
      <p:sp>
        <p:nvSpPr>
          <p:cNvPr id="1403" name="Google Shape;1403;p157"/>
          <p:cNvSpPr/>
          <p:nvPr/>
        </p:nvSpPr>
        <p:spPr>
          <a:xfrm>
            <a:off x="5015377" y="990600"/>
            <a:ext cx="3902400" cy="363000"/>
          </a:xfrm>
          <a:prstGeom prst="rect">
            <a:avLst/>
          </a:prstGeom>
          <a:solidFill>
            <a:srgbClr val="666666"/>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rPr>
              <a:t>R Script</a:t>
            </a:r>
            <a:endParaRPr>
              <a:solidFill>
                <a:srgbClr val="FFFFFF"/>
              </a:solidFill>
            </a:endParaRPr>
          </a:p>
        </p:txBody>
      </p:sp>
      <p:pic>
        <p:nvPicPr>
          <p:cNvPr id="1404" name="Google Shape;1404;p157"/>
          <p:cNvPicPr preferRelativeResize="0"/>
          <p:nvPr/>
        </p:nvPicPr>
        <p:blipFill>
          <a:blip r:embed="rId3">
            <a:alphaModFix/>
          </a:blip>
          <a:stretch>
            <a:fillRect/>
          </a:stretch>
        </p:blipFill>
        <p:spPr>
          <a:xfrm>
            <a:off x="90700" y="990600"/>
            <a:ext cx="363001" cy="362999"/>
          </a:xfrm>
          <a:prstGeom prst="rect">
            <a:avLst/>
          </a:prstGeom>
          <a:noFill/>
          <a:ln>
            <a:noFill/>
          </a:ln>
        </p:spPr>
      </p:pic>
      <p:pic>
        <p:nvPicPr>
          <p:cNvPr id="1405" name="Google Shape;1405;p157"/>
          <p:cNvPicPr preferRelativeResize="0"/>
          <p:nvPr/>
        </p:nvPicPr>
        <p:blipFill>
          <a:blip r:embed="rId4">
            <a:alphaModFix/>
          </a:blip>
          <a:stretch>
            <a:fillRect/>
          </a:stretch>
        </p:blipFill>
        <p:spPr>
          <a:xfrm>
            <a:off x="4495823" y="993655"/>
            <a:ext cx="454077" cy="356882"/>
          </a:xfrm>
          <a:prstGeom prst="rect">
            <a:avLst/>
          </a:prstGeom>
          <a:noFill/>
          <a:ln>
            <a:noFill/>
          </a:ln>
        </p:spPr>
      </p:pic>
      <p:sp>
        <p:nvSpPr>
          <p:cNvPr id="1406" name="Google Shape;1406;p157"/>
          <p:cNvSpPr/>
          <p:nvPr/>
        </p:nvSpPr>
        <p:spPr>
          <a:xfrm>
            <a:off x="519325" y="3753000"/>
            <a:ext cx="3892800" cy="9390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500">
              <a:latin typeface="Courier New"/>
              <a:ea typeface="Courier New"/>
              <a:cs typeface="Courier New"/>
              <a:sym typeface="Courier New"/>
            </a:endParaRPr>
          </a:p>
        </p:txBody>
      </p:sp>
      <p:sp>
        <p:nvSpPr>
          <p:cNvPr id="1407" name="Google Shape;1407;p157"/>
          <p:cNvSpPr txBox="1"/>
          <p:nvPr/>
        </p:nvSpPr>
        <p:spPr>
          <a:xfrm>
            <a:off x="0" y="3713675"/>
            <a:ext cx="6252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408" name="Google Shape;1408;p157"/>
          <p:cNvSpPr/>
          <p:nvPr/>
        </p:nvSpPr>
        <p:spPr>
          <a:xfrm>
            <a:off x="5015375" y="3753013"/>
            <a:ext cx="3902400" cy="939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5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a:p>
        </p:txBody>
      </p:sp>
      <p:sp>
        <p:nvSpPr>
          <p:cNvPr id="1409" name="Google Shape;1409;p157"/>
          <p:cNvSpPr txBox="1"/>
          <p:nvPr/>
        </p:nvSpPr>
        <p:spPr>
          <a:xfrm>
            <a:off x="4495825" y="3713663"/>
            <a:ext cx="6165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410" name="Google Shape;1410;p157"/>
          <p:cNvSpPr/>
          <p:nvPr/>
        </p:nvSpPr>
        <p:spPr>
          <a:xfrm>
            <a:off x="519320" y="266125"/>
            <a:ext cx="38928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④ DATA TYPES &amp; DATA STRUCTURES</a:t>
            </a:r>
            <a:endParaRPr b="1">
              <a:solidFill>
                <a:srgbClr val="274E13"/>
              </a:solidFill>
            </a:endParaRPr>
          </a:p>
        </p:txBody>
      </p:sp>
      <p:sp>
        <p:nvSpPr>
          <p:cNvPr id="1411" name="Google Shape;1411;p157"/>
          <p:cNvSpPr/>
          <p:nvPr/>
        </p:nvSpPr>
        <p:spPr>
          <a:xfrm>
            <a:off x="5020170" y="266125"/>
            <a:ext cx="3892800" cy="653700"/>
          </a:xfrm>
          <a:prstGeom prst="roundRect">
            <a:avLst>
              <a:gd name="adj" fmla="val 16667"/>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④ DATA TYPES &amp; DATA STRUCTURES</a:t>
            </a:r>
            <a:endParaRPr b="1">
              <a:solidFill>
                <a:srgbClr val="274E13"/>
              </a:solidFill>
            </a:endParaRPr>
          </a:p>
        </p:txBody>
      </p:sp>
      <p:pic>
        <p:nvPicPr>
          <p:cNvPr id="1412" name="Google Shape;1412;p157"/>
          <p:cNvPicPr preferRelativeResize="0"/>
          <p:nvPr/>
        </p:nvPicPr>
        <p:blipFill>
          <a:blip r:embed="rId5">
            <a:alphaModFix/>
          </a:blip>
          <a:stretch>
            <a:fillRect/>
          </a:stretch>
        </p:blipFill>
        <p:spPr>
          <a:xfrm>
            <a:off x="1699525" y="3819038"/>
            <a:ext cx="1532388" cy="806911"/>
          </a:xfrm>
          <a:prstGeom prst="rect">
            <a:avLst/>
          </a:prstGeom>
          <a:noFill/>
          <a:ln>
            <a:noFill/>
          </a:ln>
        </p:spPr>
      </p:pic>
      <p:pic>
        <p:nvPicPr>
          <p:cNvPr id="1413" name="Google Shape;1413;p157"/>
          <p:cNvPicPr preferRelativeResize="0"/>
          <p:nvPr/>
        </p:nvPicPr>
        <p:blipFill rotWithShape="1">
          <a:blip r:embed="rId6">
            <a:alphaModFix/>
          </a:blip>
          <a:srcRect l="2085"/>
          <a:stretch/>
        </p:blipFill>
        <p:spPr>
          <a:xfrm>
            <a:off x="5875523" y="3823375"/>
            <a:ext cx="2440977" cy="806900"/>
          </a:xfrm>
          <a:prstGeom prst="rect">
            <a:avLst/>
          </a:prstGeom>
          <a:noFill/>
          <a:ln>
            <a:noFill/>
          </a:ln>
        </p:spPr>
      </p:pic>
    </p:spTree>
    <p:extLst>
      <p:ext uri="{BB962C8B-B14F-4D97-AF65-F5344CB8AC3E}">
        <p14:creationId xmlns:p14="http://schemas.microsoft.com/office/powerpoint/2010/main" val="22299259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17"/>
        <p:cNvGrpSpPr/>
        <p:nvPr/>
      </p:nvGrpSpPr>
      <p:grpSpPr>
        <a:xfrm>
          <a:off x="0" y="0"/>
          <a:ext cx="0" cy="0"/>
          <a:chOff x="0" y="0"/>
          <a:chExt cx="0" cy="0"/>
        </a:xfrm>
      </p:grpSpPr>
      <p:sp>
        <p:nvSpPr>
          <p:cNvPr id="1418" name="Google Shape;1418;p158"/>
          <p:cNvSpPr/>
          <p:nvPr/>
        </p:nvSpPr>
        <p:spPr>
          <a:xfrm>
            <a:off x="519325" y="990600"/>
            <a:ext cx="3892800" cy="24999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b="1">
                <a:solidFill>
                  <a:srgbClr val="38761D"/>
                </a:solidFill>
                <a:latin typeface="Courier New"/>
                <a:ea typeface="Courier New"/>
                <a:cs typeface="Courier New"/>
                <a:sym typeface="Courier New"/>
              </a:rPr>
              <a:t>def</a:t>
            </a:r>
            <a:r>
              <a:rPr lang="en" sz="1300">
                <a:latin typeface="Courier New"/>
                <a:ea typeface="Courier New"/>
                <a:cs typeface="Courier New"/>
                <a:sym typeface="Courier New"/>
              </a:rPr>
              <a:t> </a:t>
            </a:r>
            <a:r>
              <a:rPr lang="en" sz="1300" b="1">
                <a:solidFill>
                  <a:srgbClr val="1155CC"/>
                </a:solidFill>
                <a:latin typeface="Courier New"/>
                <a:ea typeface="Courier New"/>
                <a:cs typeface="Courier New"/>
                <a:sym typeface="Courier New"/>
              </a:rPr>
              <a:t>fahrenheit_to_celsius</a:t>
            </a:r>
            <a:r>
              <a:rPr lang="en" sz="1300">
                <a:latin typeface="Courier New"/>
                <a:ea typeface="Courier New"/>
                <a:cs typeface="Courier New"/>
                <a:sym typeface="Courier New"/>
              </a:rPr>
              <a:t>(temp_F):</a:t>
            </a:r>
            <a:endParaRPr sz="13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latin typeface="Courier New"/>
                <a:ea typeface="Courier New"/>
                <a:cs typeface="Courier New"/>
                <a:sym typeface="Courier New"/>
              </a:rPr>
              <a:t>    temp_C = (temp_F - 32) * 5 / 9</a:t>
            </a:r>
            <a:endParaRPr sz="13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latin typeface="Courier New"/>
                <a:ea typeface="Courier New"/>
                <a:cs typeface="Courier New"/>
                <a:sym typeface="Courier New"/>
              </a:rPr>
              <a:t>    </a:t>
            </a:r>
            <a:r>
              <a:rPr lang="en" sz="1300" b="1">
                <a:solidFill>
                  <a:srgbClr val="38761D"/>
                </a:solidFill>
                <a:latin typeface="Courier New"/>
                <a:ea typeface="Courier New"/>
                <a:cs typeface="Courier New"/>
                <a:sym typeface="Courier New"/>
              </a:rPr>
              <a:t>return</a:t>
            </a:r>
            <a:r>
              <a:rPr lang="en" sz="1300">
                <a:latin typeface="Courier New"/>
                <a:ea typeface="Courier New"/>
                <a:cs typeface="Courier New"/>
                <a:sym typeface="Courier New"/>
              </a:rPr>
              <a:t> temp_C</a:t>
            </a:r>
            <a:endParaRPr sz="13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300">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300">
                <a:latin typeface="Courier New"/>
                <a:ea typeface="Courier New"/>
                <a:cs typeface="Courier New"/>
                <a:sym typeface="Courier New"/>
              </a:rPr>
              <a:t>fahrenheit_to_celsius(32)</a:t>
            </a:r>
            <a:endParaRPr sz="1300">
              <a:latin typeface="Courier New"/>
              <a:ea typeface="Courier New"/>
              <a:cs typeface="Courier New"/>
              <a:sym typeface="Courier New"/>
            </a:endParaRPr>
          </a:p>
          <a:p>
            <a:pPr marL="0" lvl="0" indent="0" algn="l" rtl="0">
              <a:spcBef>
                <a:spcPts val="0"/>
              </a:spcBef>
              <a:spcAft>
                <a:spcPts val="0"/>
              </a:spcAft>
              <a:buNone/>
            </a:pPr>
            <a:endParaRPr>
              <a:latin typeface="Courier New"/>
              <a:ea typeface="Courier New"/>
              <a:cs typeface="Courier New"/>
              <a:sym typeface="Courier New"/>
            </a:endParaRPr>
          </a:p>
        </p:txBody>
      </p:sp>
      <p:sp>
        <p:nvSpPr>
          <p:cNvPr id="1419" name="Google Shape;1419;p158"/>
          <p:cNvSpPr/>
          <p:nvPr/>
        </p:nvSpPr>
        <p:spPr>
          <a:xfrm>
            <a:off x="4949900" y="990600"/>
            <a:ext cx="4137000" cy="24999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300">
                <a:solidFill>
                  <a:schemeClr val="dk1"/>
                </a:solidFill>
                <a:latin typeface="Courier New"/>
                <a:ea typeface="Courier New"/>
                <a:cs typeface="Courier New"/>
                <a:sym typeface="Courier New"/>
              </a:rPr>
              <a:t>&gt; fahrenheit_to_celsius &lt;- function(temp_F) {</a:t>
            </a: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300">
                <a:solidFill>
                  <a:schemeClr val="dk1"/>
                </a:solidFill>
                <a:latin typeface="Courier New"/>
                <a:ea typeface="Courier New"/>
                <a:cs typeface="Courier New"/>
                <a:sym typeface="Courier New"/>
              </a:rPr>
              <a:t>     temp_C &lt;- (temp_F - 32) * 5 / 9</a:t>
            </a: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300">
                <a:solidFill>
                  <a:schemeClr val="dk1"/>
                </a:solidFill>
                <a:latin typeface="Courier New"/>
                <a:ea typeface="Courier New"/>
                <a:cs typeface="Courier New"/>
                <a:sym typeface="Courier New"/>
              </a:rPr>
              <a:t>     return(temp_C)</a:t>
            </a: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300">
                <a:solidFill>
                  <a:schemeClr val="dk1"/>
                </a:solidFill>
                <a:latin typeface="Courier New"/>
                <a:ea typeface="Courier New"/>
                <a:cs typeface="Courier New"/>
                <a:sym typeface="Courier New"/>
              </a:rPr>
              <a:t> }</a:t>
            </a: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300">
                <a:solidFill>
                  <a:schemeClr val="dk1"/>
                </a:solidFill>
                <a:latin typeface="Courier New"/>
                <a:ea typeface="Courier New"/>
                <a:cs typeface="Courier New"/>
                <a:sym typeface="Courier New"/>
              </a:rPr>
              <a:t>&gt; fahrenheit_to_celsius(32)</a:t>
            </a: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700">
                <a:solidFill>
                  <a:schemeClr val="dk1"/>
                </a:solidFill>
                <a:latin typeface="Courier New"/>
                <a:ea typeface="Courier New"/>
                <a:cs typeface="Courier New"/>
                <a:sym typeface="Courier New"/>
              </a:rPr>
              <a:t> </a:t>
            </a: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a:p>
        </p:txBody>
      </p:sp>
      <p:sp>
        <p:nvSpPr>
          <p:cNvPr id="1420" name="Google Shape;1420;p158"/>
          <p:cNvSpPr/>
          <p:nvPr/>
        </p:nvSpPr>
        <p:spPr>
          <a:xfrm>
            <a:off x="519325" y="990600"/>
            <a:ext cx="3892800" cy="363000"/>
          </a:xfrm>
          <a:prstGeom prst="rect">
            <a:avLst/>
          </a:prstGeom>
          <a:solidFill>
            <a:srgbClr val="666666"/>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rPr>
              <a:t>Python Script</a:t>
            </a:r>
            <a:endParaRPr>
              <a:solidFill>
                <a:srgbClr val="FFFFFF"/>
              </a:solidFill>
            </a:endParaRPr>
          </a:p>
        </p:txBody>
      </p:sp>
      <p:sp>
        <p:nvSpPr>
          <p:cNvPr id="1421" name="Google Shape;1421;p158"/>
          <p:cNvSpPr/>
          <p:nvPr/>
        </p:nvSpPr>
        <p:spPr>
          <a:xfrm>
            <a:off x="4949900" y="990600"/>
            <a:ext cx="4137000" cy="363000"/>
          </a:xfrm>
          <a:prstGeom prst="rect">
            <a:avLst/>
          </a:prstGeom>
          <a:solidFill>
            <a:srgbClr val="666666"/>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rPr>
              <a:t>R Script</a:t>
            </a:r>
            <a:endParaRPr>
              <a:solidFill>
                <a:srgbClr val="FFFFFF"/>
              </a:solidFill>
            </a:endParaRPr>
          </a:p>
        </p:txBody>
      </p:sp>
      <p:pic>
        <p:nvPicPr>
          <p:cNvPr id="1422" name="Google Shape;1422;p158"/>
          <p:cNvPicPr preferRelativeResize="0"/>
          <p:nvPr/>
        </p:nvPicPr>
        <p:blipFill>
          <a:blip r:embed="rId3">
            <a:alphaModFix/>
          </a:blip>
          <a:stretch>
            <a:fillRect/>
          </a:stretch>
        </p:blipFill>
        <p:spPr>
          <a:xfrm>
            <a:off x="90700" y="990600"/>
            <a:ext cx="363001" cy="362999"/>
          </a:xfrm>
          <a:prstGeom prst="rect">
            <a:avLst/>
          </a:prstGeom>
          <a:noFill/>
          <a:ln>
            <a:noFill/>
          </a:ln>
        </p:spPr>
      </p:pic>
      <p:pic>
        <p:nvPicPr>
          <p:cNvPr id="1423" name="Google Shape;1423;p158"/>
          <p:cNvPicPr preferRelativeResize="0"/>
          <p:nvPr/>
        </p:nvPicPr>
        <p:blipFill>
          <a:blip r:embed="rId4">
            <a:alphaModFix/>
          </a:blip>
          <a:stretch>
            <a:fillRect/>
          </a:stretch>
        </p:blipFill>
        <p:spPr>
          <a:xfrm>
            <a:off x="4419623" y="993655"/>
            <a:ext cx="454077" cy="356882"/>
          </a:xfrm>
          <a:prstGeom prst="rect">
            <a:avLst/>
          </a:prstGeom>
          <a:noFill/>
          <a:ln>
            <a:noFill/>
          </a:ln>
        </p:spPr>
      </p:pic>
      <p:sp>
        <p:nvSpPr>
          <p:cNvPr id="1424" name="Google Shape;1424;p158"/>
          <p:cNvSpPr/>
          <p:nvPr/>
        </p:nvSpPr>
        <p:spPr>
          <a:xfrm>
            <a:off x="519325" y="3600600"/>
            <a:ext cx="3892800" cy="939000"/>
          </a:xfrm>
          <a:prstGeom prst="roundRect">
            <a:avLst>
              <a:gd name="adj" fmla="val 16667"/>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500">
                <a:latin typeface="Courier New"/>
                <a:ea typeface="Courier New"/>
                <a:cs typeface="Courier New"/>
                <a:sym typeface="Courier New"/>
              </a:rPr>
              <a:t>0.0</a:t>
            </a:r>
            <a:endParaRPr sz="1500">
              <a:latin typeface="Courier New"/>
              <a:ea typeface="Courier New"/>
              <a:cs typeface="Courier New"/>
              <a:sym typeface="Courier New"/>
            </a:endParaRPr>
          </a:p>
        </p:txBody>
      </p:sp>
      <p:sp>
        <p:nvSpPr>
          <p:cNvPr id="1425" name="Google Shape;1425;p158"/>
          <p:cNvSpPr txBox="1"/>
          <p:nvPr/>
        </p:nvSpPr>
        <p:spPr>
          <a:xfrm>
            <a:off x="0" y="3561275"/>
            <a:ext cx="6252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426" name="Google Shape;1426;p158"/>
          <p:cNvSpPr/>
          <p:nvPr/>
        </p:nvSpPr>
        <p:spPr>
          <a:xfrm>
            <a:off x="5006575" y="3600600"/>
            <a:ext cx="3902400" cy="939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500">
                <a:solidFill>
                  <a:schemeClr val="dk1"/>
                </a:solidFill>
                <a:latin typeface="Courier New"/>
                <a:ea typeface="Courier New"/>
                <a:cs typeface="Courier New"/>
                <a:sym typeface="Courier New"/>
              </a:rPr>
              <a:t>[1] 0</a:t>
            </a:r>
            <a:endParaRPr sz="15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5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700">
              <a:solidFill>
                <a:schemeClr val="dk1"/>
              </a:solidFill>
              <a:latin typeface="Courier New"/>
              <a:ea typeface="Courier New"/>
              <a:cs typeface="Courier New"/>
              <a:sym typeface="Courier New"/>
            </a:endParaRPr>
          </a:p>
          <a:p>
            <a:pPr marL="0" lvl="0" indent="0" algn="l" rtl="0">
              <a:spcBef>
                <a:spcPts val="0"/>
              </a:spcBef>
              <a:spcAft>
                <a:spcPts val="0"/>
              </a:spcAft>
              <a:buNone/>
            </a:pPr>
            <a:endParaRPr/>
          </a:p>
        </p:txBody>
      </p:sp>
      <p:sp>
        <p:nvSpPr>
          <p:cNvPr id="1427" name="Google Shape;1427;p158"/>
          <p:cNvSpPr txBox="1"/>
          <p:nvPr/>
        </p:nvSpPr>
        <p:spPr>
          <a:xfrm>
            <a:off x="4475650" y="3561275"/>
            <a:ext cx="6165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428" name="Google Shape;1428;p158"/>
          <p:cNvSpPr/>
          <p:nvPr/>
        </p:nvSpPr>
        <p:spPr>
          <a:xfrm>
            <a:off x="519320" y="266125"/>
            <a:ext cx="3892800" cy="6537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⑤ FUNCTIONS</a:t>
            </a:r>
            <a:endParaRPr b="1">
              <a:solidFill>
                <a:srgbClr val="274E13"/>
              </a:solidFill>
            </a:endParaRPr>
          </a:p>
        </p:txBody>
      </p:sp>
      <p:sp>
        <p:nvSpPr>
          <p:cNvPr id="1429" name="Google Shape;1429;p158"/>
          <p:cNvSpPr/>
          <p:nvPr/>
        </p:nvSpPr>
        <p:spPr>
          <a:xfrm>
            <a:off x="4949900" y="266125"/>
            <a:ext cx="4137000" cy="653700"/>
          </a:xfrm>
          <a:prstGeom prst="roundRect">
            <a:avLst>
              <a:gd name="adj" fmla="val 16667"/>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274E13"/>
                </a:solidFill>
              </a:rPr>
              <a:t>⑤ FUNCTIONS</a:t>
            </a:r>
            <a:endParaRPr b="1">
              <a:solidFill>
                <a:srgbClr val="274E13"/>
              </a:solidFill>
            </a:endParaRPr>
          </a:p>
        </p:txBody>
      </p:sp>
      <p:sp>
        <p:nvSpPr>
          <p:cNvPr id="1430" name="Google Shape;1430;p158"/>
          <p:cNvSpPr txBox="1"/>
          <p:nvPr/>
        </p:nvSpPr>
        <p:spPr>
          <a:xfrm>
            <a:off x="5263075" y="4585350"/>
            <a:ext cx="3645900" cy="431100"/>
          </a:xfrm>
          <a:prstGeom prst="rect">
            <a:avLst/>
          </a:prstGeom>
          <a:noFill/>
          <a:ln>
            <a:noFill/>
          </a:ln>
        </p:spPr>
        <p:txBody>
          <a:bodyPr spcFirstLastPara="1" wrap="square" lIns="91425" tIns="91425" rIns="91425" bIns="91425" anchor="t" anchorCtr="0">
            <a:spAutoFit/>
          </a:bodyPr>
          <a:lstStyle/>
          <a:p>
            <a:pPr marL="0" lvl="0" indent="0" algn="r" rtl="0">
              <a:lnSpc>
                <a:spcPct val="115000"/>
              </a:lnSpc>
              <a:spcBef>
                <a:spcPts val="0"/>
              </a:spcBef>
              <a:spcAft>
                <a:spcPts val="1600"/>
              </a:spcAft>
              <a:buNone/>
            </a:pPr>
            <a:r>
              <a:rPr lang="en" sz="1600" i="1">
                <a:solidFill>
                  <a:schemeClr val="dk1"/>
                </a:solidFill>
                <a:highlight>
                  <a:srgbClr val="FFFF00"/>
                </a:highlight>
                <a:latin typeface="Raleway"/>
                <a:ea typeface="Raleway"/>
                <a:cs typeface="Raleway"/>
                <a:sym typeface="Raleway"/>
              </a:rPr>
              <a:t>R functions can only return one object</a:t>
            </a:r>
            <a:endParaRPr sz="1200" i="1">
              <a:highlight>
                <a:srgbClr val="FFFF00"/>
              </a:highlight>
            </a:endParaRPr>
          </a:p>
        </p:txBody>
      </p:sp>
    </p:spTree>
    <p:extLst>
      <p:ext uri="{BB962C8B-B14F-4D97-AF65-F5344CB8AC3E}">
        <p14:creationId xmlns:p14="http://schemas.microsoft.com/office/powerpoint/2010/main" val="3149796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4"/>
        <p:cNvGrpSpPr/>
        <p:nvPr/>
      </p:nvGrpSpPr>
      <p:grpSpPr>
        <a:xfrm>
          <a:off x="0" y="0"/>
          <a:ext cx="0" cy="0"/>
          <a:chOff x="0" y="0"/>
          <a:chExt cx="0" cy="0"/>
        </a:xfrm>
      </p:grpSpPr>
      <p:sp>
        <p:nvSpPr>
          <p:cNvPr id="1435" name="Google Shape;1435;p1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The Dangers of R Warnings</a:t>
            </a:r>
            <a:endParaRPr b="1">
              <a:latin typeface="Raleway"/>
              <a:ea typeface="Raleway"/>
              <a:cs typeface="Raleway"/>
              <a:sym typeface="Raleway"/>
            </a:endParaRPr>
          </a:p>
        </p:txBody>
      </p:sp>
      <p:sp>
        <p:nvSpPr>
          <p:cNvPr id="1436" name="Google Shape;1436;p159"/>
          <p:cNvSpPr txBox="1">
            <a:spLocks noGrp="1"/>
          </p:cNvSpPr>
          <p:nvPr>
            <p:ph type="body" idx="1"/>
          </p:nvPr>
        </p:nvSpPr>
        <p:spPr>
          <a:xfrm>
            <a:off x="311700" y="1152475"/>
            <a:ext cx="4260300" cy="3416400"/>
          </a:xfrm>
          <a:prstGeom prst="rect">
            <a:avLst/>
          </a:prstGeom>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Raleway"/>
              <a:buChar char="●"/>
            </a:pPr>
            <a:r>
              <a:rPr lang="en">
                <a:solidFill>
                  <a:schemeClr val="dk1"/>
                </a:solidFill>
                <a:latin typeface="Raleway"/>
                <a:ea typeface="Raleway"/>
                <a:cs typeface="Raleway"/>
                <a:sym typeface="Raleway"/>
              </a:rPr>
              <a:t>R differentiates between </a:t>
            </a:r>
            <a:r>
              <a:rPr lang="en">
                <a:solidFill>
                  <a:schemeClr val="dk1"/>
                </a:solidFill>
                <a:highlight>
                  <a:srgbClr val="E06666"/>
                </a:highlight>
                <a:latin typeface="Raleway"/>
                <a:ea typeface="Raleway"/>
                <a:cs typeface="Raleway"/>
                <a:sym typeface="Raleway"/>
              </a:rPr>
              <a:t>Errors</a:t>
            </a:r>
            <a:r>
              <a:rPr lang="en">
                <a:solidFill>
                  <a:schemeClr val="dk1"/>
                </a:solidFill>
                <a:latin typeface="Raleway"/>
                <a:ea typeface="Raleway"/>
                <a:cs typeface="Raleway"/>
                <a:sym typeface="Raleway"/>
              </a:rPr>
              <a:t> and </a:t>
            </a:r>
            <a:r>
              <a:rPr lang="en">
                <a:solidFill>
                  <a:schemeClr val="dk1"/>
                </a:solidFill>
                <a:highlight>
                  <a:srgbClr val="FF9900"/>
                </a:highlight>
                <a:latin typeface="Raleway"/>
                <a:ea typeface="Raleway"/>
                <a:cs typeface="Raleway"/>
                <a:sym typeface="Raleway"/>
              </a:rPr>
              <a:t>Warnings</a:t>
            </a:r>
            <a:endParaRPr>
              <a:solidFill>
                <a:schemeClr val="dk1"/>
              </a:solidFill>
              <a:latin typeface="Raleway"/>
              <a:ea typeface="Raleway"/>
              <a:cs typeface="Raleway"/>
              <a:sym typeface="Raleway"/>
            </a:endParaRPr>
          </a:p>
          <a:p>
            <a:pPr marL="914400" lvl="1"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Error: the function cannot continue and must stop running</a:t>
            </a:r>
            <a:endParaRPr>
              <a:solidFill>
                <a:schemeClr val="dk1"/>
              </a:solidFill>
              <a:latin typeface="Raleway"/>
              <a:ea typeface="Raleway"/>
              <a:cs typeface="Raleway"/>
              <a:sym typeface="Raleway"/>
            </a:endParaRPr>
          </a:p>
          <a:p>
            <a:pPr marL="914400" lvl="1" indent="-317500" algn="l" rtl="0">
              <a:spcBef>
                <a:spcPts val="0"/>
              </a:spcBef>
              <a:spcAft>
                <a:spcPts val="0"/>
              </a:spcAft>
              <a:buClr>
                <a:schemeClr val="dk1"/>
              </a:buClr>
              <a:buSzPts val="1400"/>
              <a:buFont typeface="Raleway"/>
              <a:buChar char="○"/>
            </a:pPr>
            <a:r>
              <a:rPr lang="en">
                <a:solidFill>
                  <a:schemeClr val="dk1"/>
                </a:solidFill>
                <a:latin typeface="Raleway"/>
                <a:ea typeface="Raleway"/>
                <a:cs typeface="Raleway"/>
                <a:sym typeface="Raleway"/>
              </a:rPr>
              <a:t>Warning: something has gone wrong but the function has been able to recover and keep running</a:t>
            </a:r>
            <a:endParaRPr>
              <a:solidFill>
                <a:schemeClr val="dk1"/>
              </a:solidFill>
              <a:latin typeface="Raleway"/>
              <a:ea typeface="Raleway"/>
              <a:cs typeface="Raleway"/>
              <a:sym typeface="Raleway"/>
            </a:endParaRPr>
          </a:p>
          <a:p>
            <a:pPr marL="457200" lvl="0" indent="-342900" algn="l" rtl="0">
              <a:spcBef>
                <a:spcPts val="0"/>
              </a:spcBef>
              <a:spcAft>
                <a:spcPts val="0"/>
              </a:spcAft>
              <a:buClr>
                <a:schemeClr val="dk1"/>
              </a:buClr>
              <a:buSzPts val="1800"/>
              <a:buFont typeface="Raleway"/>
              <a:buChar char="●"/>
            </a:pPr>
            <a:r>
              <a:rPr lang="en">
                <a:solidFill>
                  <a:schemeClr val="dk1"/>
                </a:solidFill>
                <a:latin typeface="Raleway"/>
                <a:ea typeface="Raleway"/>
                <a:cs typeface="Raleway"/>
                <a:sym typeface="Raleway"/>
              </a:rPr>
              <a:t>Warnings may change your data in unknown ways! </a:t>
            </a:r>
            <a:endParaRPr>
              <a:solidFill>
                <a:schemeClr val="dk1"/>
              </a:solidFill>
              <a:latin typeface="Raleway"/>
              <a:ea typeface="Raleway"/>
              <a:cs typeface="Raleway"/>
              <a:sym typeface="Raleway"/>
            </a:endParaRPr>
          </a:p>
        </p:txBody>
      </p:sp>
      <p:pic>
        <p:nvPicPr>
          <p:cNvPr id="1437" name="Google Shape;1437;p159"/>
          <p:cNvPicPr preferRelativeResize="0"/>
          <p:nvPr/>
        </p:nvPicPr>
        <p:blipFill>
          <a:blip r:embed="rId3">
            <a:alphaModFix/>
          </a:blip>
          <a:stretch>
            <a:fillRect/>
          </a:stretch>
        </p:blipFill>
        <p:spPr>
          <a:xfrm>
            <a:off x="6018599" y="445025"/>
            <a:ext cx="2562074" cy="1814075"/>
          </a:xfrm>
          <a:prstGeom prst="rect">
            <a:avLst/>
          </a:prstGeom>
          <a:noFill/>
          <a:ln>
            <a:noFill/>
          </a:ln>
        </p:spPr>
      </p:pic>
      <p:pic>
        <p:nvPicPr>
          <p:cNvPr id="1438" name="Google Shape;1438;p159"/>
          <p:cNvPicPr preferRelativeResize="0"/>
          <p:nvPr/>
        </p:nvPicPr>
        <p:blipFill>
          <a:blip r:embed="rId4">
            <a:alphaModFix/>
          </a:blip>
          <a:stretch>
            <a:fillRect/>
          </a:stretch>
        </p:blipFill>
        <p:spPr>
          <a:xfrm>
            <a:off x="4770100" y="2606038"/>
            <a:ext cx="460574" cy="356875"/>
          </a:xfrm>
          <a:prstGeom prst="rect">
            <a:avLst/>
          </a:prstGeom>
          <a:noFill/>
          <a:ln>
            <a:noFill/>
          </a:ln>
        </p:spPr>
      </p:pic>
      <p:sp>
        <p:nvSpPr>
          <p:cNvPr id="1439" name="Google Shape;1439;p159"/>
          <p:cNvSpPr txBox="1"/>
          <p:nvPr/>
        </p:nvSpPr>
        <p:spPr>
          <a:xfrm>
            <a:off x="4687788" y="3243800"/>
            <a:ext cx="625200" cy="3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latin typeface="Courier New"/>
                <a:ea typeface="Courier New"/>
                <a:cs typeface="Courier New"/>
                <a:sym typeface="Courier New"/>
              </a:rPr>
              <a:t>Out: </a:t>
            </a:r>
            <a:endParaRPr>
              <a:solidFill>
                <a:srgbClr val="FF0000"/>
              </a:solidFill>
              <a:latin typeface="Courier New"/>
              <a:ea typeface="Courier New"/>
              <a:cs typeface="Courier New"/>
              <a:sym typeface="Courier New"/>
            </a:endParaRPr>
          </a:p>
        </p:txBody>
      </p:sp>
      <p:sp>
        <p:nvSpPr>
          <p:cNvPr id="1440" name="Google Shape;1440;p159"/>
          <p:cNvSpPr/>
          <p:nvPr/>
        </p:nvSpPr>
        <p:spPr>
          <a:xfrm>
            <a:off x="5313000" y="2671100"/>
            <a:ext cx="3519300" cy="5727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Courier New"/>
                <a:ea typeface="Courier New"/>
                <a:cs typeface="Courier New"/>
                <a:sym typeface="Courier New"/>
              </a:rPr>
              <a:t>&gt; mat &lt;- matrix(c(1,2,3,4), nrow=2,ncol=3)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&gt; mat</a:t>
            </a:r>
            <a:endParaRPr sz="1000">
              <a:solidFill>
                <a:schemeClr val="dk1"/>
              </a:solidFill>
              <a:latin typeface="Courier New"/>
              <a:ea typeface="Courier New"/>
              <a:cs typeface="Courier New"/>
              <a:sym typeface="Courier New"/>
            </a:endParaRPr>
          </a:p>
        </p:txBody>
      </p:sp>
      <p:sp>
        <p:nvSpPr>
          <p:cNvPr id="1441" name="Google Shape;1441;p159"/>
          <p:cNvSpPr/>
          <p:nvPr/>
        </p:nvSpPr>
        <p:spPr>
          <a:xfrm>
            <a:off x="5313000" y="3245225"/>
            <a:ext cx="3519300" cy="16518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000" b="1">
                <a:solidFill>
                  <a:schemeClr val="dk1"/>
                </a:solidFill>
                <a:latin typeface="Courier New"/>
                <a:ea typeface="Courier New"/>
                <a:cs typeface="Courier New"/>
                <a:sym typeface="Courier New"/>
              </a:rPr>
              <a:t>Warning message:</a:t>
            </a:r>
            <a:endParaRPr sz="1000" b="1">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b="1">
                <a:solidFill>
                  <a:schemeClr val="dk1"/>
                </a:solidFill>
                <a:latin typeface="Courier New"/>
                <a:ea typeface="Courier New"/>
                <a:cs typeface="Courier New"/>
                <a:sym typeface="Courier New"/>
              </a:rPr>
              <a:t>In matrix(c(1, 2, 3, 4), nrow = 2, ncol = 3) :</a:t>
            </a:r>
            <a:endParaRPr sz="1000" b="1">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b="1">
                <a:solidFill>
                  <a:schemeClr val="dk1"/>
                </a:solidFill>
                <a:latin typeface="Courier New"/>
                <a:ea typeface="Courier New"/>
                <a:cs typeface="Courier New"/>
                <a:sym typeface="Courier New"/>
              </a:rPr>
              <a:t>  data length [4] is not a sub-multiple or multiple of the number of columns [3]</a:t>
            </a:r>
            <a:endParaRPr sz="1000" b="1">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[,1] [,2] [,3]</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[1,]    1    3    1</a:t>
            </a:r>
            <a:endParaRPr sz="10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[2,]    2    4    2</a:t>
            </a:r>
            <a:endParaRPr sz="1000">
              <a:solidFill>
                <a:schemeClr val="dk1"/>
              </a:solidFill>
              <a:latin typeface="Courier New"/>
              <a:ea typeface="Courier New"/>
              <a:cs typeface="Courier New"/>
              <a:sym typeface="Courier New"/>
            </a:endParaRPr>
          </a:p>
        </p:txBody>
      </p:sp>
    </p:spTree>
    <p:extLst>
      <p:ext uri="{BB962C8B-B14F-4D97-AF65-F5344CB8AC3E}">
        <p14:creationId xmlns:p14="http://schemas.microsoft.com/office/powerpoint/2010/main" val="7455346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1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Bioconductor </a:t>
            </a:r>
            <a:endParaRPr b="1">
              <a:latin typeface="Raleway"/>
              <a:ea typeface="Raleway"/>
              <a:cs typeface="Raleway"/>
              <a:sym typeface="Raleway"/>
            </a:endParaRPr>
          </a:p>
        </p:txBody>
      </p:sp>
      <p:sp>
        <p:nvSpPr>
          <p:cNvPr id="1546" name="Google Shape;1546;p1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rgbClr val="000000"/>
              </a:buClr>
              <a:buSzPts val="1800"/>
              <a:buFont typeface="Raleway"/>
              <a:buChar char="●"/>
            </a:pPr>
            <a:r>
              <a:rPr lang="en">
                <a:solidFill>
                  <a:srgbClr val="000000"/>
                </a:solidFill>
                <a:latin typeface="Raleway"/>
                <a:ea typeface="Raleway"/>
                <a:cs typeface="Raleway"/>
                <a:sym typeface="Raleway"/>
              </a:rPr>
              <a:t>A free, open-source and open development software repository that hosts statistical tools for analyzing biological data</a:t>
            </a:r>
            <a:endParaRPr>
              <a:solidFill>
                <a:srgbClr val="000000"/>
              </a:solidFill>
              <a:latin typeface="Raleway"/>
              <a:ea typeface="Raleway"/>
              <a:cs typeface="Raleway"/>
              <a:sym typeface="Raleway"/>
            </a:endParaRPr>
          </a:p>
          <a:p>
            <a:pPr marL="457200" lvl="0" indent="-342900" algn="l" rtl="0">
              <a:lnSpc>
                <a:spcPct val="100000"/>
              </a:lnSpc>
              <a:spcBef>
                <a:spcPts val="1000"/>
              </a:spcBef>
              <a:spcAft>
                <a:spcPts val="1000"/>
              </a:spcAft>
              <a:buClr>
                <a:srgbClr val="000000"/>
              </a:buClr>
              <a:buSzPts val="1800"/>
              <a:buFont typeface="Raleway"/>
              <a:buChar char="●"/>
            </a:pPr>
            <a:r>
              <a:rPr lang="en">
                <a:solidFill>
                  <a:srgbClr val="000000"/>
                </a:solidFill>
                <a:latin typeface="Raleway"/>
                <a:ea typeface="Raleway"/>
                <a:cs typeface="Raleway"/>
                <a:sym typeface="Raleway"/>
              </a:rPr>
              <a:t>Contributions are primarily based in R</a:t>
            </a:r>
            <a:endParaRPr>
              <a:solidFill>
                <a:srgbClr val="000000"/>
              </a:solidFill>
              <a:latin typeface="Raleway"/>
              <a:ea typeface="Raleway"/>
              <a:cs typeface="Raleway"/>
              <a:sym typeface="Raleway"/>
            </a:endParaRPr>
          </a:p>
        </p:txBody>
      </p:sp>
      <p:pic>
        <p:nvPicPr>
          <p:cNvPr id="1547" name="Google Shape;1547;p169"/>
          <p:cNvPicPr preferRelativeResize="0"/>
          <p:nvPr/>
        </p:nvPicPr>
        <p:blipFill>
          <a:blip r:embed="rId3">
            <a:alphaModFix/>
          </a:blip>
          <a:stretch>
            <a:fillRect/>
          </a:stretch>
        </p:blipFill>
        <p:spPr>
          <a:xfrm>
            <a:off x="447863" y="2525975"/>
            <a:ext cx="8248268" cy="2323650"/>
          </a:xfrm>
          <a:prstGeom prst="rect">
            <a:avLst/>
          </a:prstGeom>
          <a:noFill/>
          <a:ln>
            <a:noFill/>
          </a:ln>
        </p:spPr>
      </p:pic>
      <p:pic>
        <p:nvPicPr>
          <p:cNvPr id="1548" name="Google Shape;1548;p169"/>
          <p:cNvPicPr preferRelativeResize="0"/>
          <p:nvPr/>
        </p:nvPicPr>
        <p:blipFill>
          <a:blip r:embed="rId4">
            <a:alphaModFix/>
          </a:blip>
          <a:stretch>
            <a:fillRect/>
          </a:stretch>
        </p:blipFill>
        <p:spPr>
          <a:xfrm>
            <a:off x="6591300" y="76200"/>
            <a:ext cx="2476500" cy="742950"/>
          </a:xfrm>
          <a:prstGeom prst="rect">
            <a:avLst/>
          </a:prstGeom>
          <a:noFill/>
          <a:ln>
            <a:noFill/>
          </a:ln>
        </p:spPr>
      </p:pic>
    </p:spTree>
    <p:extLst>
      <p:ext uri="{BB962C8B-B14F-4D97-AF65-F5344CB8AC3E}">
        <p14:creationId xmlns:p14="http://schemas.microsoft.com/office/powerpoint/2010/main" val="781592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52"/>
        <p:cNvGrpSpPr/>
        <p:nvPr/>
      </p:nvGrpSpPr>
      <p:grpSpPr>
        <a:xfrm>
          <a:off x="0" y="0"/>
          <a:ext cx="0" cy="0"/>
          <a:chOff x="0" y="0"/>
          <a:chExt cx="0" cy="0"/>
        </a:xfrm>
      </p:grpSpPr>
      <p:sp>
        <p:nvSpPr>
          <p:cNvPr id="1553" name="Google Shape;1553;p1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Commonly Used R Packages</a:t>
            </a:r>
            <a:endParaRPr b="1">
              <a:latin typeface="Raleway"/>
              <a:ea typeface="Raleway"/>
              <a:cs typeface="Raleway"/>
              <a:sym typeface="Raleway"/>
            </a:endParaRPr>
          </a:p>
        </p:txBody>
      </p:sp>
      <p:sp>
        <p:nvSpPr>
          <p:cNvPr id="1554" name="Google Shape;1554;p17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rgbClr val="000000"/>
              </a:buClr>
              <a:buSzPts val="1800"/>
              <a:buFont typeface="Raleway"/>
              <a:buChar char="●"/>
            </a:pPr>
            <a:r>
              <a:rPr lang="en">
                <a:solidFill>
                  <a:srgbClr val="000000"/>
                </a:solidFill>
                <a:latin typeface="Raleway"/>
                <a:ea typeface="Raleway"/>
                <a:cs typeface="Raleway"/>
                <a:sym typeface="Raleway"/>
              </a:rPr>
              <a:t>ggplot2 — data visualization</a:t>
            </a:r>
            <a:endParaRPr>
              <a:solidFill>
                <a:srgbClr val="000000"/>
              </a:solidFill>
              <a:latin typeface="Raleway"/>
              <a:ea typeface="Raleway"/>
              <a:cs typeface="Raleway"/>
              <a:sym typeface="Raleway"/>
            </a:endParaRPr>
          </a:p>
          <a:p>
            <a:pPr marL="457200" lvl="0" indent="-342900" algn="l" rtl="0">
              <a:lnSpc>
                <a:spcPct val="100000"/>
              </a:lnSpc>
              <a:spcBef>
                <a:spcPts val="1000"/>
              </a:spcBef>
              <a:spcAft>
                <a:spcPts val="1000"/>
              </a:spcAft>
              <a:buClr>
                <a:srgbClr val="000000"/>
              </a:buClr>
              <a:buSzPts val="1800"/>
              <a:buFont typeface="Raleway"/>
              <a:buChar char="●"/>
            </a:pPr>
            <a:r>
              <a:rPr lang="en">
                <a:solidFill>
                  <a:srgbClr val="000000"/>
                </a:solidFill>
                <a:latin typeface="Raleway"/>
                <a:ea typeface="Raleway"/>
                <a:cs typeface="Raleway"/>
                <a:sym typeface="Raleway"/>
              </a:rPr>
              <a:t>Tidyverse — collection of packages used for data science (includes ggplot2)</a:t>
            </a:r>
            <a:endParaRPr sz="1500">
              <a:solidFill>
                <a:srgbClr val="000000"/>
              </a:solidFill>
              <a:latin typeface="Raleway"/>
              <a:ea typeface="Raleway"/>
              <a:cs typeface="Raleway"/>
              <a:sym typeface="Raleway"/>
            </a:endParaRPr>
          </a:p>
        </p:txBody>
      </p:sp>
      <p:sp>
        <p:nvSpPr>
          <p:cNvPr id="1555" name="Google Shape;1555;p170"/>
          <p:cNvSpPr/>
          <p:nvPr/>
        </p:nvSpPr>
        <p:spPr>
          <a:xfrm>
            <a:off x="311825" y="3292875"/>
            <a:ext cx="6554700" cy="14466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170"/>
          <p:cNvSpPr/>
          <p:nvPr/>
        </p:nvSpPr>
        <p:spPr>
          <a:xfrm>
            <a:off x="311700" y="3001825"/>
            <a:ext cx="6554700" cy="288000"/>
          </a:xfrm>
          <a:prstGeom prst="rect">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Raleway"/>
                <a:ea typeface="Raleway"/>
                <a:cs typeface="Raleway"/>
                <a:sym typeface="Raleway"/>
              </a:rPr>
              <a:t>R Script</a:t>
            </a:r>
            <a:r>
              <a:rPr lang="en"/>
              <a:t> </a:t>
            </a:r>
            <a:endParaRPr/>
          </a:p>
        </p:txBody>
      </p:sp>
      <p:sp>
        <p:nvSpPr>
          <p:cNvPr id="1557" name="Google Shape;1557;p170"/>
          <p:cNvSpPr txBox="1"/>
          <p:nvPr/>
        </p:nvSpPr>
        <p:spPr>
          <a:xfrm>
            <a:off x="325614" y="3292886"/>
            <a:ext cx="6540600" cy="144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Courier New"/>
                <a:ea typeface="Courier New"/>
                <a:cs typeface="Courier New"/>
                <a:sym typeface="Courier New"/>
              </a:rPr>
              <a:t>&gt; </a:t>
            </a:r>
            <a:r>
              <a:rPr lang="en" sz="1500">
                <a:solidFill>
                  <a:srgbClr val="1A1917"/>
                </a:solidFill>
                <a:latin typeface="Courier New"/>
                <a:ea typeface="Courier New"/>
                <a:cs typeface="Courier New"/>
                <a:sym typeface="Courier New"/>
              </a:rPr>
              <a:t>install.packages("tidyverse")</a:t>
            </a:r>
            <a:endParaRPr sz="1500">
              <a:solidFill>
                <a:srgbClr val="1A1917"/>
              </a:solidFill>
              <a:latin typeface="Courier New"/>
              <a:ea typeface="Courier New"/>
              <a:cs typeface="Courier New"/>
              <a:sym typeface="Courier New"/>
            </a:endParaRPr>
          </a:p>
          <a:p>
            <a:pPr marL="0" lvl="0" indent="0" algn="l" rtl="0">
              <a:spcBef>
                <a:spcPts val="0"/>
              </a:spcBef>
              <a:spcAft>
                <a:spcPts val="0"/>
              </a:spcAft>
              <a:buNone/>
            </a:pPr>
            <a:endParaRPr sz="1500">
              <a:solidFill>
                <a:srgbClr val="1A1917"/>
              </a:solidFill>
              <a:latin typeface="Courier New"/>
              <a:ea typeface="Courier New"/>
              <a:cs typeface="Courier New"/>
              <a:sym typeface="Courier New"/>
            </a:endParaRPr>
          </a:p>
          <a:p>
            <a:pPr marL="0" lvl="0" indent="0" algn="l" rtl="0">
              <a:spcBef>
                <a:spcPts val="0"/>
              </a:spcBef>
              <a:spcAft>
                <a:spcPts val="0"/>
              </a:spcAft>
              <a:buNone/>
            </a:pPr>
            <a:r>
              <a:rPr lang="en" sz="1500">
                <a:solidFill>
                  <a:srgbClr val="1A1917"/>
                </a:solidFill>
                <a:latin typeface="Courier New"/>
                <a:ea typeface="Courier New"/>
                <a:cs typeface="Courier New"/>
                <a:sym typeface="Courier New"/>
              </a:rPr>
              <a:t>&gt; library(tidyverse)</a:t>
            </a:r>
            <a:endParaRPr sz="1500">
              <a:solidFill>
                <a:srgbClr val="1A1917"/>
              </a:solidFill>
              <a:latin typeface="Courier New"/>
              <a:ea typeface="Courier New"/>
              <a:cs typeface="Courier New"/>
              <a:sym typeface="Courier New"/>
            </a:endParaRPr>
          </a:p>
          <a:p>
            <a:pPr marL="0" lvl="0" indent="0" algn="l" rtl="0">
              <a:spcBef>
                <a:spcPts val="0"/>
              </a:spcBef>
              <a:spcAft>
                <a:spcPts val="0"/>
              </a:spcAft>
              <a:buNone/>
            </a:pPr>
            <a:endParaRPr sz="1500">
              <a:solidFill>
                <a:srgbClr val="1A1917"/>
              </a:solidFill>
              <a:latin typeface="Courier New"/>
              <a:ea typeface="Courier New"/>
              <a:cs typeface="Courier New"/>
              <a:sym typeface="Courier New"/>
            </a:endParaRPr>
          </a:p>
          <a:p>
            <a:pPr marL="0" lvl="0" indent="0" algn="l" rtl="0">
              <a:spcBef>
                <a:spcPts val="0"/>
              </a:spcBef>
              <a:spcAft>
                <a:spcPts val="0"/>
              </a:spcAft>
              <a:buNone/>
            </a:pPr>
            <a:r>
              <a:rPr lang="en" sz="1500">
                <a:solidFill>
                  <a:srgbClr val="1A1917"/>
                </a:solidFill>
                <a:latin typeface="Courier New"/>
                <a:ea typeface="Courier New"/>
                <a:cs typeface="Courier New"/>
                <a:sym typeface="Courier New"/>
              </a:rPr>
              <a:t>&gt; dplyr::filter()</a:t>
            </a:r>
            <a:endParaRPr sz="1500">
              <a:solidFill>
                <a:srgbClr val="1A1917"/>
              </a:solidFill>
              <a:latin typeface="Courier New"/>
              <a:ea typeface="Courier New"/>
              <a:cs typeface="Courier New"/>
              <a:sym typeface="Courier New"/>
            </a:endParaRPr>
          </a:p>
          <a:p>
            <a:pPr marL="0" lvl="0" indent="0" algn="l" rtl="0">
              <a:spcBef>
                <a:spcPts val="0"/>
              </a:spcBef>
              <a:spcAft>
                <a:spcPts val="0"/>
              </a:spcAft>
              <a:buNone/>
            </a:pPr>
            <a:endParaRPr sz="1500">
              <a:latin typeface="Courier New"/>
              <a:ea typeface="Courier New"/>
              <a:cs typeface="Courier New"/>
              <a:sym typeface="Courier New"/>
            </a:endParaRPr>
          </a:p>
        </p:txBody>
      </p:sp>
      <p:pic>
        <p:nvPicPr>
          <p:cNvPr id="1558" name="Google Shape;1558;p170"/>
          <p:cNvPicPr preferRelativeResize="0"/>
          <p:nvPr/>
        </p:nvPicPr>
        <p:blipFill>
          <a:blip r:embed="rId3">
            <a:alphaModFix/>
          </a:blip>
          <a:stretch>
            <a:fillRect/>
          </a:stretch>
        </p:blipFill>
        <p:spPr>
          <a:xfrm>
            <a:off x="7662621" y="3001825"/>
            <a:ext cx="1169678" cy="906350"/>
          </a:xfrm>
          <a:prstGeom prst="rect">
            <a:avLst/>
          </a:prstGeom>
          <a:noFill/>
          <a:ln>
            <a:noFill/>
          </a:ln>
        </p:spPr>
      </p:pic>
      <p:sp>
        <p:nvSpPr>
          <p:cNvPr id="1559" name="Google Shape;1559;p170"/>
          <p:cNvSpPr txBox="1"/>
          <p:nvPr/>
        </p:nvSpPr>
        <p:spPr>
          <a:xfrm>
            <a:off x="7008600" y="3908175"/>
            <a:ext cx="1823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aleway"/>
                <a:ea typeface="Raleway"/>
                <a:cs typeface="Raleway"/>
                <a:sym typeface="Raleway"/>
              </a:rPr>
              <a:t>CRAN: The Comprehensive R Archive Network</a:t>
            </a:r>
            <a:endParaRPr>
              <a:latin typeface="Raleway"/>
              <a:ea typeface="Raleway"/>
              <a:cs typeface="Raleway"/>
              <a:sym typeface="Raleway"/>
            </a:endParaRPr>
          </a:p>
        </p:txBody>
      </p:sp>
    </p:spTree>
    <p:extLst>
      <p:ext uri="{BB962C8B-B14F-4D97-AF65-F5344CB8AC3E}">
        <p14:creationId xmlns:p14="http://schemas.microsoft.com/office/powerpoint/2010/main" val="34216429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31"/>
        <p:cNvGrpSpPr/>
        <p:nvPr/>
      </p:nvGrpSpPr>
      <p:grpSpPr>
        <a:xfrm>
          <a:off x="0" y="0"/>
          <a:ext cx="0" cy="0"/>
          <a:chOff x="0" y="0"/>
          <a:chExt cx="0" cy="0"/>
        </a:xfrm>
      </p:grpSpPr>
      <p:sp>
        <p:nvSpPr>
          <p:cNvPr id="1532" name="Google Shape;1532;p168"/>
          <p:cNvSpPr txBox="1">
            <a:spLocks noGrp="1"/>
          </p:cNvSpPr>
          <p:nvPr>
            <p:ph type="title"/>
          </p:nvPr>
        </p:nvSpPr>
        <p:spPr>
          <a:xfrm>
            <a:off x="311700" y="2412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Raleway"/>
                <a:ea typeface="Raleway"/>
                <a:cs typeface="Raleway"/>
                <a:sym typeface="Raleway"/>
              </a:rPr>
              <a:t>Dataset We Will Look At Today: </a:t>
            </a:r>
            <a:r>
              <a:rPr lang="en" b="1" u="sng">
                <a:solidFill>
                  <a:schemeClr val="hlink"/>
                </a:solidFill>
                <a:latin typeface="Raleway"/>
                <a:ea typeface="Raleway"/>
                <a:cs typeface="Raleway"/>
                <a:sym typeface="Raleway"/>
                <a:hlinkClick r:id="rId3"/>
              </a:rPr>
              <a:t>GSE166925</a:t>
            </a:r>
            <a:endParaRPr b="1">
              <a:latin typeface="Raleway"/>
              <a:ea typeface="Raleway"/>
              <a:cs typeface="Raleway"/>
              <a:sym typeface="Raleway"/>
            </a:endParaRPr>
          </a:p>
        </p:txBody>
      </p:sp>
      <p:pic>
        <p:nvPicPr>
          <p:cNvPr id="1533" name="Google Shape;1533;p168"/>
          <p:cNvPicPr preferRelativeResize="0"/>
          <p:nvPr/>
        </p:nvPicPr>
        <p:blipFill rotWithShape="1">
          <a:blip r:embed="rId4">
            <a:alphaModFix/>
          </a:blip>
          <a:srcRect r="49179"/>
          <a:stretch/>
        </p:blipFill>
        <p:spPr>
          <a:xfrm>
            <a:off x="3508901" y="1194325"/>
            <a:ext cx="1107125" cy="1209301"/>
          </a:xfrm>
          <a:prstGeom prst="rect">
            <a:avLst/>
          </a:prstGeom>
          <a:noFill/>
          <a:ln>
            <a:noFill/>
          </a:ln>
        </p:spPr>
      </p:pic>
      <p:pic>
        <p:nvPicPr>
          <p:cNvPr id="1534" name="Google Shape;1534;p168"/>
          <p:cNvPicPr preferRelativeResize="0"/>
          <p:nvPr/>
        </p:nvPicPr>
        <p:blipFill>
          <a:blip r:embed="rId5">
            <a:alphaModFix/>
          </a:blip>
          <a:stretch>
            <a:fillRect/>
          </a:stretch>
        </p:blipFill>
        <p:spPr>
          <a:xfrm>
            <a:off x="950650" y="1010875"/>
            <a:ext cx="938375" cy="2217574"/>
          </a:xfrm>
          <a:prstGeom prst="rect">
            <a:avLst/>
          </a:prstGeom>
          <a:noFill/>
          <a:ln>
            <a:noFill/>
          </a:ln>
        </p:spPr>
      </p:pic>
      <p:pic>
        <p:nvPicPr>
          <p:cNvPr id="1535" name="Google Shape;1535;p168"/>
          <p:cNvPicPr preferRelativeResize="0"/>
          <p:nvPr/>
        </p:nvPicPr>
        <p:blipFill rotWithShape="1">
          <a:blip r:embed="rId4">
            <a:alphaModFix/>
          </a:blip>
          <a:srcRect l="53929"/>
          <a:stretch/>
        </p:blipFill>
        <p:spPr>
          <a:xfrm>
            <a:off x="3612425" y="2915275"/>
            <a:ext cx="1003600" cy="1209301"/>
          </a:xfrm>
          <a:prstGeom prst="rect">
            <a:avLst/>
          </a:prstGeom>
          <a:noFill/>
          <a:ln>
            <a:noFill/>
          </a:ln>
        </p:spPr>
      </p:pic>
      <p:sp>
        <p:nvSpPr>
          <p:cNvPr id="1536" name="Google Shape;1536;p168"/>
          <p:cNvSpPr txBox="1"/>
          <p:nvPr/>
        </p:nvSpPr>
        <p:spPr>
          <a:xfrm>
            <a:off x="311700" y="3343900"/>
            <a:ext cx="26268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aleway"/>
                <a:ea typeface="Raleway"/>
                <a:cs typeface="Raleway"/>
                <a:sym typeface="Raleway"/>
              </a:rPr>
              <a:t>Sample Types:</a:t>
            </a:r>
            <a:endParaRPr>
              <a:latin typeface="Raleway"/>
              <a:ea typeface="Raleway"/>
              <a:cs typeface="Raleway"/>
              <a:sym typeface="Raleway"/>
            </a:endParaRPr>
          </a:p>
          <a:p>
            <a:pPr marL="457200" lvl="0" indent="-317500" algn="l" rtl="0">
              <a:spcBef>
                <a:spcPts val="0"/>
              </a:spcBef>
              <a:spcAft>
                <a:spcPts val="0"/>
              </a:spcAft>
              <a:buSzPts val="1400"/>
              <a:buFont typeface="Raleway"/>
              <a:buChar char="●"/>
            </a:pPr>
            <a:r>
              <a:rPr lang="en">
                <a:latin typeface="Raleway"/>
                <a:ea typeface="Raleway"/>
                <a:cs typeface="Raleway"/>
                <a:sym typeface="Raleway"/>
              </a:rPr>
              <a:t>Inflammatory Bowel Disease (UC and CD)</a:t>
            </a:r>
            <a:endParaRPr>
              <a:latin typeface="Raleway"/>
              <a:ea typeface="Raleway"/>
              <a:cs typeface="Raleway"/>
              <a:sym typeface="Raleway"/>
            </a:endParaRPr>
          </a:p>
          <a:p>
            <a:pPr marL="457200" lvl="0" indent="-317500" algn="l" rtl="0">
              <a:spcBef>
                <a:spcPts val="0"/>
              </a:spcBef>
              <a:spcAft>
                <a:spcPts val="0"/>
              </a:spcAft>
              <a:buSzPts val="1400"/>
              <a:buFont typeface="Raleway"/>
              <a:buChar char="●"/>
            </a:pPr>
            <a:r>
              <a:rPr lang="en">
                <a:latin typeface="Raleway"/>
                <a:ea typeface="Raleway"/>
                <a:cs typeface="Raleway"/>
                <a:sym typeface="Raleway"/>
              </a:rPr>
              <a:t>Colorectal Cancer (Non-tumor)</a:t>
            </a:r>
            <a:endParaRPr>
              <a:latin typeface="Raleway"/>
              <a:ea typeface="Raleway"/>
              <a:cs typeface="Raleway"/>
              <a:sym typeface="Raleway"/>
            </a:endParaRPr>
          </a:p>
        </p:txBody>
      </p:sp>
      <p:sp>
        <p:nvSpPr>
          <p:cNvPr id="1537" name="Google Shape;1537;p168"/>
          <p:cNvSpPr txBox="1"/>
          <p:nvPr/>
        </p:nvSpPr>
        <p:spPr>
          <a:xfrm>
            <a:off x="3185713" y="2327425"/>
            <a:ext cx="1753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aleway"/>
                <a:ea typeface="Raleway"/>
                <a:cs typeface="Raleway"/>
                <a:sym typeface="Raleway"/>
              </a:rPr>
              <a:t>Uninflamed</a:t>
            </a:r>
            <a:endParaRPr>
              <a:latin typeface="Raleway"/>
              <a:ea typeface="Raleway"/>
              <a:cs typeface="Raleway"/>
              <a:sym typeface="Raleway"/>
            </a:endParaRPr>
          </a:p>
        </p:txBody>
      </p:sp>
      <p:sp>
        <p:nvSpPr>
          <p:cNvPr id="1538" name="Google Shape;1538;p168"/>
          <p:cNvSpPr txBox="1"/>
          <p:nvPr/>
        </p:nvSpPr>
        <p:spPr>
          <a:xfrm>
            <a:off x="3237463" y="4073725"/>
            <a:ext cx="1753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aleway"/>
                <a:ea typeface="Raleway"/>
                <a:cs typeface="Raleway"/>
                <a:sym typeface="Raleway"/>
              </a:rPr>
              <a:t>Inflamed</a:t>
            </a:r>
            <a:endParaRPr>
              <a:latin typeface="Raleway"/>
              <a:ea typeface="Raleway"/>
              <a:cs typeface="Raleway"/>
              <a:sym typeface="Raleway"/>
            </a:endParaRPr>
          </a:p>
        </p:txBody>
      </p:sp>
      <p:sp>
        <p:nvSpPr>
          <p:cNvPr id="1539" name="Google Shape;1539;p168"/>
          <p:cNvSpPr txBox="1"/>
          <p:nvPr/>
        </p:nvSpPr>
        <p:spPr>
          <a:xfrm>
            <a:off x="5855200" y="1878650"/>
            <a:ext cx="2656200" cy="101563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Raleway"/>
                <a:ea typeface="Raleway"/>
                <a:cs typeface="Raleway"/>
                <a:sym typeface="Raleway"/>
              </a:rPr>
              <a:t>Today:</a:t>
            </a:r>
            <a:endParaRPr sz="1800">
              <a:latin typeface="Raleway"/>
              <a:ea typeface="Raleway"/>
              <a:cs typeface="Raleway"/>
              <a:sym typeface="Raleway"/>
            </a:endParaRPr>
          </a:p>
          <a:p>
            <a:pPr marL="0" lvl="0" indent="0" algn="ctr" rtl="0">
              <a:spcBef>
                <a:spcPts val="0"/>
              </a:spcBef>
              <a:spcAft>
                <a:spcPts val="0"/>
              </a:spcAft>
              <a:buNone/>
            </a:pPr>
            <a:r>
              <a:rPr lang="en" sz="1800">
                <a:latin typeface="Raleway"/>
                <a:ea typeface="Raleway"/>
                <a:cs typeface="Raleway"/>
                <a:sym typeface="Raleway"/>
              </a:rPr>
              <a:t>Data Manipulation</a:t>
            </a:r>
            <a:endParaRPr sz="1800">
              <a:latin typeface="Raleway"/>
              <a:ea typeface="Raleway"/>
              <a:cs typeface="Raleway"/>
              <a:sym typeface="Raleway"/>
            </a:endParaRPr>
          </a:p>
          <a:p>
            <a:pPr marL="0" lvl="0" indent="0" algn="ctr" rtl="0">
              <a:spcBef>
                <a:spcPts val="0"/>
              </a:spcBef>
              <a:spcAft>
                <a:spcPts val="0"/>
              </a:spcAft>
              <a:buNone/>
            </a:pPr>
            <a:r>
              <a:rPr lang="en" sz="1800">
                <a:latin typeface="Raleway"/>
                <a:ea typeface="Raleway"/>
                <a:cs typeface="Raleway"/>
                <a:sym typeface="Raleway"/>
              </a:rPr>
              <a:t>Data Visualizations</a:t>
            </a:r>
            <a:endParaRPr sz="1800">
              <a:latin typeface="Raleway"/>
              <a:ea typeface="Raleway"/>
              <a:cs typeface="Raleway"/>
              <a:sym typeface="Raleway"/>
            </a:endParaRPr>
          </a:p>
        </p:txBody>
      </p:sp>
      <p:sp>
        <p:nvSpPr>
          <p:cNvPr id="1540" name="Google Shape;1540;p168"/>
          <p:cNvSpPr/>
          <p:nvPr/>
        </p:nvSpPr>
        <p:spPr>
          <a:xfrm>
            <a:off x="5150825" y="1401450"/>
            <a:ext cx="205500" cy="29862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7666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p>
            <a:pPr marL="0" indent="0"/>
            <a:r>
              <a:rPr lang="en" sz="3000" b="1">
                <a:solidFill>
                  <a:srgbClr val="000000"/>
                </a:solidFill>
                <a:latin typeface="Raleway"/>
                <a:ea typeface="Raleway"/>
                <a:cs typeface="Raleway"/>
                <a:sym typeface="Raleway"/>
              </a:rPr>
              <a:t>DEMO: R</a:t>
            </a:r>
            <a:endParaRPr lang="en" sz="3000" b="1">
              <a:solidFill>
                <a:srgbClr val="000000"/>
              </a:solidFill>
              <a:latin typeface="Raleway"/>
              <a:ea typeface="Raleway"/>
              <a:cs typeface="Raleway"/>
            </a:endParaRPr>
          </a:p>
        </p:txBody>
      </p:sp>
      <p:pic>
        <p:nvPicPr>
          <p:cNvPr id="4" name="Picture 3" descr="A screenshot of a computer program&#10;&#10;AI-generated content may be incorrect.">
            <a:extLst>
              <a:ext uri="{FF2B5EF4-FFF2-40B4-BE49-F238E27FC236}">
                <a16:creationId xmlns:a16="http://schemas.microsoft.com/office/drawing/2014/main" id="{D559B317-1F23-B301-AD00-5A1999FAA0E0}"/>
              </a:ext>
            </a:extLst>
          </p:cNvPr>
          <p:cNvPicPr>
            <a:picLocks noChangeAspect="1"/>
          </p:cNvPicPr>
          <p:nvPr/>
        </p:nvPicPr>
        <p:blipFill>
          <a:blip r:embed="rId3"/>
          <a:stretch>
            <a:fillRect/>
          </a:stretch>
        </p:blipFill>
        <p:spPr>
          <a:xfrm>
            <a:off x="2070103" y="841419"/>
            <a:ext cx="4476619" cy="3086100"/>
          </a:xfrm>
          <a:prstGeom prst="rect">
            <a:avLst/>
          </a:prstGeom>
        </p:spPr>
      </p:pic>
      <p:sp>
        <p:nvSpPr>
          <p:cNvPr id="6" name="Google Shape;386;p57">
            <a:extLst>
              <a:ext uri="{FF2B5EF4-FFF2-40B4-BE49-F238E27FC236}">
                <a16:creationId xmlns:a16="http://schemas.microsoft.com/office/drawing/2014/main" id="{5E2038F8-E0C9-8132-6909-BC0A4DAFE26D}"/>
              </a:ext>
            </a:extLst>
          </p:cNvPr>
          <p:cNvSpPr/>
          <p:nvPr/>
        </p:nvSpPr>
        <p:spPr>
          <a:xfrm>
            <a:off x="4366833" y="3100187"/>
            <a:ext cx="2251777" cy="351900"/>
          </a:xfrm>
          <a:prstGeom prst="leftArrow">
            <a:avLst>
              <a:gd name="adj1" fmla="val 50000"/>
              <a:gd name="adj2" fmla="val 50000"/>
            </a:avLst>
          </a:prstGeom>
          <a:solidFill>
            <a:srgbClr val="93C4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5450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69"/>
        <p:cNvGrpSpPr/>
        <p:nvPr/>
      </p:nvGrpSpPr>
      <p:grpSpPr>
        <a:xfrm>
          <a:off x="0" y="0"/>
          <a:ext cx="0" cy="0"/>
          <a:chOff x="0" y="0"/>
          <a:chExt cx="0" cy="0"/>
        </a:xfrm>
      </p:grpSpPr>
      <p:sp>
        <p:nvSpPr>
          <p:cNvPr id="1270" name="Google Shape;1270;p145"/>
          <p:cNvSpPr txBox="1">
            <a:spLocks noGrp="1"/>
          </p:cNvSpPr>
          <p:nvPr>
            <p:ph type="title" idx="4294967295"/>
          </p:nvPr>
        </p:nvSpPr>
        <p:spPr>
          <a:xfrm>
            <a:off x="2284500" y="3895475"/>
            <a:ext cx="4575000" cy="553200"/>
          </a:xfrm>
          <a:prstGeom prst="rect">
            <a:avLst/>
          </a:prstGeom>
        </p:spPr>
        <p:txBody>
          <a:bodyPr spcFirstLastPara="1" wrap="square" lIns="91425" tIns="91425" rIns="91425" bIns="91425" anchor="t" anchorCtr="0">
            <a:normAutofit fontScale="90000"/>
          </a:bodyPr>
          <a:lstStyle/>
          <a:p>
            <a:pPr algn="ctr"/>
            <a:r>
              <a:rPr lang="en" b="1">
                <a:latin typeface="Raleway"/>
                <a:ea typeface="Raleway"/>
                <a:cs typeface="Raleway"/>
                <a:sym typeface="Raleway"/>
              </a:rPr>
              <a:t>See you again next week!</a:t>
            </a:r>
            <a:endParaRPr b="1">
              <a:latin typeface="Raleway"/>
              <a:ea typeface="Raleway"/>
              <a:cs typeface="Raleway"/>
              <a:sym typeface="Raleway"/>
            </a:endParaRPr>
          </a:p>
        </p:txBody>
      </p:sp>
      <p:pic>
        <p:nvPicPr>
          <p:cNvPr id="1271" name="Google Shape;1271;p145"/>
          <p:cNvPicPr preferRelativeResize="0"/>
          <p:nvPr/>
        </p:nvPicPr>
        <p:blipFill rotWithShape="1">
          <a:blip r:embed="rId3">
            <a:alphaModFix/>
          </a:blip>
          <a:srcRect l="3557" t="5434" r="3315" b="6203"/>
          <a:stretch/>
        </p:blipFill>
        <p:spPr>
          <a:xfrm>
            <a:off x="2468913" y="587900"/>
            <a:ext cx="4206176" cy="3192925"/>
          </a:xfrm>
          <a:prstGeom prst="rect">
            <a:avLst/>
          </a:prstGeom>
          <a:noFill/>
          <a:ln>
            <a:noFill/>
          </a:ln>
        </p:spPr>
      </p:pic>
      <p:sp>
        <p:nvSpPr>
          <p:cNvPr id="1273" name="Google Shape;1273;p145"/>
          <p:cNvSpPr txBox="1"/>
          <p:nvPr/>
        </p:nvSpPr>
        <p:spPr>
          <a:xfrm>
            <a:off x="116525" y="1661013"/>
            <a:ext cx="2227800" cy="1046410"/>
          </a:xfrm>
          <a:prstGeom prst="rect">
            <a:avLst/>
          </a:prstGeom>
          <a:solidFill>
            <a:srgbClr val="FFF2CC"/>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i="1" dirty="0">
                <a:latin typeface="Raleway"/>
                <a:ea typeface="Raleway"/>
                <a:cs typeface="Raleway"/>
                <a:sym typeface="Raleway"/>
              </a:rPr>
              <a:t>Please fill out the surveys!</a:t>
            </a:r>
            <a:endParaRPr i="1" dirty="0">
              <a:latin typeface="Raleway"/>
              <a:ea typeface="Raleway"/>
              <a:cs typeface="Raleway"/>
              <a:sym typeface="Raleway"/>
            </a:endParaRPr>
          </a:p>
          <a:p>
            <a:pPr marL="457200" indent="-317500">
              <a:buSzPts val="1400"/>
              <a:buFont typeface="Raleway"/>
              <a:buAutoNum type="arabicPeriod"/>
            </a:pPr>
            <a:r>
              <a:rPr lang="en-US" i="1" dirty="0">
                <a:latin typeface="Raleway"/>
                <a:ea typeface="Raleway"/>
                <a:cs typeface="Raleway"/>
              </a:rPr>
              <a:t>Attendance</a:t>
            </a:r>
            <a:endParaRPr lang="en-US" i="1" dirty="0" err="1">
              <a:latin typeface="Raleway"/>
              <a:ea typeface="Raleway"/>
              <a:cs typeface="Raleway"/>
              <a:sym typeface="Raleway"/>
            </a:endParaRPr>
          </a:p>
          <a:p>
            <a:pPr marL="457200" lvl="0" indent="-317500" algn="l">
              <a:spcBef>
                <a:spcPts val="0"/>
              </a:spcBef>
              <a:spcAft>
                <a:spcPts val="0"/>
              </a:spcAft>
              <a:buSzPts val="1400"/>
              <a:buAutoNum type="arabicPeriod"/>
            </a:pPr>
            <a:r>
              <a:rPr lang="en-US" i="1" dirty="0">
                <a:latin typeface="Raleway"/>
                <a:ea typeface="Raleway"/>
                <a:cs typeface="Raleway"/>
                <a:sym typeface="Raleway"/>
              </a:rPr>
              <a:t>Module 1 feedback</a:t>
            </a:r>
            <a:endParaRPr i="1" dirty="0">
              <a:latin typeface="Raleway"/>
              <a:ea typeface="Raleway"/>
              <a:cs typeface="Raleway"/>
            </a:endParaRPr>
          </a:p>
        </p:txBody>
      </p:sp>
      <p:sp>
        <p:nvSpPr>
          <p:cNvPr id="1274" name="Google Shape;1274;p145"/>
          <p:cNvSpPr txBox="1"/>
          <p:nvPr/>
        </p:nvSpPr>
        <p:spPr>
          <a:xfrm>
            <a:off x="6675089" y="1876600"/>
            <a:ext cx="2284500" cy="1477297"/>
          </a:xfrm>
          <a:prstGeom prst="rect">
            <a:avLst/>
          </a:prstGeom>
          <a:noFill/>
          <a:ln>
            <a:noFill/>
          </a:ln>
        </p:spPr>
        <p:txBody>
          <a:bodyPr spcFirstLastPara="1" wrap="square" lIns="91425" tIns="91425" rIns="91425" bIns="91425" anchor="t" anchorCtr="0">
            <a:spAutoFit/>
          </a:bodyPr>
          <a:lstStyle/>
          <a:p>
            <a:r>
              <a:rPr lang="en-US" i="1">
                <a:solidFill>
                  <a:schemeClr val="dk1"/>
                </a:solidFill>
                <a:highlight>
                  <a:srgbClr val="FFF2CC"/>
                </a:highlight>
                <a:latin typeface="Raleway"/>
                <a:ea typeface="Raleway"/>
                <a:cs typeface="Raleway"/>
                <a:sym typeface="Raleway"/>
              </a:rPr>
              <a:t>The survey for attendance is due today at 1pm.</a:t>
            </a:r>
            <a:endParaRPr lang="en-US">
              <a:solidFill>
                <a:schemeClr val="dk1"/>
              </a:solidFill>
              <a:sym typeface="Raleway"/>
            </a:endParaRPr>
          </a:p>
          <a:p>
            <a:r>
              <a:rPr lang="en-US" i="1">
                <a:solidFill>
                  <a:schemeClr val="dk1"/>
                </a:solidFill>
                <a:highlight>
                  <a:srgbClr val="FFF2CC"/>
                </a:highlight>
                <a:latin typeface="Raleway"/>
                <a:ea typeface="Raleway"/>
                <a:cs typeface="Raleway"/>
                <a:sym typeface="Raleway"/>
              </a:rPr>
              <a:t>Survey for this module will be released on Thurs after class and is due next Tues at 9 am!</a:t>
            </a:r>
            <a:endParaRPr lang="en-US">
              <a:solidFill>
                <a:schemeClr val="dk1"/>
              </a:solidFill>
            </a:endParaRPr>
          </a:p>
        </p:txBody>
      </p:sp>
    </p:spTree>
    <p:extLst>
      <p:ext uri="{BB962C8B-B14F-4D97-AF65-F5344CB8AC3E}">
        <p14:creationId xmlns:p14="http://schemas.microsoft.com/office/powerpoint/2010/main" val="74151506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2415</Words>
  <Application>Microsoft Macintosh PowerPoint</Application>
  <PresentationFormat>On-screen Show (16:9)</PresentationFormat>
  <Paragraphs>471</Paragraphs>
  <Slides>38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Courier New</vt:lpstr>
      <vt:lpstr>Caveat</vt:lpstr>
      <vt:lpstr>Raleway</vt:lpstr>
      <vt:lpstr>Lato</vt:lpstr>
      <vt:lpstr>Arial</vt:lpstr>
      <vt:lpstr>Simple Light</vt:lpstr>
      <vt:lpstr>BNFO262: Quantitative Methods in Genetics and Genomics </vt:lpstr>
      <vt:lpstr>Outline for Day 1</vt:lpstr>
      <vt:lpstr>Jupyter Notebook</vt:lpstr>
      <vt:lpstr>Logging into DataHub and Accessing Jupyter Notebooks</vt:lpstr>
      <vt:lpstr>PowerPoint Presentation</vt:lpstr>
      <vt:lpstr>PowerPoint Presentation</vt:lpstr>
      <vt:lpstr>PowerPoint Presentation</vt:lpstr>
      <vt:lpstr>PowerPoint Presentation</vt:lpstr>
      <vt:lpstr>PowerPoint Presentation</vt:lpstr>
      <vt:lpstr>PowerPoint Presentation</vt:lpstr>
      <vt:lpstr>Outline for Day 2</vt:lpstr>
      <vt:lpstr>The Fundamentals</vt:lpstr>
      <vt:lpstr>What are programming languages?</vt:lpstr>
      <vt:lpstr>The Backbone of Programming Languages</vt:lpstr>
      <vt:lpstr>PowerPoint Presentation</vt:lpstr>
      <vt:lpstr>Packages </vt:lpstr>
      <vt:lpstr>Packages</vt:lpstr>
      <vt:lpstr>Using packages in your script</vt:lpstr>
      <vt:lpstr>Common Python Packages </vt:lpstr>
      <vt:lpstr>PowerPoint Presentation</vt:lpstr>
      <vt:lpstr>10 minute break!</vt:lpstr>
      <vt:lpstr>Outline for Day 1</vt:lpstr>
      <vt:lpstr>Introduction to R: What is R?</vt:lpstr>
      <vt:lpstr>The Purpose of Using Both Python and R</vt:lpstr>
      <vt:lpstr>The Backbone of Programming Languages</vt:lpstr>
      <vt:lpstr>PowerPoint Presentation</vt:lpstr>
      <vt:lpstr>R: Vectors vs. Lists</vt:lpstr>
      <vt:lpstr>R: Vectors vs. Lists</vt:lpstr>
      <vt:lpstr>PowerPoint Presentation</vt:lpstr>
      <vt:lpstr>R: Alternatives to Loops</vt:lpstr>
      <vt:lpstr>PowerPoint Presentation</vt:lpstr>
      <vt:lpstr>PowerPoint Presentation</vt:lpstr>
      <vt:lpstr>The Dangers of R Warnings</vt:lpstr>
      <vt:lpstr>Bioconductor </vt:lpstr>
      <vt:lpstr>Commonly Used R Packages</vt:lpstr>
      <vt:lpstr>Dataset We Will Look At Today: GSE166925</vt:lpstr>
      <vt:lpstr>PowerPoint Presentation</vt:lpstr>
      <vt:lpstr>See you again 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Cao, Yuwei</cp:lastModifiedBy>
  <cp:revision>3</cp:revision>
  <dcterms:modified xsi:type="dcterms:W3CDTF">2026-01-04T05:39:59Z</dcterms:modified>
</cp:coreProperties>
</file>